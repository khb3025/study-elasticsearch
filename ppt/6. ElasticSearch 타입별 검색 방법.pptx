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3" r:id="rId9"/>
    <p:sldId id="265" r:id="rId10"/>
    <p:sldId id="266" r:id="rId11"/>
    <p:sldId id="267" r:id="rId12"/>
    <p:sldId id="268" r:id="rId13"/>
    <p:sldId id="269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443891F4-62AC-4573-822A-2DCBD5A3DC40}">
          <p14:sldIdLst>
            <p14:sldId id="256"/>
          </p14:sldIdLst>
        </p14:section>
        <p14:section name="text 타입 검색" id="{5875CFF4-AF2D-4E2B-AE3D-32D7ABB05AE7}">
          <p14:sldIdLst>
            <p14:sldId id="258"/>
          </p14:sldIdLst>
        </p14:section>
        <p14:section name="text 이외 검색" id="{B1F90059-ABDA-49F2-8496-F0A923CF3F17}">
          <p14:sldIdLst>
            <p14:sldId id="259"/>
          </p14:sldIdLst>
        </p14:section>
        <p14:section name="bool ( filter, must, must_not )" id="{351A1F0D-F290-40BD-91C3-7D363F9959E4}">
          <p14:sldIdLst>
            <p14:sldId id="260"/>
            <p14:sldId id="261"/>
            <p14:sldId id="262"/>
            <p14:sldId id="264"/>
          </p14:sldIdLst>
        </p14:section>
        <p14:section name="범위 검색 조건 range" id="{C56585AC-6E9C-4F94-993F-9634321CF4E1}">
          <p14:sldIdLst>
            <p14:sldId id="263"/>
            <p14:sldId id="265"/>
          </p14:sldIdLst>
        </p14:section>
        <p14:section name="bool (should) 상위 노출 데이터 지정" id="{12447B7B-89DE-43EC-98BD-2A5208C8028D}">
          <p14:sldIdLst>
            <p14:sldId id="266"/>
            <p14:sldId id="267"/>
            <p14:sldId id="268"/>
          </p14:sldIdLst>
        </p14:section>
        <p14:section name="오타 검색 허용" id="{A35883C5-E9FD-440F-9B58-6F6098FCD66F}">
          <p14:sldIdLst>
            <p14:sldId id="269"/>
          </p14:sldIdLst>
        </p14:section>
        <p14:section name="여러 필드에서 동일한 키워드로 조회하기" id="{C4A661B2-CD3C-4FC4-BF1C-280E3B7D72A8}">
          <p14:sldIdLst>
            <p14:sldId id="271"/>
            <p14:sldId id="272"/>
          </p14:sldIdLst>
        </p14:section>
        <p14:section name="검색 토큰에 highlight 처리하기" id="{2F601913-A4F8-4753-BF2E-5C0C1E1F48E4}">
          <p14:sldIdLst>
            <p14:sldId id="273"/>
          </p14:sldIdLst>
        </p14:section>
        <p14:section name="페이지네이션과 정렬" id="{046B57E2-347C-4E44-9C3E-85DF852051CA}">
          <p14:sldIdLst>
            <p14:sldId id="274"/>
          </p14:sldIdLst>
        </p14:section>
        <p14:section name="유연한, 정확한 검색을 섞어 조회" id="{4C73E1EC-6C12-4659-9D0D-2E14FB854EC7}">
          <p14:sldIdLst>
            <p14:sldId id="275"/>
            <p14:sldId id="276"/>
          </p14:sldIdLst>
        </p14:section>
        <p14:section name="자동완성기능(search_as_you_type)" id="{72BA2ECB-1E24-4185-B567-D30DEC53AF86}">
          <p14:sldIdLst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20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C3CC7-EB77-481C-B4E9-7ED4123A9E96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1F8C6-978A-41FC-8B3C-D2A1CCCCFEA1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9590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C3CC7-EB77-481C-B4E9-7ED4123A9E96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1F8C6-978A-41FC-8B3C-D2A1CCCCFE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62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C3CC7-EB77-481C-B4E9-7ED4123A9E96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1F8C6-978A-41FC-8B3C-D2A1CCCCFEA1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7801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C3CC7-EB77-481C-B4E9-7ED4123A9E96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1F8C6-978A-41FC-8B3C-D2A1CCCCFE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9857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C3CC7-EB77-481C-B4E9-7ED4123A9E96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1F8C6-978A-41FC-8B3C-D2A1CCCCFE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25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C3CC7-EB77-481C-B4E9-7ED4123A9E96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1F8C6-978A-41FC-8B3C-D2A1CCCCFE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588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C3CC7-EB77-481C-B4E9-7ED4123A9E96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1F8C6-978A-41FC-8B3C-D2A1CCCCFE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521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33C3CC7-EB77-481C-B4E9-7ED4123A9E96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AA1F8C6-978A-41FC-8B3C-D2A1CCCCFE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4408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C3CC7-EB77-481C-B4E9-7ED4123A9E96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1F8C6-978A-41FC-8B3C-D2A1CCCCFE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9439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C3CC7-EB77-481C-B4E9-7ED4123A9E96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1F8C6-978A-41FC-8B3C-D2A1CCCCFE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4198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C3CC7-EB77-481C-B4E9-7ED4123A9E96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1F8C6-978A-41FC-8B3C-D2A1CCCCFE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4360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33C3CC7-EB77-481C-B4E9-7ED4123A9E96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AA1F8C6-978A-41FC-8B3C-D2A1CCCCFEA1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2165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5C6FF7-5907-A0AD-9518-67B92D9593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6000"/>
              <a:t>자주 사용하는 검색기능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5423AE2-22D1-E0C6-8078-56DFA1DB14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888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8B59D2-1A90-6300-8B80-09A28DD99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text</a:t>
            </a:r>
            <a:r>
              <a:rPr lang="ko-KR" altLang="en-US" sz="3600"/>
              <a:t> 타입의 검색은 </a:t>
            </a:r>
            <a:r>
              <a:rPr lang="en-US" altLang="ko-KR" sz="3600"/>
              <a:t>"match"</a:t>
            </a:r>
            <a:r>
              <a:rPr lang="ko-KR" altLang="en-US" sz="3600"/>
              <a:t>를 사용한다</a:t>
            </a:r>
            <a:r>
              <a:rPr lang="en-US" altLang="ko-KR" sz="3600"/>
              <a:t>.</a:t>
            </a:r>
            <a:endParaRPr lang="ko-KR" altLang="en-US" sz="360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52012D3-B171-1BEC-BB71-EBB3F7797A5F}"/>
              </a:ext>
            </a:extLst>
          </p:cNvPr>
          <p:cNvGrpSpPr/>
          <p:nvPr/>
        </p:nvGrpSpPr>
        <p:grpSpPr>
          <a:xfrm>
            <a:off x="901546" y="1930360"/>
            <a:ext cx="4381577" cy="4367798"/>
            <a:chOff x="901546" y="1930360"/>
            <a:chExt cx="4381577" cy="4367798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925BA543-4748-78CC-7C87-676A95B1E8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1546" y="1930360"/>
              <a:ext cx="4381577" cy="4367798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E8149AD-AA3F-5952-630B-08795D1EF116}"/>
                </a:ext>
              </a:extLst>
            </p:cNvPr>
            <p:cNvSpPr/>
            <p:nvPr/>
          </p:nvSpPr>
          <p:spPr>
            <a:xfrm>
              <a:off x="1463040" y="3591098"/>
              <a:ext cx="1853738" cy="8977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0665B12-3F78-1453-FAF9-509F16495E2B}"/>
                </a:ext>
              </a:extLst>
            </p:cNvPr>
            <p:cNvSpPr/>
            <p:nvPr/>
          </p:nvSpPr>
          <p:spPr>
            <a:xfrm>
              <a:off x="1463040" y="5536276"/>
              <a:ext cx="1379913" cy="61333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E7996BE-A3CD-32CB-8965-C3B443FE1606}"/>
              </a:ext>
            </a:extLst>
          </p:cNvPr>
          <p:cNvSpPr txBox="1"/>
          <p:nvPr/>
        </p:nvSpPr>
        <p:spPr>
          <a:xfrm>
            <a:off x="5893724" y="1930360"/>
            <a:ext cx="55944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요약 </a:t>
            </a:r>
            <a:r>
              <a:rPr lang="en-US" altLang="ko-KR" sz="1400"/>
              <a:t>: text </a:t>
            </a:r>
            <a:r>
              <a:rPr lang="ko-KR" altLang="en-US" sz="1400"/>
              <a:t>자료형은 유현한 자료형을 지원하는 형태이며</a:t>
            </a:r>
            <a:r>
              <a:rPr lang="en-US" altLang="ko-KR" sz="1400"/>
              <a:t>, </a:t>
            </a:r>
            <a:br>
              <a:rPr lang="en-US" altLang="ko-KR" sz="1400"/>
            </a:br>
            <a:r>
              <a:rPr lang="en-US" altLang="ko-KR" sz="1400"/>
              <a:t>           "match" </a:t>
            </a:r>
            <a:r>
              <a:rPr lang="ko-KR" altLang="en-US" sz="1400"/>
              <a:t>검색기능을 통해 조회된다</a:t>
            </a:r>
            <a:r>
              <a:rPr lang="en-US" altLang="ko-KR" sz="1400"/>
              <a:t>.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3227356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19B15F-EAD5-3FAB-087D-DFDA5036A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term </a:t>
            </a:r>
            <a:r>
              <a:rPr lang="ko-KR" altLang="en-US" sz="3600"/>
              <a:t>타입 검색은 </a:t>
            </a:r>
            <a:r>
              <a:rPr lang="en-US" altLang="ko-KR" sz="3600"/>
              <a:t>text</a:t>
            </a:r>
            <a:r>
              <a:rPr lang="ko-KR" altLang="en-US" sz="3600"/>
              <a:t>타입 이외의 검색에 사용된다</a:t>
            </a:r>
            <a:r>
              <a:rPr lang="en-US" altLang="ko-KR" sz="3600"/>
              <a:t>.</a:t>
            </a:r>
            <a:endParaRPr lang="ko-KR" altLang="en-US" sz="360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C17F375-3A2B-92EF-0D20-4BEB0D504B82}"/>
              </a:ext>
            </a:extLst>
          </p:cNvPr>
          <p:cNvGrpSpPr/>
          <p:nvPr/>
        </p:nvGrpSpPr>
        <p:grpSpPr>
          <a:xfrm>
            <a:off x="412712" y="1820488"/>
            <a:ext cx="5097375" cy="3516283"/>
            <a:chOff x="412712" y="1820488"/>
            <a:chExt cx="5097375" cy="3516283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D279BCC9-A1A5-21E7-2777-E47E8573DE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2712" y="1820488"/>
              <a:ext cx="5097375" cy="351628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E351447-1BD1-F3EE-37D4-567DF02D455A}"/>
                </a:ext>
              </a:extLst>
            </p:cNvPr>
            <p:cNvSpPr/>
            <p:nvPr/>
          </p:nvSpPr>
          <p:spPr>
            <a:xfrm>
              <a:off x="1612669" y="4214553"/>
              <a:ext cx="964276" cy="58189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4974BF36-AA4E-4726-20D4-26D9AF3F5E2B}"/>
              </a:ext>
            </a:extLst>
          </p:cNvPr>
          <p:cNvGrpSpPr/>
          <p:nvPr/>
        </p:nvGrpSpPr>
        <p:grpSpPr>
          <a:xfrm>
            <a:off x="5800079" y="1820488"/>
            <a:ext cx="2224687" cy="4929447"/>
            <a:chOff x="5800079" y="1820488"/>
            <a:chExt cx="2224687" cy="4929447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47B3C46E-378E-0A1F-AF65-25EE75929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00079" y="1820488"/>
              <a:ext cx="2038683" cy="492944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D5BB5D1-CE9C-4E12-44A7-454C7934C732}"/>
                </a:ext>
              </a:extLst>
            </p:cNvPr>
            <p:cNvSpPr txBox="1"/>
            <p:nvPr/>
          </p:nvSpPr>
          <p:spPr>
            <a:xfrm>
              <a:off x="6819420" y="2693324"/>
              <a:ext cx="1205346" cy="276999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200"/>
                <a:t>입력 데이터 값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3A317EC-0900-BD42-D69E-8D5EFFDD0BB9}"/>
              </a:ext>
            </a:extLst>
          </p:cNvPr>
          <p:cNvGrpSpPr/>
          <p:nvPr/>
        </p:nvGrpSpPr>
        <p:grpSpPr>
          <a:xfrm>
            <a:off x="8128754" y="1820488"/>
            <a:ext cx="3921034" cy="2791215"/>
            <a:chOff x="8128754" y="1820488"/>
            <a:chExt cx="3921034" cy="2791215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2CB72E03-D715-E2FF-187E-7745AF9253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28754" y="1820488"/>
              <a:ext cx="3629532" cy="2791215"/>
            </a:xfrm>
            <a:prstGeom prst="rect">
              <a:avLst/>
            </a:prstGeom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C10ACD0A-C305-0ED4-31B2-15A97DEA3928}"/>
                </a:ext>
              </a:extLst>
            </p:cNvPr>
            <p:cNvSpPr/>
            <p:nvPr/>
          </p:nvSpPr>
          <p:spPr>
            <a:xfrm>
              <a:off x="9943520" y="3100647"/>
              <a:ext cx="1895314" cy="7897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/>
                <a:t>select category </a:t>
              </a:r>
              <a:br>
                <a:rPr lang="en-US" altLang="ko-KR" sz="1100"/>
              </a:br>
              <a:r>
                <a:rPr lang="en-US" altLang="ko-KR" sz="1100"/>
                <a:t>from boards</a:t>
              </a:r>
            </a:p>
            <a:p>
              <a:pPr algn="ctr"/>
              <a:r>
                <a:rPr lang="en-US" altLang="ko-KR" sz="1100"/>
                <a:t>where category in ("</a:t>
              </a:r>
              <a:r>
                <a:rPr lang="ko-KR" altLang="en-US" sz="1100"/>
                <a:t>자유 게시판</a:t>
              </a:r>
              <a:r>
                <a:rPr lang="en-US" altLang="ko-KR" sz="1100"/>
                <a:t>", "</a:t>
              </a:r>
              <a:r>
                <a:rPr lang="ko-KR" altLang="en-US" sz="1100"/>
                <a:t>익명 게시판</a:t>
              </a:r>
              <a:r>
                <a:rPr lang="en-US" altLang="ko-KR" sz="1100"/>
                <a:t>");</a:t>
              </a:r>
              <a:endParaRPr lang="ko-KR" altLang="en-US" sz="1100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E232A67-457C-DC2E-B8FB-6AF56D74513C}"/>
                </a:ext>
              </a:extLst>
            </p:cNvPr>
            <p:cNvSpPr/>
            <p:nvPr/>
          </p:nvSpPr>
          <p:spPr>
            <a:xfrm>
              <a:off x="10154474" y="1874520"/>
              <a:ext cx="1895314" cy="7897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/>
                <a:t>select category </a:t>
              </a:r>
              <a:br>
                <a:rPr lang="en-US" altLang="ko-KR" sz="1100"/>
              </a:br>
              <a:r>
                <a:rPr lang="en-US" altLang="ko-KR" sz="1100"/>
                <a:t>from boards</a:t>
              </a:r>
            </a:p>
            <a:p>
              <a:pPr algn="ctr"/>
              <a:r>
                <a:rPr lang="en-US" altLang="ko-KR" sz="1100"/>
                <a:t>where board_id = 3;</a:t>
              </a:r>
              <a:endParaRPr lang="ko-KR" altLang="en-US" sz="1100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BF5C761A-4A55-EC2B-D546-E69941850F20}"/>
              </a:ext>
            </a:extLst>
          </p:cNvPr>
          <p:cNvSpPr txBox="1"/>
          <p:nvPr/>
        </p:nvSpPr>
        <p:spPr>
          <a:xfrm>
            <a:off x="8196349" y="4796444"/>
            <a:ext cx="37822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※ </a:t>
            </a:r>
            <a:r>
              <a:rPr lang="ko-KR" altLang="en-US" sz="1400"/>
              <a:t>필드 하나의 조건에 대해서만 알아보았다</a:t>
            </a:r>
            <a:r>
              <a:rPr lang="en-US" altLang="ko-KR" sz="1400"/>
              <a:t>.</a:t>
            </a:r>
            <a:br>
              <a:rPr lang="en-US" altLang="ko-KR" sz="1400"/>
            </a:br>
            <a:r>
              <a:rPr lang="en-US" altLang="ko-KR" sz="1400"/>
              <a:t>     </a:t>
            </a:r>
            <a:r>
              <a:rPr lang="ko-KR" altLang="en-US" sz="1400"/>
              <a:t>필드가 두 개 이상의 조건을 검색하는 </a:t>
            </a:r>
            <a:br>
              <a:rPr lang="en-US" altLang="ko-KR" sz="1400"/>
            </a:br>
            <a:r>
              <a:rPr lang="en-US" altLang="ko-KR" sz="1400"/>
              <a:t>     </a:t>
            </a:r>
            <a:r>
              <a:rPr lang="ko-KR" altLang="en-US" sz="1400"/>
              <a:t>방법을 알아본다</a:t>
            </a:r>
            <a:r>
              <a:rPr lang="en-US" altLang="ko-KR" sz="1400"/>
              <a:t>.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1526040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C9C9E9-D340-1723-C04C-68B9BF935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/>
              <a:t>두 개 이상의 필터 검색 조건이 필요한 경우 </a:t>
            </a:r>
            <a:r>
              <a:rPr lang="en-US" altLang="ko-KR" sz="2800"/>
              <a:t>bool</a:t>
            </a:r>
            <a:r>
              <a:rPr lang="ko-KR" altLang="en-US" sz="2800"/>
              <a:t>을 사용한다</a:t>
            </a:r>
            <a:r>
              <a:rPr lang="en-US" altLang="ko-KR" sz="2800"/>
              <a:t>.</a:t>
            </a:r>
            <a:endParaRPr lang="ko-KR" altLang="en-US" sz="28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7D1837E-78CE-06AE-7466-F23FF9FAF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1" y="1905727"/>
            <a:ext cx="2562369" cy="213425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B5D53D0-09C0-3FB8-62C2-1F8C02601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4933" y="1905727"/>
            <a:ext cx="2447729" cy="2134259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34046943-9FDD-2BAB-DE52-964EA15C960C}"/>
              </a:ext>
            </a:extLst>
          </p:cNvPr>
          <p:cNvGrpSpPr/>
          <p:nvPr/>
        </p:nvGrpSpPr>
        <p:grpSpPr>
          <a:xfrm>
            <a:off x="2841526" y="1905728"/>
            <a:ext cx="3067477" cy="4544058"/>
            <a:chOff x="2841526" y="1905728"/>
            <a:chExt cx="3067477" cy="4544058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0CB926C7-31D4-0E6D-2DDA-56500D6F83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41526" y="1905728"/>
              <a:ext cx="3067477" cy="4544058"/>
            </a:xfrm>
            <a:prstGeom prst="rect">
              <a:avLst/>
            </a:prstGeom>
          </p:spPr>
        </p:pic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BCC4CE03-0E93-3949-4E82-024BF664D9C1}"/>
                </a:ext>
              </a:extLst>
            </p:cNvPr>
            <p:cNvSpPr/>
            <p:nvPr/>
          </p:nvSpPr>
          <p:spPr>
            <a:xfrm>
              <a:off x="3557847" y="4189615"/>
              <a:ext cx="989215" cy="14962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B504E0E1-549C-449D-3CC3-6A8141E6FBC8}"/>
              </a:ext>
            </a:extLst>
          </p:cNvPr>
          <p:cNvGrpSpPr/>
          <p:nvPr/>
        </p:nvGrpSpPr>
        <p:grpSpPr>
          <a:xfrm>
            <a:off x="8648590" y="1905726"/>
            <a:ext cx="2841233" cy="4544059"/>
            <a:chOff x="8648590" y="1905726"/>
            <a:chExt cx="2841233" cy="4544059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70353FCB-1332-B181-BD41-F6153C18691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648590" y="1905726"/>
              <a:ext cx="2841233" cy="4544059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0863C1FF-1C11-A3FF-421B-4BAC38499618}"/>
                </a:ext>
              </a:extLst>
            </p:cNvPr>
            <p:cNvSpPr/>
            <p:nvPr/>
          </p:nvSpPr>
          <p:spPr>
            <a:xfrm>
              <a:off x="9238211" y="4210499"/>
              <a:ext cx="1501833" cy="1287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7BDB2453-EE10-079B-8379-59607BC8F26C}"/>
              </a:ext>
            </a:extLst>
          </p:cNvPr>
          <p:cNvSpPr txBox="1"/>
          <p:nvPr/>
        </p:nvSpPr>
        <p:spPr>
          <a:xfrm>
            <a:off x="5909003" y="4094870"/>
            <a:ext cx="273958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두 조건 검색은 동일한 검색 결과를 가져왔다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ko-KR" altLang="en-US" sz="1200"/>
              <a:t>그러나 </a:t>
            </a:r>
            <a:r>
              <a:rPr lang="en-US" altLang="ko-KR" sz="1200"/>
              <a:t>bool</a:t>
            </a:r>
            <a:r>
              <a:rPr lang="ko-KR" altLang="en-US" sz="1200"/>
              <a:t> 검색 조건의 </a:t>
            </a:r>
            <a:r>
              <a:rPr lang="en-US" altLang="ko-KR" sz="1200"/>
              <a:t>filter </a:t>
            </a:r>
            <a:r>
              <a:rPr lang="ko-KR" altLang="en-US" sz="1200"/>
              <a:t>검색 결과는 </a:t>
            </a:r>
            <a:r>
              <a:rPr lang="en-US" altLang="ko-KR" sz="1200"/>
              <a:t>max_score</a:t>
            </a:r>
            <a:r>
              <a:rPr lang="ko-KR" altLang="en-US" sz="1200"/>
              <a:t>를 </a:t>
            </a:r>
            <a:r>
              <a:rPr lang="en-US" altLang="ko-KR" sz="1200"/>
              <a:t>0 </a:t>
            </a:r>
            <a:r>
              <a:rPr lang="ko-KR" altLang="en-US" sz="1200"/>
              <a:t>을  </a:t>
            </a:r>
            <a:r>
              <a:rPr lang="en-US" altLang="ko-KR" sz="1200"/>
              <a:t>must </a:t>
            </a:r>
            <a:r>
              <a:rPr lang="ko-KR" altLang="en-US" sz="1200"/>
              <a:t>검색 결과는 </a:t>
            </a:r>
            <a:r>
              <a:rPr lang="en-US" altLang="ko-KR" sz="1200"/>
              <a:t>max_score 1.9808291</a:t>
            </a:r>
            <a:r>
              <a:rPr lang="ko-KR" altLang="en-US" sz="1200"/>
              <a:t>을 반환하였다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ko-KR" altLang="en-US" sz="1200"/>
              <a:t>두 차이는 명확하다</a:t>
            </a:r>
            <a:r>
              <a:rPr lang="en-US" altLang="ko-KR" sz="1200"/>
              <a:t>. </a:t>
            </a:r>
            <a:r>
              <a:rPr lang="en-US" altLang="ko-KR" sz="1200" b="1">
                <a:solidFill>
                  <a:srgbClr val="FF0000"/>
                </a:solidFill>
              </a:rPr>
              <a:t>filter </a:t>
            </a:r>
            <a:r>
              <a:rPr lang="ko-KR" altLang="en-US" sz="1200" b="1">
                <a:solidFill>
                  <a:srgbClr val="FF0000"/>
                </a:solidFill>
              </a:rPr>
              <a:t>검색</a:t>
            </a:r>
            <a:r>
              <a:rPr lang="ko-KR" altLang="en-US" sz="1200"/>
              <a:t>은 </a:t>
            </a:r>
            <a:r>
              <a:rPr lang="en-US" altLang="ko-KR" sz="1200"/>
              <a:t>term </a:t>
            </a:r>
            <a:r>
              <a:rPr lang="ko-KR" altLang="en-US" sz="1200"/>
              <a:t>과 같이 </a:t>
            </a:r>
            <a:r>
              <a:rPr lang="ko-KR" altLang="en-US" sz="1200" b="1">
                <a:solidFill>
                  <a:srgbClr val="FF0000"/>
                </a:solidFill>
              </a:rPr>
              <a:t>정확히 일치하는 검색</a:t>
            </a:r>
            <a:r>
              <a:rPr lang="ko-KR" altLang="en-US" sz="1200"/>
              <a:t>에서</a:t>
            </a:r>
            <a:r>
              <a:rPr lang="en-US" altLang="ko-KR" sz="1200"/>
              <a:t>, </a:t>
            </a:r>
          </a:p>
          <a:p>
            <a:r>
              <a:rPr lang="en-US" altLang="ko-KR" sz="1200" b="1">
                <a:solidFill>
                  <a:srgbClr val="0000FF"/>
                </a:solidFill>
              </a:rPr>
              <a:t>must</a:t>
            </a:r>
            <a:r>
              <a:rPr lang="ko-KR" altLang="en-US" sz="1200" b="1">
                <a:solidFill>
                  <a:srgbClr val="0000FF"/>
                </a:solidFill>
              </a:rPr>
              <a:t>의 검색</a:t>
            </a:r>
            <a:r>
              <a:rPr lang="ko-KR" altLang="en-US" sz="1200"/>
              <a:t>은 </a:t>
            </a:r>
            <a:r>
              <a:rPr lang="en-US" altLang="ko-KR" sz="1200"/>
              <a:t>text </a:t>
            </a:r>
            <a:r>
              <a:rPr lang="ko-KR" altLang="en-US" sz="1200"/>
              <a:t>와 같이 </a:t>
            </a:r>
            <a:r>
              <a:rPr lang="ko-KR" altLang="en-US" sz="1200" b="1">
                <a:solidFill>
                  <a:srgbClr val="0000FF"/>
                </a:solidFill>
              </a:rPr>
              <a:t>유연한 검색</a:t>
            </a:r>
            <a:r>
              <a:rPr lang="ko-KR" altLang="en-US" sz="1200"/>
              <a:t>에 사용된다</a:t>
            </a:r>
            <a:r>
              <a:rPr lang="en-US" altLang="ko-KR" sz="1200"/>
              <a:t>.</a:t>
            </a:r>
            <a:r>
              <a:rPr lang="ko-KR" altLang="en-US" sz="12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07497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6DA63E-9664-9740-AE19-2CC6E4342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bool</a:t>
            </a:r>
            <a:r>
              <a:rPr lang="ko-KR" altLang="en-US"/>
              <a:t> </a:t>
            </a:r>
            <a:r>
              <a:rPr lang="en-US" altLang="ko-KR"/>
              <a:t>(must, filter, must_not) </a:t>
            </a:r>
            <a:r>
              <a:rPr lang="ko-KR" altLang="en-US"/>
              <a:t>실습</a:t>
            </a:r>
            <a:r>
              <a:rPr lang="en-US" altLang="ko-KR"/>
              <a:t>-1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9322219-6589-2870-84C3-00C648698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047" y="1903615"/>
            <a:ext cx="4630742" cy="42808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3AB03C-E7C1-C028-46EE-054456E0AD16}"/>
              </a:ext>
            </a:extLst>
          </p:cNvPr>
          <p:cNvSpPr txBox="1"/>
          <p:nvPr/>
        </p:nvSpPr>
        <p:spPr>
          <a:xfrm>
            <a:off x="5062451" y="1903615"/>
            <a:ext cx="578565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실습을 위한 데이터 타입 셋팅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board_id = long</a:t>
            </a:r>
          </a:p>
          <a:p>
            <a:r>
              <a:rPr lang="en-US" altLang="ko-KR"/>
              <a:t>title = text</a:t>
            </a:r>
          </a:p>
          <a:p>
            <a:r>
              <a:rPr lang="en-US" altLang="ko-KR"/>
              <a:t>category = keyword</a:t>
            </a:r>
          </a:p>
          <a:p>
            <a:r>
              <a:rPr lang="en-US" altLang="ko-KR"/>
              <a:t>is_notice = Boolean</a:t>
            </a:r>
          </a:p>
          <a:p>
            <a:r>
              <a:rPr lang="en-US" altLang="ko-KR"/>
              <a:t>created_at = date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6615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1035E-CB97-7D23-B9D7-CBFFCF7F2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DBCCE2-2B77-69EA-5031-B215C23BF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bool</a:t>
            </a:r>
            <a:r>
              <a:rPr lang="ko-KR" altLang="en-US"/>
              <a:t> </a:t>
            </a:r>
            <a:r>
              <a:rPr lang="en-US" altLang="ko-KR"/>
              <a:t>(must, filter, must_not) </a:t>
            </a:r>
            <a:r>
              <a:rPr lang="ko-KR" altLang="en-US"/>
              <a:t>실습</a:t>
            </a:r>
            <a:r>
              <a:rPr lang="en-US" altLang="ko-KR"/>
              <a:t>-2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39E904-AB20-4545-8476-9BB172F729D5}"/>
              </a:ext>
            </a:extLst>
          </p:cNvPr>
          <p:cNvSpPr txBox="1"/>
          <p:nvPr/>
        </p:nvSpPr>
        <p:spPr>
          <a:xfrm>
            <a:off x="1097280" y="1837113"/>
            <a:ext cx="988383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// </a:t>
            </a:r>
            <a:r>
              <a:rPr lang="ko-KR" altLang="en-US" sz="1100"/>
              <a:t>광고 게시판의 글이 아니고</a:t>
            </a:r>
            <a:endParaRPr lang="en-US" altLang="ko-KR" sz="1100"/>
          </a:p>
          <a:p>
            <a:r>
              <a:rPr lang="en-US" altLang="ko-KR" sz="1100"/>
              <a:t>// </a:t>
            </a:r>
            <a:r>
              <a:rPr lang="ko-KR" altLang="en-US" sz="1100"/>
              <a:t>공지 관련 글이 아니며</a:t>
            </a:r>
            <a:endParaRPr lang="en-US" altLang="ko-KR" sz="1100"/>
          </a:p>
          <a:p>
            <a:r>
              <a:rPr lang="en-US" altLang="ko-KR" sz="1100"/>
              <a:t>// </a:t>
            </a:r>
            <a:r>
              <a:rPr lang="ko-KR" altLang="en-US" sz="1100"/>
              <a:t>검색엔진 과 관련된 글에 대한 검색</a:t>
            </a:r>
            <a:endParaRPr lang="en-US" altLang="ko-KR" sz="11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5BABA27-4C43-17C3-74DA-8DADE28A3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537030"/>
            <a:ext cx="3145080" cy="418796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4D2ED72-309B-A261-715D-105596C58E54}"/>
              </a:ext>
            </a:extLst>
          </p:cNvPr>
          <p:cNvSpPr txBox="1"/>
          <p:nvPr/>
        </p:nvSpPr>
        <p:spPr>
          <a:xfrm>
            <a:off x="4389119" y="2537030"/>
            <a:ext cx="4405745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1. </a:t>
            </a:r>
            <a:r>
              <a:rPr lang="ko-KR" altLang="en-US" sz="900"/>
              <a:t>광고 게시판이 아니어야 한다</a:t>
            </a:r>
            <a:r>
              <a:rPr lang="en-US" altLang="ko-KR" sz="900"/>
              <a:t>, category</a:t>
            </a:r>
            <a:r>
              <a:rPr lang="ko-KR" altLang="en-US" sz="900"/>
              <a:t> 조건은 </a:t>
            </a:r>
            <a:r>
              <a:rPr lang="en-US" altLang="ko-KR" sz="900"/>
              <a:t>keyword</a:t>
            </a:r>
            <a:r>
              <a:rPr lang="ko-KR" altLang="en-US" sz="900"/>
              <a:t>다</a:t>
            </a:r>
            <a:r>
              <a:rPr lang="en-US" altLang="ko-KR" sz="900"/>
              <a:t> </a:t>
            </a:r>
          </a:p>
          <a:p>
            <a:r>
              <a:rPr lang="ko-KR" altLang="en-US" sz="900"/>
              <a:t>    </a:t>
            </a:r>
            <a:r>
              <a:rPr lang="en-US" altLang="ko-KR" sz="900">
                <a:sym typeface="Wingdings" panose="05000000000000000000" pitchFamily="2" charset="2"/>
              </a:rPr>
              <a:t> must_not, term</a:t>
            </a:r>
          </a:p>
          <a:p>
            <a:r>
              <a:rPr lang="en-US" altLang="ko-KR" sz="900"/>
              <a:t>2.  </a:t>
            </a:r>
            <a:r>
              <a:rPr lang="ko-KR" altLang="en-US" sz="900"/>
              <a:t>공지 관련 글이 아니다</a:t>
            </a:r>
            <a:r>
              <a:rPr lang="en-US" altLang="ko-KR" sz="900"/>
              <a:t>. is_notice</a:t>
            </a:r>
            <a:r>
              <a:rPr lang="ko-KR" altLang="en-US" sz="900"/>
              <a:t>는 </a:t>
            </a:r>
            <a:r>
              <a:rPr lang="en-US" altLang="ko-KR" sz="900"/>
              <a:t>Boolean </a:t>
            </a:r>
            <a:r>
              <a:rPr lang="ko-KR" altLang="en-US" sz="900"/>
              <a:t>형으로 부정의 형태는 </a:t>
            </a:r>
            <a:r>
              <a:rPr lang="en-US" altLang="ko-KR" sz="900"/>
              <a:t>false</a:t>
            </a:r>
            <a:r>
              <a:rPr lang="ko-KR" altLang="en-US" sz="900"/>
              <a:t>로 표현되며</a:t>
            </a:r>
            <a:r>
              <a:rPr lang="en-US" altLang="ko-KR" sz="900"/>
              <a:t>, </a:t>
            </a:r>
            <a:br>
              <a:rPr lang="en-US" altLang="ko-KR" sz="900"/>
            </a:br>
            <a:r>
              <a:rPr lang="en-US" altLang="ko-KR" sz="900"/>
              <a:t>     text</a:t>
            </a:r>
            <a:r>
              <a:rPr lang="ko-KR" altLang="en-US" sz="900"/>
              <a:t> 형이 아님으로 </a:t>
            </a:r>
            <a:r>
              <a:rPr lang="en-US" altLang="ko-KR" sz="900"/>
              <a:t>term</a:t>
            </a:r>
            <a:r>
              <a:rPr lang="ko-KR" altLang="en-US" sz="900"/>
              <a:t>을 사용한다</a:t>
            </a:r>
            <a:r>
              <a:rPr lang="en-US" altLang="ko-KR" sz="900"/>
              <a:t>.</a:t>
            </a:r>
            <a:br>
              <a:rPr lang="en-US" altLang="ko-KR" sz="900"/>
            </a:br>
            <a:r>
              <a:rPr lang="en-US" altLang="ko-KR" sz="900"/>
              <a:t>    </a:t>
            </a:r>
            <a:r>
              <a:rPr lang="en-US" altLang="ko-KR" sz="900">
                <a:sym typeface="Wingdings" panose="05000000000000000000" pitchFamily="2" charset="2"/>
              </a:rPr>
              <a:t>  filter , term</a:t>
            </a:r>
          </a:p>
          <a:p>
            <a:r>
              <a:rPr lang="en-US" altLang="ko-KR" sz="900">
                <a:sym typeface="Wingdings" panose="05000000000000000000" pitchFamily="2" charset="2"/>
              </a:rPr>
              <a:t>3. '</a:t>
            </a:r>
            <a:r>
              <a:rPr lang="ko-KR" altLang="en-US" sz="900">
                <a:sym typeface="Wingdings" panose="05000000000000000000" pitchFamily="2" charset="2"/>
              </a:rPr>
              <a:t>검색엔진</a:t>
            </a:r>
            <a:r>
              <a:rPr lang="en-US" altLang="ko-KR" sz="900">
                <a:sym typeface="Wingdings" panose="05000000000000000000" pitchFamily="2" charset="2"/>
              </a:rPr>
              <a:t>' </a:t>
            </a:r>
            <a:r>
              <a:rPr lang="ko-KR" altLang="en-US" sz="900">
                <a:sym typeface="Wingdings" panose="05000000000000000000" pitchFamily="2" charset="2"/>
              </a:rPr>
              <a:t>이 포함된 글이어야한다</a:t>
            </a:r>
            <a:r>
              <a:rPr lang="en-US" altLang="ko-KR" sz="900">
                <a:sym typeface="Wingdings" panose="05000000000000000000" pitchFamily="2" charset="2"/>
              </a:rPr>
              <a:t>. title</a:t>
            </a:r>
            <a:r>
              <a:rPr lang="ko-KR" altLang="en-US" sz="900">
                <a:sym typeface="Wingdings" panose="05000000000000000000" pitchFamily="2" charset="2"/>
              </a:rPr>
              <a:t>은 </a:t>
            </a:r>
            <a:r>
              <a:rPr lang="en-US" altLang="ko-KR" sz="900">
                <a:sym typeface="Wingdings" panose="05000000000000000000" pitchFamily="2" charset="2"/>
              </a:rPr>
              <a:t>text </a:t>
            </a:r>
            <a:r>
              <a:rPr lang="ko-KR" altLang="en-US" sz="900">
                <a:sym typeface="Wingdings" panose="05000000000000000000" pitchFamily="2" charset="2"/>
              </a:rPr>
              <a:t>자료형이므로 </a:t>
            </a:r>
            <a:r>
              <a:rPr lang="en-US" altLang="ko-KR" sz="900">
                <a:sym typeface="Wingdings" panose="05000000000000000000" pitchFamily="2" charset="2"/>
              </a:rPr>
              <a:t>score</a:t>
            </a:r>
            <a:r>
              <a:rPr lang="ko-KR" altLang="en-US" sz="900">
                <a:sym typeface="Wingdings" panose="05000000000000000000" pitchFamily="2" charset="2"/>
              </a:rPr>
              <a:t>와 관련 있으며</a:t>
            </a:r>
            <a:r>
              <a:rPr lang="en-US" altLang="ko-KR" sz="900">
                <a:sym typeface="Wingdings" panose="05000000000000000000" pitchFamily="2" charset="2"/>
              </a:rPr>
              <a:t>,</a:t>
            </a:r>
            <a:br>
              <a:rPr lang="en-US" altLang="ko-KR" sz="900">
                <a:sym typeface="Wingdings" panose="05000000000000000000" pitchFamily="2" charset="2"/>
              </a:rPr>
            </a:br>
            <a:r>
              <a:rPr lang="en-US" altLang="ko-KR" sz="900">
                <a:sym typeface="Wingdings" panose="05000000000000000000" pitchFamily="2" charset="2"/>
              </a:rPr>
              <a:t>     text</a:t>
            </a:r>
            <a:r>
              <a:rPr lang="ko-KR" altLang="en-US" sz="900">
                <a:sym typeface="Wingdings" panose="05000000000000000000" pitchFamily="2" charset="2"/>
              </a:rPr>
              <a:t> 자료형 전용 검색 </a:t>
            </a:r>
            <a:r>
              <a:rPr lang="en-US" altLang="ko-KR" sz="900">
                <a:sym typeface="Wingdings" panose="05000000000000000000" pitchFamily="2" charset="2"/>
              </a:rPr>
              <a:t>match</a:t>
            </a:r>
            <a:r>
              <a:rPr lang="ko-KR" altLang="en-US" sz="900">
                <a:sym typeface="Wingdings" panose="05000000000000000000" pitchFamily="2" charset="2"/>
              </a:rPr>
              <a:t>를 사용한다</a:t>
            </a:r>
            <a:r>
              <a:rPr lang="en-US" altLang="ko-KR" sz="900">
                <a:sym typeface="Wingdings" panose="05000000000000000000" pitchFamily="2" charset="2"/>
              </a:rPr>
              <a:t>.</a:t>
            </a:r>
          </a:p>
          <a:p>
            <a:r>
              <a:rPr lang="en-US" altLang="ko-KR" sz="900">
                <a:sym typeface="Wingdings" panose="05000000000000000000" pitchFamily="2" charset="2"/>
              </a:rPr>
              <a:t>     must, match</a:t>
            </a:r>
            <a:endParaRPr lang="en-US" altLang="ko-KR" sz="900"/>
          </a:p>
          <a:p>
            <a:endParaRPr lang="ko-KR" altLang="en-US" sz="90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E7A8809-EE1F-80E8-DE7C-5E3BB6A39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8425" y="2437277"/>
            <a:ext cx="3148283" cy="357482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16908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3F33B-C30F-1864-3E8E-FA0CDF1F8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F559A1-648C-24A3-30B8-638670CC7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bool</a:t>
            </a:r>
            <a:r>
              <a:rPr lang="ko-KR" altLang="en-US"/>
              <a:t> </a:t>
            </a:r>
            <a:r>
              <a:rPr lang="en-US" altLang="ko-KR"/>
              <a:t>(must, filter, must_not) </a:t>
            </a:r>
            <a:r>
              <a:rPr lang="ko-KR" altLang="en-US"/>
              <a:t>실습</a:t>
            </a:r>
            <a:r>
              <a:rPr lang="en-US" altLang="ko-KR"/>
              <a:t>-3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23E6D3-67CE-F1F3-4707-C25EA95657DD}"/>
              </a:ext>
            </a:extLst>
          </p:cNvPr>
          <p:cNvSpPr txBox="1"/>
          <p:nvPr/>
        </p:nvSpPr>
        <p:spPr>
          <a:xfrm>
            <a:off x="1097280" y="1837113"/>
            <a:ext cx="988383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// </a:t>
            </a:r>
            <a:r>
              <a:rPr lang="ko-KR" altLang="en-US" sz="1100"/>
              <a:t>광고 게시판의 글이 아니고</a:t>
            </a:r>
            <a:endParaRPr lang="en-US" altLang="ko-KR" sz="1100"/>
          </a:p>
          <a:p>
            <a:r>
              <a:rPr lang="en-US" altLang="ko-KR" sz="1100"/>
              <a:t>// </a:t>
            </a:r>
            <a:r>
              <a:rPr lang="ko-KR" altLang="en-US" sz="1100"/>
              <a:t>공지 관련 글이 아니며</a:t>
            </a:r>
            <a:endParaRPr lang="en-US" altLang="ko-KR" sz="1100"/>
          </a:p>
          <a:p>
            <a:r>
              <a:rPr lang="en-US" altLang="ko-KR" sz="1100"/>
              <a:t>// </a:t>
            </a:r>
            <a:r>
              <a:rPr lang="ko-KR" altLang="en-US" sz="1100"/>
              <a:t>검색엔진 과 관련된 글에 대한 검색</a:t>
            </a:r>
            <a:endParaRPr lang="en-US" altLang="ko-KR" sz="11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993D1D-1800-27B3-85D8-49507387A155}"/>
              </a:ext>
            </a:extLst>
          </p:cNvPr>
          <p:cNvSpPr txBox="1"/>
          <p:nvPr/>
        </p:nvSpPr>
        <p:spPr>
          <a:xfrm>
            <a:off x="4389119" y="2537030"/>
            <a:ext cx="44057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※ must_not </a:t>
            </a:r>
            <a:r>
              <a:rPr lang="ko-KR" altLang="en-US" sz="1100"/>
              <a:t>의 경우 부정을 나타낼 때 쓰며</a:t>
            </a:r>
            <a:r>
              <a:rPr lang="en-US" altLang="ko-KR" sz="1100"/>
              <a:t>, Boolean </a:t>
            </a:r>
            <a:r>
              <a:rPr lang="ko-KR" altLang="en-US" sz="1100"/>
              <a:t>타입 또한 </a:t>
            </a:r>
            <a:br>
              <a:rPr lang="en-US" altLang="ko-KR" sz="1100"/>
            </a:br>
            <a:r>
              <a:rPr lang="en-US" altLang="ko-KR" sz="1100"/>
              <a:t>    true</a:t>
            </a:r>
            <a:r>
              <a:rPr lang="ko-KR" altLang="en-US" sz="1100"/>
              <a:t>의 반대는 </a:t>
            </a:r>
            <a:r>
              <a:rPr lang="en-US" altLang="ko-KR" sz="1100"/>
              <a:t>false / false</a:t>
            </a:r>
            <a:r>
              <a:rPr lang="ko-KR" altLang="en-US" sz="1100"/>
              <a:t>의 반대는 </a:t>
            </a:r>
            <a:r>
              <a:rPr lang="en-US" altLang="ko-KR" sz="1100"/>
              <a:t>true</a:t>
            </a:r>
            <a:r>
              <a:rPr lang="ko-KR" altLang="en-US" sz="1100"/>
              <a:t>임으로</a:t>
            </a:r>
            <a:br>
              <a:rPr lang="en-US" altLang="ko-KR" sz="1100"/>
            </a:br>
            <a:r>
              <a:rPr lang="en-US" altLang="ko-KR" sz="1100"/>
              <a:t>    must_not </a:t>
            </a:r>
            <a:r>
              <a:rPr lang="ko-KR" altLang="en-US" sz="1100"/>
              <a:t>에 </a:t>
            </a:r>
            <a:r>
              <a:rPr lang="en-US" altLang="ko-KR" sz="1100"/>
              <a:t>boolean </a:t>
            </a:r>
            <a:r>
              <a:rPr lang="ko-KR" altLang="en-US" sz="1100"/>
              <a:t>타입인 </a:t>
            </a:r>
            <a:r>
              <a:rPr lang="en-US" altLang="ko-KR" sz="1100"/>
              <a:t>is_notice</a:t>
            </a:r>
            <a:r>
              <a:rPr lang="ko-KR" altLang="en-US" sz="1100"/>
              <a:t>를 정의할 수 있다</a:t>
            </a:r>
            <a:r>
              <a:rPr lang="en-US" altLang="ko-KR" sz="1100"/>
              <a:t>.</a:t>
            </a:r>
          </a:p>
          <a:p>
            <a:endParaRPr lang="ko-KR" altLang="en-US" sz="110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74E7214-97BD-5E87-5007-C97A33C6B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437277"/>
            <a:ext cx="3177695" cy="42426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654DD54-5BFE-6729-3DCF-569AD0D61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7831" y="2363148"/>
            <a:ext cx="3624138" cy="411515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42046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6DBD89-E7B8-9084-01CA-A719B6B99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Range </a:t>
            </a:r>
            <a:r>
              <a:rPr lang="ko-KR" altLang="en-US"/>
              <a:t>실습 데이터 입력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EDCD119-A7B4-C6FA-CF6A-444422C74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13" y="1936864"/>
            <a:ext cx="4523938" cy="36528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CB15C38-801B-8248-8D67-470E5D785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0333" y="1936864"/>
            <a:ext cx="2476846" cy="29150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7AEF8D-FD3A-7675-382B-0D3981E6DEA5}"/>
              </a:ext>
            </a:extLst>
          </p:cNvPr>
          <p:cNvSpPr txBox="1"/>
          <p:nvPr/>
        </p:nvSpPr>
        <p:spPr>
          <a:xfrm>
            <a:off x="7680960" y="1936864"/>
            <a:ext cx="413512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범위 데이터 실습을 위한 데이터 입력</a:t>
            </a:r>
            <a:endParaRPr lang="en-US" altLang="ko-KR" sz="1400"/>
          </a:p>
          <a:p>
            <a:endParaRPr lang="en-US" altLang="ko-KR" sz="1400"/>
          </a:p>
          <a:p>
            <a:r>
              <a:rPr lang="ko-KR" altLang="en-US" sz="1400"/>
              <a:t>사용자 인덱스</a:t>
            </a:r>
            <a:endParaRPr lang="en-US" altLang="ko-KR" sz="1400"/>
          </a:p>
          <a:p>
            <a:pPr marL="285750" indent="-285750">
              <a:buFontTx/>
              <a:buChar char="-"/>
            </a:pPr>
            <a:r>
              <a:rPr lang="ko-KR" altLang="en-US" sz="1400"/>
              <a:t>이름</a:t>
            </a:r>
            <a:endParaRPr lang="en-US" altLang="ko-KR" sz="1400"/>
          </a:p>
          <a:p>
            <a:pPr marL="285750" indent="-285750">
              <a:buFontTx/>
              <a:buChar char="-"/>
            </a:pPr>
            <a:r>
              <a:rPr lang="ko-KR" altLang="en-US" sz="1400"/>
              <a:t>나이</a:t>
            </a:r>
            <a:endParaRPr lang="en-US" altLang="ko-KR" sz="1400"/>
          </a:p>
          <a:p>
            <a:pPr marL="285750" indent="-285750">
              <a:buFontTx/>
              <a:buChar char="-"/>
            </a:pPr>
            <a:r>
              <a:rPr lang="ko-KR" altLang="en-US" sz="1400"/>
              <a:t>가입일 </a:t>
            </a:r>
            <a:endParaRPr lang="en-US" altLang="ko-KR" sz="1400"/>
          </a:p>
          <a:p>
            <a:pPr marL="285750" indent="-285750">
              <a:buFontTx/>
              <a:buChar char="-"/>
            </a:pPr>
            <a:endParaRPr lang="en-US" altLang="ko-KR" sz="1400"/>
          </a:p>
          <a:p>
            <a:r>
              <a:rPr lang="en-US" altLang="ko-KR" sz="1400">
                <a:sym typeface="Wingdings" panose="05000000000000000000" pitchFamily="2" charset="2"/>
              </a:rPr>
              <a:t> </a:t>
            </a:r>
            <a:r>
              <a:rPr lang="ko-KR" altLang="en-US" sz="1400">
                <a:sym typeface="Wingdings" panose="05000000000000000000" pitchFamily="2" charset="2"/>
              </a:rPr>
              <a:t>나이와 가입일에 대한 범위 검색 조건 실습</a:t>
            </a:r>
            <a:endParaRPr lang="en-US" altLang="ko-KR" sz="1400"/>
          </a:p>
        </p:txBody>
      </p:sp>
    </p:spTree>
    <p:extLst>
      <p:ext uri="{BB962C8B-B14F-4D97-AF65-F5344CB8AC3E}">
        <p14:creationId xmlns:p14="http://schemas.microsoft.com/office/powerpoint/2010/main" val="2855690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420BCE-D568-1912-FED2-E298BC5F1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Range </a:t>
            </a:r>
            <a:r>
              <a:rPr lang="ko-KR" altLang="en-US"/>
              <a:t>조건 실습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3AB458-53B8-8D5B-A438-A843A6304898}"/>
              </a:ext>
            </a:extLst>
          </p:cNvPr>
          <p:cNvSpPr txBox="1"/>
          <p:nvPr/>
        </p:nvSpPr>
        <p:spPr>
          <a:xfrm>
            <a:off x="1213658" y="1862051"/>
            <a:ext cx="5818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나이가 </a:t>
            </a:r>
            <a:r>
              <a:rPr lang="en-US" altLang="ko-KR" sz="1400"/>
              <a:t>30</a:t>
            </a:r>
            <a:r>
              <a:rPr lang="ko-KR" altLang="en-US" sz="1400"/>
              <a:t>살 이상</a:t>
            </a:r>
            <a:r>
              <a:rPr lang="en-US" altLang="ko-KR" sz="1400"/>
              <a:t>, </a:t>
            </a:r>
            <a:r>
              <a:rPr lang="ko-KR" altLang="en-US" sz="1400"/>
              <a:t>회원가입일이 </a:t>
            </a:r>
            <a:r>
              <a:rPr lang="en-US" altLang="ko-KR" sz="1400"/>
              <a:t>2025</a:t>
            </a:r>
            <a:r>
              <a:rPr lang="ko-KR" altLang="en-US" sz="1400"/>
              <a:t>년 </a:t>
            </a:r>
            <a:r>
              <a:rPr lang="en-US" altLang="ko-KR" sz="1400"/>
              <a:t>1</a:t>
            </a:r>
            <a:r>
              <a:rPr lang="ko-KR" altLang="en-US" sz="1400"/>
              <a:t>월</a:t>
            </a:r>
            <a:r>
              <a:rPr lang="en-US" altLang="ko-KR" sz="1400"/>
              <a:t> 1</a:t>
            </a:r>
            <a:r>
              <a:rPr lang="ko-KR" altLang="en-US" sz="1400"/>
              <a:t>일 이후</a:t>
            </a:r>
            <a:r>
              <a:rPr lang="en-US" altLang="ko-KR" sz="1400"/>
              <a:t>.</a:t>
            </a:r>
            <a:endParaRPr lang="ko-KR" altLang="en-US" sz="14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CD6C4A9-48CD-4F04-71D3-BA2B6B597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658" y="2294519"/>
            <a:ext cx="3351103" cy="37820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68F2BC7-236D-6DAC-5A78-17534318A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0719" y="2835053"/>
            <a:ext cx="2241848" cy="34826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1F31F46-4AEA-9872-E12A-E800F162742E}"/>
              </a:ext>
            </a:extLst>
          </p:cNvPr>
          <p:cNvSpPr txBox="1"/>
          <p:nvPr/>
        </p:nvSpPr>
        <p:spPr>
          <a:xfrm>
            <a:off x="4713316" y="2294519"/>
            <a:ext cx="3524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나이와 날짜는 유연한 데이터가 아닌 데이터 형으로 </a:t>
            </a:r>
            <a:r>
              <a:rPr lang="en-US" altLang="ko-KR" sz="1200"/>
              <a:t>score</a:t>
            </a:r>
            <a:r>
              <a:rPr lang="ko-KR" altLang="en-US" sz="1200"/>
              <a:t>와는 관련이 없다</a:t>
            </a:r>
            <a:r>
              <a:rPr lang="en-US" altLang="ko-KR" sz="1200"/>
              <a:t>. </a:t>
            </a:r>
            <a:r>
              <a:rPr lang="en-US" altLang="ko-KR" sz="1200">
                <a:sym typeface="Wingdings" panose="05000000000000000000" pitchFamily="2" charset="2"/>
              </a:rPr>
              <a:t> filter </a:t>
            </a:r>
            <a:r>
              <a:rPr lang="ko-KR" altLang="en-US" sz="1200">
                <a:sym typeface="Wingdings" panose="05000000000000000000" pitchFamily="2" charset="2"/>
              </a:rPr>
              <a:t>사용</a:t>
            </a:r>
            <a:endParaRPr lang="en-US" altLang="ko-KR" sz="1200">
              <a:sym typeface="Wingdings" panose="05000000000000000000" pitchFamily="2" charset="2"/>
            </a:endParaRPr>
          </a:p>
          <a:p>
            <a:endParaRPr lang="en-US" altLang="ko-KR" sz="120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82575B8-31CA-046A-2442-2A6F724DEE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300" y="2812415"/>
            <a:ext cx="4802127" cy="13711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9568A33-0BDA-0B90-A79D-154123EF5D76}"/>
              </a:ext>
            </a:extLst>
          </p:cNvPr>
          <p:cNvSpPr txBox="1"/>
          <p:nvPr/>
        </p:nvSpPr>
        <p:spPr>
          <a:xfrm>
            <a:off x="7150300" y="4183603"/>
            <a:ext cx="48021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범위 조건 연산자 참고</a:t>
            </a:r>
          </a:p>
        </p:txBody>
      </p:sp>
    </p:spTree>
    <p:extLst>
      <p:ext uri="{BB962C8B-B14F-4D97-AF65-F5344CB8AC3E}">
        <p14:creationId xmlns:p14="http://schemas.microsoft.com/office/powerpoint/2010/main" val="3208198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81A24F-B330-45AE-09C3-EB3FF2FA6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/>
              <a:t>특정 조건을 만족하는 데이터를 위주로 상위노출 시키고자 할 때</a:t>
            </a:r>
            <a:br>
              <a:rPr lang="en-US" altLang="ko-KR" sz="2800"/>
            </a:br>
            <a:r>
              <a:rPr lang="en-US" altLang="ko-KR" sz="2800"/>
              <a:t>- Should</a:t>
            </a:r>
            <a:endParaRPr lang="ko-KR" altLang="en-US" sz="280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C5B48390-A4D6-88C4-A667-21C3D884B443}"/>
              </a:ext>
            </a:extLst>
          </p:cNvPr>
          <p:cNvGrpSpPr/>
          <p:nvPr/>
        </p:nvGrpSpPr>
        <p:grpSpPr>
          <a:xfrm>
            <a:off x="889861" y="1822910"/>
            <a:ext cx="10412278" cy="1267002"/>
            <a:chOff x="889861" y="1822910"/>
            <a:chExt cx="10412278" cy="1267002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99997350-5570-3388-32B8-AEBDC52770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9861" y="1822910"/>
              <a:ext cx="10412278" cy="1267002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DC65200-2747-03D3-057E-FA2BE5D30307}"/>
                </a:ext>
              </a:extLst>
            </p:cNvPr>
            <p:cNvSpPr/>
            <p:nvPr/>
          </p:nvSpPr>
          <p:spPr>
            <a:xfrm>
              <a:off x="1271847" y="2518756"/>
              <a:ext cx="7946967" cy="25769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B161790-76BC-B65C-2487-115DA0FC7B85}"/>
              </a:ext>
            </a:extLst>
          </p:cNvPr>
          <p:cNvGrpSpPr/>
          <p:nvPr/>
        </p:nvGrpSpPr>
        <p:grpSpPr>
          <a:xfrm>
            <a:off x="969077" y="3175462"/>
            <a:ext cx="4592138" cy="3609787"/>
            <a:chOff x="969077" y="3175462"/>
            <a:chExt cx="4592138" cy="3609787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8CCCC95A-1298-EE26-BEA3-E5911D1FF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9077" y="3175462"/>
              <a:ext cx="4592138" cy="3609787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4F99263-EF2A-4FA5-EA1C-4A4D4DF0E906}"/>
                </a:ext>
              </a:extLst>
            </p:cNvPr>
            <p:cNvSpPr/>
            <p:nvPr/>
          </p:nvSpPr>
          <p:spPr>
            <a:xfrm>
              <a:off x="2086495" y="6625244"/>
              <a:ext cx="1421476" cy="16000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07349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9A7A8E-C74D-BED7-F95F-3DC4862D1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/>
              <a:t>Should </a:t>
            </a:r>
            <a:r>
              <a:rPr lang="ko-KR" altLang="en-US" sz="3200"/>
              <a:t>를 이용한 특정 조건 상위 노출 실습 데이터 입력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C0B923E-1412-973E-D964-11ED1A30F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73" y="1836811"/>
            <a:ext cx="4656506" cy="37327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FF6699-9346-544A-B9B6-4A71792E1FF3}"/>
              </a:ext>
            </a:extLst>
          </p:cNvPr>
          <p:cNvSpPr txBox="1"/>
          <p:nvPr/>
        </p:nvSpPr>
        <p:spPr>
          <a:xfrm>
            <a:off x="2327564" y="4372495"/>
            <a:ext cx="19368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평점</a:t>
            </a:r>
            <a:r>
              <a:rPr lang="en-US" altLang="ko-KR" sz="1400"/>
              <a:t>(rating)</a:t>
            </a:r>
          </a:p>
          <a:p>
            <a:endParaRPr lang="en-US" altLang="ko-KR" sz="1400"/>
          </a:p>
          <a:p>
            <a:r>
              <a:rPr lang="ko-KR" altLang="en-US" sz="1400"/>
              <a:t>좋아요 수 </a:t>
            </a:r>
            <a:r>
              <a:rPr lang="en-US" altLang="ko-KR" sz="1400"/>
              <a:t>(likes)</a:t>
            </a:r>
            <a:endParaRPr lang="ko-KR" altLang="en-US" sz="140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B17F4C6-BAD7-7342-FFDC-2C32ED046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0617" y="1836811"/>
            <a:ext cx="2781688" cy="439163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246D0C2-A87E-8941-9AF5-85D2C0C5F0A6}"/>
              </a:ext>
            </a:extLst>
          </p:cNvPr>
          <p:cNvSpPr txBox="1"/>
          <p:nvPr/>
        </p:nvSpPr>
        <p:spPr>
          <a:xfrm>
            <a:off x="7938655" y="1836811"/>
            <a:ext cx="3740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상품별 데이터 입력</a:t>
            </a:r>
          </a:p>
        </p:txBody>
      </p:sp>
    </p:spTree>
    <p:extLst>
      <p:ext uri="{BB962C8B-B14F-4D97-AF65-F5344CB8AC3E}">
        <p14:creationId xmlns:p14="http://schemas.microsoft.com/office/powerpoint/2010/main" val="2007815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A667B4-EE5A-4841-F6C0-62460944F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Should</a:t>
            </a:r>
            <a:r>
              <a:rPr lang="ko-KR" altLang="en-US"/>
              <a:t>를 이용한 특정조건 상위 노출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44AC6962-D3BA-F14F-1A54-A99E27D2505E}"/>
              </a:ext>
            </a:extLst>
          </p:cNvPr>
          <p:cNvGrpSpPr/>
          <p:nvPr/>
        </p:nvGrpSpPr>
        <p:grpSpPr>
          <a:xfrm>
            <a:off x="1194211" y="1755501"/>
            <a:ext cx="5588974" cy="5102499"/>
            <a:chOff x="1194211" y="1755501"/>
            <a:chExt cx="5588974" cy="510249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5164C8CD-1C66-3D30-5866-0F640151F9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4211" y="1837624"/>
              <a:ext cx="3036082" cy="4733773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627D30A-F64D-8473-3A62-890EBB9ED490}"/>
                </a:ext>
              </a:extLst>
            </p:cNvPr>
            <p:cNvSpPr/>
            <p:nvPr/>
          </p:nvSpPr>
          <p:spPr>
            <a:xfrm>
              <a:off x="2169622" y="3649287"/>
              <a:ext cx="1820487" cy="24688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810BF19A-F4C9-386C-80FE-8853677512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87956" y="1755501"/>
              <a:ext cx="2095229" cy="5102499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FBD5467-CEAB-DDAB-C6E2-060F61DF8DCB}"/>
                </a:ext>
              </a:extLst>
            </p:cNvPr>
            <p:cNvSpPr/>
            <p:nvPr/>
          </p:nvSpPr>
          <p:spPr>
            <a:xfrm>
              <a:off x="5054137" y="3428999"/>
              <a:ext cx="1670859" cy="305492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16BC9BC-37D8-F078-D00A-E6BE658B0212}"/>
              </a:ext>
            </a:extLst>
          </p:cNvPr>
          <p:cNvSpPr txBox="1"/>
          <p:nvPr/>
        </p:nvSpPr>
        <p:spPr>
          <a:xfrm>
            <a:off x="6957753" y="1755501"/>
            <a:ext cx="47881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무선 이어폰의 검색이나 평점과 좋아요 수에 의해 </a:t>
            </a:r>
            <a:endParaRPr lang="en-US" altLang="ko-KR" sz="1200"/>
          </a:p>
          <a:p>
            <a:r>
              <a:rPr lang="en-US" altLang="ko-KR" sz="1200"/>
              <a:t>"</a:t>
            </a:r>
            <a:r>
              <a:rPr lang="ko-KR" altLang="en-US" sz="1200"/>
              <a:t>무선 충전기 </a:t>
            </a:r>
            <a:r>
              <a:rPr lang="en-US" altLang="ko-KR" sz="1200"/>
              <a:t>C</a:t>
            </a:r>
            <a:r>
              <a:rPr lang="ko-KR" altLang="en-US" sz="1200"/>
              <a:t>타입</a:t>
            </a:r>
            <a:r>
              <a:rPr lang="en-US" altLang="ko-KR" sz="1200"/>
              <a:t>"</a:t>
            </a:r>
            <a:r>
              <a:rPr lang="ko-KR" altLang="en-US" sz="1200"/>
              <a:t>이 </a:t>
            </a:r>
            <a:r>
              <a:rPr lang="en-US" altLang="ko-KR" sz="1200"/>
              <a:t>"</a:t>
            </a:r>
            <a:r>
              <a:rPr lang="ko-KR" altLang="en-US" sz="1200"/>
              <a:t>소니 무선 이어폰 </a:t>
            </a:r>
            <a:r>
              <a:rPr lang="en-US" altLang="ko-KR" sz="1200"/>
              <a:t>MF" </a:t>
            </a:r>
            <a:r>
              <a:rPr lang="ko-KR" altLang="en-US" sz="1200"/>
              <a:t>보다 상위에 노출되었다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3299861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3565A6-3BFA-B2B2-0DF1-0ACC751BF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오타입력 시 조회가 되도록 하기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D2137A5B-A329-C19B-F729-69CF20203D24}"/>
              </a:ext>
            </a:extLst>
          </p:cNvPr>
          <p:cNvGrpSpPr/>
          <p:nvPr/>
        </p:nvGrpSpPr>
        <p:grpSpPr>
          <a:xfrm>
            <a:off x="1011604" y="1976107"/>
            <a:ext cx="3019846" cy="4734586"/>
            <a:chOff x="1011604" y="1976107"/>
            <a:chExt cx="3019846" cy="4734586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FD3766B-809A-4328-648E-EB8E31F9F1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1604" y="1976107"/>
              <a:ext cx="3019846" cy="4734586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9BDA1EC-583A-5034-F4B2-59A724BC0740}"/>
                </a:ext>
              </a:extLst>
            </p:cNvPr>
            <p:cNvSpPr/>
            <p:nvPr/>
          </p:nvSpPr>
          <p:spPr>
            <a:xfrm>
              <a:off x="2003367" y="5569527"/>
              <a:ext cx="1862051" cy="648393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94B35C1-D79B-8C85-E694-E7C3196A8060}"/>
              </a:ext>
            </a:extLst>
          </p:cNvPr>
          <p:cNvSpPr txBox="1"/>
          <p:nvPr/>
        </p:nvSpPr>
        <p:spPr>
          <a:xfrm>
            <a:off x="4547062" y="1820487"/>
            <a:ext cx="660861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query - match - "</a:t>
            </a:r>
            <a:r>
              <a:rPr lang="ko-KR" altLang="en-US" sz="1200"/>
              <a:t>검색 필드</a:t>
            </a:r>
            <a:r>
              <a:rPr lang="en-US" altLang="ko-KR" sz="1200"/>
              <a:t>"</a:t>
            </a:r>
          </a:p>
          <a:p>
            <a:endParaRPr lang="en-US" altLang="ko-KR" sz="1200"/>
          </a:p>
          <a:p>
            <a:r>
              <a:rPr lang="ko-KR" altLang="en-US" sz="1200"/>
              <a:t>조합에서 검색 필드 또한 상세 옵션을 줄 수 있다</a:t>
            </a:r>
            <a:r>
              <a:rPr lang="en-US" altLang="ko-KR" sz="1200"/>
              <a:t>.</a:t>
            </a:r>
          </a:p>
          <a:p>
            <a:r>
              <a:rPr lang="en-US" altLang="ko-KR" sz="1200">
                <a:solidFill>
                  <a:srgbClr val="FF0000"/>
                </a:solidFill>
              </a:rPr>
              <a:t>{</a:t>
            </a:r>
          </a:p>
          <a:p>
            <a:r>
              <a:rPr lang="en-US" altLang="ko-KR" sz="1200">
                <a:solidFill>
                  <a:srgbClr val="FF0000"/>
                </a:solidFill>
              </a:rPr>
              <a:t>	"query" : "</a:t>
            </a:r>
            <a:r>
              <a:rPr lang="ko-KR" altLang="en-US" sz="1200">
                <a:solidFill>
                  <a:srgbClr val="FF0000"/>
                </a:solidFill>
              </a:rPr>
              <a:t>검색 내용</a:t>
            </a:r>
            <a:r>
              <a:rPr lang="en-US" altLang="ko-KR" sz="1200">
                <a:solidFill>
                  <a:srgbClr val="FF0000"/>
                </a:solidFill>
              </a:rPr>
              <a:t>",</a:t>
            </a:r>
          </a:p>
          <a:p>
            <a:r>
              <a:rPr lang="en-US" altLang="ko-KR" sz="1200">
                <a:solidFill>
                  <a:srgbClr val="FF0000"/>
                </a:solidFill>
              </a:rPr>
              <a:t>	"fuzziness : </a:t>
            </a:r>
            <a:r>
              <a:rPr lang="ko-KR" altLang="en-US" sz="1200">
                <a:solidFill>
                  <a:srgbClr val="FF0000"/>
                </a:solidFill>
              </a:rPr>
              <a:t>오타 허용 수 또는 </a:t>
            </a:r>
            <a:r>
              <a:rPr lang="en-US" altLang="ko-KR" sz="1200">
                <a:solidFill>
                  <a:srgbClr val="FF0000"/>
                </a:solidFill>
              </a:rPr>
              <a:t>AUTO</a:t>
            </a:r>
          </a:p>
          <a:p>
            <a:r>
              <a:rPr lang="en-US" altLang="ko-KR" sz="1200">
                <a:solidFill>
                  <a:srgbClr val="FF0000"/>
                </a:solidFill>
              </a:rPr>
              <a:t>}</a:t>
            </a:r>
            <a:endParaRPr lang="ko-KR" altLang="en-US" sz="12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0328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4D63A1-A7DF-461D-384C-A726DA685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/>
              <a:t>실습을 위한 데이터 및 </a:t>
            </a:r>
            <a:r>
              <a:rPr lang="en-US" altLang="ko-KR" sz="4000"/>
              <a:t>multi_match</a:t>
            </a:r>
            <a:r>
              <a:rPr lang="ko-KR" altLang="en-US" sz="4000"/>
              <a:t>조회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8A7EDC0-CDBC-B56B-CAC4-FF2F3B63A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77787"/>
            <a:ext cx="2848373" cy="281979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BC73A60-C229-727C-150C-A233A4D66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3719" y="1877788"/>
            <a:ext cx="4095250" cy="28197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299D52-CE75-7F66-B290-BE5EF621E4FB}"/>
              </a:ext>
            </a:extLst>
          </p:cNvPr>
          <p:cNvSpPr txBox="1"/>
          <p:nvPr/>
        </p:nvSpPr>
        <p:spPr>
          <a:xfrm>
            <a:off x="4450548" y="4838008"/>
            <a:ext cx="3699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제목과 내용에 </a:t>
            </a:r>
            <a:r>
              <a:rPr lang="ko-KR" altLang="en-US" sz="1200" b="1"/>
              <a:t>엘라스틱서치</a:t>
            </a:r>
            <a:r>
              <a:rPr lang="ko-KR" altLang="en-US" sz="1200"/>
              <a:t>를 포함하는 자료를 검색하고자 할 때</a:t>
            </a:r>
            <a:r>
              <a:rPr lang="en-US" altLang="ko-KR" sz="1200"/>
              <a:t>, multi_match</a:t>
            </a:r>
            <a:r>
              <a:rPr lang="ko-KR" altLang="en-US" sz="1200"/>
              <a:t>를 사용한다</a:t>
            </a:r>
            <a:r>
              <a:rPr lang="en-US" altLang="ko-KR" sz="1200"/>
              <a:t>.</a:t>
            </a:r>
            <a:endParaRPr lang="ko-KR" altLang="en-US" sz="120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BC22BB0-D352-49D3-F1D9-148692B865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838008"/>
            <a:ext cx="3353268" cy="1457528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940AA53F-AAFE-44E6-A554-A2390495325D}"/>
              </a:ext>
            </a:extLst>
          </p:cNvPr>
          <p:cNvGrpSpPr/>
          <p:nvPr/>
        </p:nvGrpSpPr>
        <p:grpSpPr>
          <a:xfrm>
            <a:off x="8341543" y="1877786"/>
            <a:ext cx="3502269" cy="4340133"/>
            <a:chOff x="8341543" y="1877786"/>
            <a:chExt cx="3502269" cy="4340133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4E26CB6D-B7DC-4775-555D-C8C27235EA6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41543" y="1877786"/>
              <a:ext cx="3502269" cy="434013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614FB56-560A-66DA-1D3A-2B20AA4E5E0E}"/>
                </a:ext>
              </a:extLst>
            </p:cNvPr>
            <p:cNvSpPr/>
            <p:nvPr/>
          </p:nvSpPr>
          <p:spPr>
            <a:xfrm>
              <a:off x="10124902" y="2194560"/>
              <a:ext cx="1670858" cy="75645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검색 결과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6175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84FA4-A7BB-6407-FE1F-22AC9A8E2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AEC0D5-D1D8-B29A-4CD8-4AD9A9322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multi_match </a:t>
            </a:r>
            <a:r>
              <a:rPr lang="ko-KR" altLang="en-US"/>
              <a:t>특정 필드에 가중치 부여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4DCC2DB-55B7-A077-B829-B96B828A4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77787"/>
            <a:ext cx="2848373" cy="281979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C2BE3F1-A346-2193-32F8-C56DA9306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3719" y="1877788"/>
            <a:ext cx="4095250" cy="28197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F23F68-3281-C706-CFAD-E48D95879086}"/>
              </a:ext>
            </a:extLst>
          </p:cNvPr>
          <p:cNvSpPr txBox="1"/>
          <p:nvPr/>
        </p:nvSpPr>
        <p:spPr>
          <a:xfrm>
            <a:off x="4450548" y="4838008"/>
            <a:ext cx="3699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fields</a:t>
            </a:r>
            <a:r>
              <a:rPr lang="ko-KR" altLang="en-US" sz="1200"/>
              <a:t>에 </a:t>
            </a:r>
            <a:r>
              <a:rPr lang="en-US" altLang="ko-KR" sz="1200"/>
              <a:t>^n </a:t>
            </a:r>
            <a:r>
              <a:rPr lang="ko-KR" altLang="en-US" sz="1200"/>
              <a:t>가중치를 부여하여 특정 필드에 토큰이 일치할 경우 점수를 더 높게 주도록 설정할 수 있다</a:t>
            </a:r>
            <a:r>
              <a:rPr lang="en-US" altLang="ko-KR" sz="1200"/>
              <a:t>.</a:t>
            </a:r>
            <a:endParaRPr lang="ko-KR" altLang="en-US" sz="12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BB5C209-4021-636A-6B0B-300DAB992E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838008"/>
            <a:ext cx="3241964" cy="14629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5720609-EF24-3A61-711D-6970CFFC94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7035" y="1877787"/>
            <a:ext cx="3826371" cy="47631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24F29744-9217-C8F3-5CDF-DFCF6CB138D5}"/>
              </a:ext>
            </a:extLst>
          </p:cNvPr>
          <p:cNvSpPr/>
          <p:nvPr/>
        </p:nvSpPr>
        <p:spPr>
          <a:xfrm>
            <a:off x="10124902" y="2194560"/>
            <a:ext cx="1670858" cy="7564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검색 결과</a:t>
            </a:r>
          </a:p>
        </p:txBody>
      </p:sp>
    </p:spTree>
    <p:extLst>
      <p:ext uri="{BB962C8B-B14F-4D97-AF65-F5344CB8AC3E}">
        <p14:creationId xmlns:p14="http://schemas.microsoft.com/office/powerpoint/2010/main" val="11594854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3CA573-55E6-3F4C-E16D-217317984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highlight</a:t>
            </a:r>
            <a:r>
              <a:rPr lang="ko-KR" altLang="en-US"/>
              <a:t> 처리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9F66F7C-0DF9-229F-1F3C-996B87B4B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973" y="1858944"/>
            <a:ext cx="3286584" cy="357237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2966D7-1B28-00D4-33EB-4F85EE12D94B}"/>
              </a:ext>
            </a:extLst>
          </p:cNvPr>
          <p:cNvSpPr txBox="1"/>
          <p:nvPr/>
        </p:nvSpPr>
        <p:spPr>
          <a:xfrm>
            <a:off x="3857105" y="1858944"/>
            <a:ext cx="434755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(</a:t>
            </a:r>
            <a:r>
              <a:rPr lang="ko-KR" altLang="en-US" sz="1400"/>
              <a:t>외우기</a:t>
            </a:r>
            <a:r>
              <a:rPr lang="en-US" altLang="ko-KR" sz="1400"/>
              <a:t>)</a:t>
            </a:r>
          </a:p>
          <a:p>
            <a:pPr marL="342900" indent="-342900">
              <a:buAutoNum type="arabicPeriod"/>
            </a:pPr>
            <a:r>
              <a:rPr lang="en-US" altLang="ko-KR" sz="1400"/>
              <a:t>highlight </a:t>
            </a:r>
            <a:r>
              <a:rPr lang="ko-KR" altLang="en-US" sz="1400"/>
              <a:t>처리는 </a:t>
            </a:r>
            <a:r>
              <a:rPr lang="en-US" altLang="ko-KR" sz="1400"/>
              <a:t>query</a:t>
            </a:r>
            <a:r>
              <a:rPr lang="ko-KR" altLang="en-US" sz="1400"/>
              <a:t>와 같은 레벨이다</a:t>
            </a:r>
            <a:r>
              <a:rPr lang="en-US" altLang="ko-KR" sz="1400"/>
              <a:t>.</a:t>
            </a:r>
          </a:p>
          <a:p>
            <a:pPr marL="342900" indent="-342900">
              <a:buAutoNum type="arabicPeriod"/>
            </a:pPr>
            <a:r>
              <a:rPr lang="en-US" altLang="ko-KR" sz="1400"/>
              <a:t>highlight </a:t>
            </a:r>
            <a:r>
              <a:rPr lang="ko-KR" altLang="en-US" sz="1400"/>
              <a:t>처리의 경우 </a:t>
            </a:r>
            <a:r>
              <a:rPr lang="en-US" altLang="ko-KR" sz="1400"/>
              <a:t>html </a:t>
            </a:r>
            <a:r>
              <a:rPr lang="ko-KR" altLang="en-US" sz="1400"/>
              <a:t>태그가 붙음으로  필드명에 </a:t>
            </a:r>
            <a:r>
              <a:rPr lang="en-US" altLang="ko-KR" sz="1400"/>
              <a:t>pre_tags, post_tags </a:t>
            </a:r>
            <a:r>
              <a:rPr lang="ko-KR" altLang="en-US" sz="1400"/>
              <a:t>로 붙는 </a:t>
            </a:r>
            <a:r>
              <a:rPr lang="en-US" altLang="ko-KR" sz="1400"/>
              <a:t>html </a:t>
            </a:r>
            <a:r>
              <a:rPr lang="ko-KR" altLang="en-US" sz="1400"/>
              <a:t>태그를 정의한다</a:t>
            </a:r>
            <a:r>
              <a:rPr lang="en-US" altLang="ko-KR" sz="1400"/>
              <a:t>..</a:t>
            </a:r>
            <a:endParaRPr lang="ko-KR" altLang="en-US" sz="140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D21CA797-15A9-0F0C-EE16-48C559C01BC5}"/>
              </a:ext>
            </a:extLst>
          </p:cNvPr>
          <p:cNvGrpSpPr/>
          <p:nvPr/>
        </p:nvGrpSpPr>
        <p:grpSpPr>
          <a:xfrm>
            <a:off x="8459445" y="1858944"/>
            <a:ext cx="3426879" cy="4882678"/>
            <a:chOff x="8459445" y="1858944"/>
            <a:chExt cx="3426879" cy="4882678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E871728-22EA-23C6-DC5F-DDC6FA9D0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59445" y="1858944"/>
              <a:ext cx="3426879" cy="4882678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939285B-C7B9-40EF-71D3-43F63D9393CF}"/>
                </a:ext>
              </a:extLst>
            </p:cNvPr>
            <p:cNvSpPr/>
            <p:nvPr/>
          </p:nvSpPr>
          <p:spPr>
            <a:xfrm>
              <a:off x="9052560" y="4056611"/>
              <a:ext cx="2618509" cy="12469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7FA8207-2360-9EED-3B27-4B348A5430B4}"/>
              </a:ext>
            </a:extLst>
          </p:cNvPr>
          <p:cNvSpPr txBox="1"/>
          <p:nvPr/>
        </p:nvSpPr>
        <p:spPr>
          <a:xfrm>
            <a:off x="5511338" y="3640975"/>
            <a:ext cx="29481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"</a:t>
            </a:r>
            <a:r>
              <a:rPr lang="ko-KR" altLang="en-US" sz="1200"/>
              <a:t>엘라스틱서치 적용 후기</a:t>
            </a:r>
            <a:r>
              <a:rPr lang="en-US" altLang="ko-KR" sz="1200"/>
              <a:t>" </a:t>
            </a:r>
            <a:r>
              <a:rPr lang="ko-KR" altLang="en-US" sz="1200"/>
              <a:t>전체 문자열의 </a:t>
            </a:r>
            <a:br>
              <a:rPr lang="en-US" altLang="ko-KR" sz="1200"/>
            </a:br>
            <a:r>
              <a:rPr lang="ko-KR" altLang="en-US" sz="1200"/>
              <a:t>앞과 끝 부분에 </a:t>
            </a:r>
            <a:r>
              <a:rPr lang="en-US" altLang="ko-KR" sz="1200"/>
              <a:t>highlight </a:t>
            </a:r>
            <a:r>
              <a:rPr lang="ko-KR" altLang="en-US" sz="1200"/>
              <a:t>처리를 위한 </a:t>
            </a:r>
            <a:r>
              <a:rPr lang="en-US" altLang="ko-KR" sz="1200"/>
              <a:t>html</a:t>
            </a:r>
            <a:r>
              <a:rPr lang="ko-KR" altLang="en-US" sz="1200"/>
              <a:t>태그가 붙는게 아니다</a:t>
            </a:r>
            <a:r>
              <a:rPr lang="en-US" altLang="ko-KR" sz="1200"/>
              <a:t>. </a:t>
            </a:r>
            <a:br>
              <a:rPr lang="en-US" altLang="ko-KR" sz="1200"/>
            </a:br>
            <a:r>
              <a:rPr lang="ko-KR" altLang="en-US" sz="1200"/>
              <a:t>토큰으로 분류된 단어에 대해 </a:t>
            </a:r>
            <a:r>
              <a:rPr lang="en-US" altLang="ko-KR" sz="1200"/>
              <a:t>highlight </a:t>
            </a:r>
            <a:r>
              <a:rPr lang="ko-KR" altLang="en-US" sz="1200"/>
              <a:t>가 붙음을 알 수 있다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0047311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4FC36-F884-AABD-BA6A-B6B6D8179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/>
              <a:t>페이지 네이션을 위한 실습 데이터 입력 및 검색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563D63B-7365-780A-8536-140BC9F7A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10" y="1870363"/>
            <a:ext cx="3172268" cy="23244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309F6F5-4C41-03D9-1E71-3375A36FB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6980" y="1870363"/>
            <a:ext cx="1270237" cy="48380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41E452D-9C94-B6CA-D745-1830A150DF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782" y="1870363"/>
            <a:ext cx="1937040" cy="4838008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BB4911DB-101C-0CE4-9193-85802D002B4A}"/>
              </a:ext>
            </a:extLst>
          </p:cNvPr>
          <p:cNvGrpSpPr/>
          <p:nvPr/>
        </p:nvGrpSpPr>
        <p:grpSpPr>
          <a:xfrm>
            <a:off x="7245387" y="1870363"/>
            <a:ext cx="1407485" cy="4987637"/>
            <a:chOff x="7245387" y="1870363"/>
            <a:chExt cx="1407485" cy="4987637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79309DE8-B16C-EBEE-2EFE-97F68265298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45387" y="1870363"/>
              <a:ext cx="1407485" cy="49876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3C3722AA-D0BB-C477-44D3-4FF28E90D816}"/>
                </a:ext>
              </a:extLst>
            </p:cNvPr>
            <p:cNvSpPr/>
            <p:nvPr/>
          </p:nvSpPr>
          <p:spPr>
            <a:xfrm>
              <a:off x="7614458" y="5893724"/>
              <a:ext cx="881149" cy="81464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7ABF5EF-BD92-1A15-344F-BEE777D3C698}"/>
              </a:ext>
            </a:extLst>
          </p:cNvPr>
          <p:cNvSpPr txBox="1"/>
          <p:nvPr/>
        </p:nvSpPr>
        <p:spPr>
          <a:xfrm>
            <a:off x="8753302" y="1870363"/>
            <a:ext cx="316714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(</a:t>
            </a:r>
            <a:r>
              <a:rPr lang="ko-KR" altLang="en-US" sz="1400"/>
              <a:t>외우기</a:t>
            </a:r>
            <a:r>
              <a:rPr lang="en-US" altLang="ko-KR" sz="1400"/>
              <a:t>)</a:t>
            </a:r>
          </a:p>
          <a:p>
            <a:endParaRPr lang="en-US" altLang="ko-KR" sz="1400"/>
          </a:p>
          <a:p>
            <a:r>
              <a:rPr lang="en-US" altLang="ko-KR" sz="1400"/>
              <a:t>query</a:t>
            </a:r>
            <a:r>
              <a:rPr lang="ko-KR" altLang="en-US" sz="1400"/>
              <a:t>와 같은 레벨에 </a:t>
            </a:r>
            <a:endParaRPr lang="en-US" altLang="ko-KR" sz="1400"/>
          </a:p>
          <a:p>
            <a:r>
              <a:rPr lang="en-US" altLang="ko-KR" sz="1400"/>
              <a:t>from </a:t>
            </a:r>
            <a:r>
              <a:rPr lang="en-US" altLang="ko-KR" sz="1400">
                <a:sym typeface="Wingdings" panose="05000000000000000000" pitchFamily="2" charset="2"/>
              </a:rPr>
              <a:t> (DB</a:t>
            </a:r>
            <a:r>
              <a:rPr lang="ko-KR" altLang="en-US" sz="1400">
                <a:sym typeface="Wingdings" panose="05000000000000000000" pitchFamily="2" charset="2"/>
              </a:rPr>
              <a:t>로 치면 </a:t>
            </a:r>
            <a:r>
              <a:rPr lang="en-US" altLang="ko-KR" sz="1400">
                <a:sym typeface="Wingdings" panose="05000000000000000000" pitchFamily="2" charset="2"/>
              </a:rPr>
              <a:t>offset)</a:t>
            </a:r>
          </a:p>
          <a:p>
            <a:r>
              <a:rPr lang="en-US" altLang="ko-KR" sz="1400"/>
              <a:t>size </a:t>
            </a:r>
            <a:r>
              <a:rPr lang="en-US" altLang="ko-KR" sz="1400">
                <a:sym typeface="Wingdings" panose="05000000000000000000" pitchFamily="2" charset="2"/>
              </a:rPr>
              <a:t> (DB</a:t>
            </a:r>
            <a:r>
              <a:rPr lang="ko-KR" altLang="en-US" sz="1400">
                <a:sym typeface="Wingdings" panose="05000000000000000000" pitchFamily="2" charset="2"/>
              </a:rPr>
              <a:t>로 치면 </a:t>
            </a:r>
            <a:r>
              <a:rPr lang="en-US" altLang="ko-KR" sz="1400">
                <a:sym typeface="Wingdings" panose="05000000000000000000" pitchFamily="2" charset="2"/>
              </a:rPr>
              <a:t>limit)</a:t>
            </a:r>
          </a:p>
          <a:p>
            <a:r>
              <a:rPr lang="en-US" altLang="ko-KR" sz="1400"/>
              <a:t>sort </a:t>
            </a:r>
            <a:r>
              <a:rPr lang="en-US" altLang="ko-KR" sz="1400">
                <a:sym typeface="Wingdings" panose="05000000000000000000" pitchFamily="2" charset="2"/>
              </a:rPr>
              <a:t> file</a:t>
            </a:r>
            <a:r>
              <a:rPr lang="ko-KR" altLang="en-US" sz="1400">
                <a:sym typeface="Wingdings" panose="05000000000000000000" pitchFamily="2" charset="2"/>
              </a:rPr>
              <a:t>명과 정렬 방식 지정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977989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E37E5E-5C90-961F-D5A2-C8F35D91A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문제 인식 실습 데이터 입력 및 조회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B693135-462A-B089-22AE-54AFD3469B49}"/>
              </a:ext>
            </a:extLst>
          </p:cNvPr>
          <p:cNvGrpSpPr/>
          <p:nvPr/>
        </p:nvGrpSpPr>
        <p:grpSpPr>
          <a:xfrm>
            <a:off x="234789" y="1880999"/>
            <a:ext cx="2582324" cy="3239642"/>
            <a:chOff x="234789" y="1880999"/>
            <a:chExt cx="2582324" cy="3239642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28487798-5D13-F2BC-6A24-0F4DB902EC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4789" y="1880999"/>
              <a:ext cx="2582324" cy="323964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49C0A24-D380-628A-BC89-4F12D6ABC4F1}"/>
                </a:ext>
              </a:extLst>
            </p:cNvPr>
            <p:cNvSpPr/>
            <p:nvPr/>
          </p:nvSpPr>
          <p:spPr>
            <a:xfrm>
              <a:off x="266007" y="4422371"/>
              <a:ext cx="1953491" cy="69827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93870481-C67A-7ADF-23A0-3F089D0DD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2785" y="1880999"/>
            <a:ext cx="2427022" cy="11365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F3D8156-FB3F-11EF-C0AF-F07E52CDBA81}"/>
              </a:ext>
            </a:extLst>
          </p:cNvPr>
          <p:cNvSpPr txBox="1"/>
          <p:nvPr/>
        </p:nvSpPr>
        <p:spPr>
          <a:xfrm>
            <a:off x="2942785" y="3131823"/>
            <a:ext cx="2582324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두 필드에 대한 동일 토큰</a:t>
            </a:r>
            <a:r>
              <a:rPr lang="en-US" altLang="ko-KR" sz="1100"/>
              <a:t>(</a:t>
            </a:r>
            <a:r>
              <a:rPr lang="en-US" altLang="ko-KR" sz="1100" b="1">
                <a:solidFill>
                  <a:srgbClr val="FF0000"/>
                </a:solidFill>
              </a:rPr>
              <a:t>"</a:t>
            </a:r>
            <a:r>
              <a:rPr lang="ko-KR" altLang="en-US" sz="1100" b="1">
                <a:solidFill>
                  <a:srgbClr val="FF0000"/>
                </a:solidFill>
              </a:rPr>
              <a:t>가전</a:t>
            </a:r>
            <a:r>
              <a:rPr lang="en-US" altLang="ko-KR" sz="1100" b="1">
                <a:solidFill>
                  <a:srgbClr val="FF0000"/>
                </a:solidFill>
              </a:rPr>
              <a:t>"</a:t>
            </a:r>
            <a:r>
              <a:rPr lang="en-US" altLang="ko-KR" sz="1100"/>
              <a:t>)</a:t>
            </a:r>
            <a:r>
              <a:rPr lang="ko-KR" altLang="en-US" sz="1100"/>
              <a:t> 검색</a:t>
            </a:r>
            <a:br>
              <a:rPr lang="en-US" altLang="ko-KR" sz="1100"/>
            </a:br>
            <a:r>
              <a:rPr lang="en-US" altLang="ko-KR" sz="1100">
                <a:sym typeface="Wingdings" panose="05000000000000000000" pitchFamily="2" charset="2"/>
              </a:rPr>
              <a:t> </a:t>
            </a:r>
            <a:r>
              <a:rPr lang="ko-KR" altLang="en-US" sz="1100">
                <a:sym typeface="Wingdings" panose="05000000000000000000" pitchFamily="2" charset="2"/>
              </a:rPr>
              <a:t>둘 중 하나라도 검색이 된 데이터를 조회해옴으로 문제되지 않음</a:t>
            </a:r>
            <a:r>
              <a:rPr lang="en-US" altLang="ko-KR" sz="1100">
                <a:sym typeface="Wingdings" panose="05000000000000000000" pitchFamily="2" charset="2"/>
              </a:rPr>
              <a:t>.</a:t>
            </a:r>
            <a:endParaRPr lang="en-US" altLang="ko-KR" sz="1100"/>
          </a:p>
          <a:p>
            <a:endParaRPr lang="en-US" altLang="ko-KR" sz="1100"/>
          </a:p>
          <a:p>
            <a:endParaRPr lang="ko-KR" altLang="en-US" sz="110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2DC93FB-48FA-6566-AA5D-D4C6995504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5109" y="1880999"/>
            <a:ext cx="2619701" cy="38009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BF16662-49B4-9A4E-7F96-F070B6AE1B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0112" y="1880999"/>
            <a:ext cx="3046775" cy="121000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40B4D26-377A-5E07-1290-23ECB4620CC0}"/>
              </a:ext>
            </a:extLst>
          </p:cNvPr>
          <p:cNvSpPr txBox="1"/>
          <p:nvPr/>
        </p:nvSpPr>
        <p:spPr>
          <a:xfrm>
            <a:off x="8300112" y="3131823"/>
            <a:ext cx="36570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정확한 토큰 검색에 의한 조회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95570A80-1789-2DBA-685F-C1C8B974C6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9276" y="3449180"/>
            <a:ext cx="1935576" cy="22327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3F19BDC-9DD2-FC68-86C1-3B6C1F5C4C19}"/>
              </a:ext>
            </a:extLst>
          </p:cNvPr>
          <p:cNvSpPr txBox="1"/>
          <p:nvPr/>
        </p:nvSpPr>
        <p:spPr>
          <a:xfrm>
            <a:off x="8309276" y="5752407"/>
            <a:ext cx="37192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text</a:t>
            </a:r>
            <a:r>
              <a:rPr lang="ko-KR" altLang="en-US" sz="1200"/>
              <a:t>로 저장된 값은 유연한 조회 결과를 지원하나 </a:t>
            </a:r>
            <a:r>
              <a:rPr lang="en-US" altLang="ko-KR" sz="1200"/>
              <a:t>keyword</a:t>
            </a:r>
            <a:r>
              <a:rPr lang="ko-KR" altLang="en-US" sz="1200"/>
              <a:t>로의 조회</a:t>
            </a:r>
            <a:r>
              <a:rPr lang="en-US" altLang="ko-KR" sz="1200"/>
              <a:t>(term)</a:t>
            </a:r>
            <a:r>
              <a:rPr lang="ko-KR" altLang="en-US" sz="1200"/>
              <a:t>시 검색되지 않음</a:t>
            </a:r>
            <a:r>
              <a:rPr lang="en-US" altLang="ko-KR" sz="1200"/>
              <a:t>. </a:t>
            </a:r>
          </a:p>
          <a:p>
            <a:r>
              <a:rPr lang="en-US" altLang="ko-KR" sz="1200" b="1">
                <a:solidFill>
                  <a:srgbClr val="00B05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200" b="1">
                <a:solidFill>
                  <a:srgbClr val="00B050"/>
                </a:solidFill>
                <a:sym typeface="Wingdings" panose="05000000000000000000" pitchFamily="2" charset="2"/>
              </a:rPr>
              <a:t>유연한 검색도 정확한 검색도 모두 지원되도록 하고 싶다</a:t>
            </a:r>
            <a:r>
              <a:rPr lang="en-US" altLang="ko-KR" sz="1200" b="1">
                <a:solidFill>
                  <a:srgbClr val="00B050"/>
                </a:solidFill>
                <a:sym typeface="Wingdings" panose="05000000000000000000" pitchFamily="2" charset="2"/>
              </a:rPr>
              <a:t>.</a:t>
            </a:r>
            <a:endParaRPr lang="ko-KR" altLang="en-US" sz="1200" b="1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56137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75B817-9FBB-D4C1-5050-1F119D612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/>
              <a:t>유연한 검색 정확한 검색 모두를 지원하도록 멀티 필드 타입 지정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778C66F-177B-BA55-4084-58735863E223}"/>
              </a:ext>
            </a:extLst>
          </p:cNvPr>
          <p:cNvGrpSpPr/>
          <p:nvPr/>
        </p:nvGrpSpPr>
        <p:grpSpPr>
          <a:xfrm>
            <a:off x="341549" y="1785708"/>
            <a:ext cx="3229426" cy="3286584"/>
            <a:chOff x="341549" y="1785708"/>
            <a:chExt cx="3229426" cy="328658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644EC919-8DA2-C47E-1F37-1DD70ACA01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1549" y="1785708"/>
              <a:ext cx="3229426" cy="3286584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C90886B-3C9C-9BAC-94F8-5A467CF7407C}"/>
                </a:ext>
              </a:extLst>
            </p:cNvPr>
            <p:cNvSpPr/>
            <p:nvPr/>
          </p:nvSpPr>
          <p:spPr>
            <a:xfrm>
              <a:off x="1729047" y="3566160"/>
              <a:ext cx="648393" cy="1828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rgbClr val="FF0000"/>
                  </a:solidFill>
                </a:ln>
                <a:noFill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8321163-C09F-37A1-9663-1641AAB73AC6}"/>
                </a:ext>
              </a:extLst>
            </p:cNvPr>
            <p:cNvSpPr/>
            <p:nvPr/>
          </p:nvSpPr>
          <p:spPr>
            <a:xfrm>
              <a:off x="2001618" y="3749040"/>
              <a:ext cx="648393" cy="182880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5A1E786-B175-07F3-17AE-F934016A55FF}"/>
              </a:ext>
            </a:extLst>
          </p:cNvPr>
          <p:cNvSpPr txBox="1"/>
          <p:nvPr/>
        </p:nvSpPr>
        <p:spPr>
          <a:xfrm>
            <a:off x="3665913" y="1785708"/>
            <a:ext cx="811322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필드에 타입과 </a:t>
            </a:r>
            <a:r>
              <a:rPr lang="en-US" altLang="ko-KR" sz="1200"/>
              <a:t>analyzer </a:t>
            </a:r>
            <a:r>
              <a:rPr lang="ko-KR" altLang="en-US" sz="1200"/>
              <a:t>를 설정한 이후</a:t>
            </a:r>
            <a:r>
              <a:rPr lang="en-US" altLang="ko-KR" sz="1200"/>
              <a:t>.</a:t>
            </a:r>
          </a:p>
          <a:p>
            <a:r>
              <a:rPr lang="ko-KR" altLang="en-US" sz="1200"/>
              <a:t>멀티 타입을 지정하기 위해 </a:t>
            </a:r>
            <a:r>
              <a:rPr lang="en-US" altLang="ko-KR" sz="1200"/>
              <a:t>fields </a:t>
            </a:r>
            <a:r>
              <a:rPr lang="ko-KR" altLang="en-US" sz="1200"/>
              <a:t>타입을 선언한다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en-US" altLang="ko-KR" sz="1200"/>
              <a:t>fields </a:t>
            </a:r>
            <a:r>
              <a:rPr lang="ko-KR" altLang="en-US" sz="1200"/>
              <a:t>타입을 정의하기 위한 파란 박스는 사용자지정 타입라벨링이다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en-US" altLang="ko-KR" sz="1200"/>
              <a:t>           </a:t>
            </a:r>
            <a:r>
              <a:rPr lang="ko-KR" altLang="en-US" sz="1200"/>
              <a:t>해당 라벨로써 기존 타입 외 추가된 타입에 대한 조회가 가능하다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endParaRPr lang="ko-KR" altLang="en-US" sz="120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558499F-BB5A-95FD-0B50-9FCB8BD00A09}"/>
              </a:ext>
            </a:extLst>
          </p:cNvPr>
          <p:cNvGrpSpPr/>
          <p:nvPr/>
        </p:nvGrpSpPr>
        <p:grpSpPr>
          <a:xfrm>
            <a:off x="3764938" y="3004586"/>
            <a:ext cx="3467584" cy="2943636"/>
            <a:chOff x="3764938" y="3004586"/>
            <a:chExt cx="3467584" cy="2943636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7AC64B67-1190-2279-E900-E1AF105562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64938" y="3004586"/>
              <a:ext cx="3467584" cy="294363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F2711A6-807B-9238-33AD-148111FC57E3}"/>
                </a:ext>
              </a:extLst>
            </p:cNvPr>
            <p:cNvSpPr/>
            <p:nvPr/>
          </p:nvSpPr>
          <p:spPr>
            <a:xfrm>
              <a:off x="4912822" y="5286895"/>
              <a:ext cx="1183178" cy="224443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A61AF357-0B82-D849-75A3-00CBF3795F37}"/>
              </a:ext>
            </a:extLst>
          </p:cNvPr>
          <p:cNvSpPr txBox="1"/>
          <p:nvPr/>
        </p:nvSpPr>
        <p:spPr>
          <a:xfrm>
            <a:off x="7323513" y="3004586"/>
            <a:ext cx="44556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멀티 타입 선언으로 인덱스 생성후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ko-KR" altLang="en-US" sz="1200"/>
              <a:t>데이터 입력</a:t>
            </a:r>
            <a:endParaRPr lang="en-US" altLang="ko-KR" sz="1200"/>
          </a:p>
          <a:p>
            <a:r>
              <a:rPr lang="en-US" altLang="ko-KR" sz="1200"/>
              <a:t>term </a:t>
            </a:r>
            <a:r>
              <a:rPr lang="ko-KR" altLang="en-US" sz="1200"/>
              <a:t>조회 시 필드명에 추가타입 라벨명을 지정하여 정확한 검색</a:t>
            </a:r>
            <a:r>
              <a:rPr lang="en-US" altLang="ko-KR" sz="1200"/>
              <a:t>(term)</a:t>
            </a:r>
            <a:r>
              <a:rPr lang="ko-KR" altLang="en-US" sz="1200"/>
              <a:t>과 유연한 검색 </a:t>
            </a:r>
            <a:r>
              <a:rPr lang="en-US" altLang="ko-KR" sz="1200"/>
              <a:t>(multi_match)</a:t>
            </a:r>
            <a:r>
              <a:rPr lang="ko-KR" altLang="en-US" sz="1200"/>
              <a:t>모두를 만족 시킬수 있다</a:t>
            </a:r>
            <a:r>
              <a:rPr lang="en-US" altLang="ko-KR" sz="1200"/>
              <a:t>.</a:t>
            </a:r>
            <a:endParaRPr lang="ko-KR" altLang="en-US" sz="120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899AC2B-430C-9AF7-57BA-03F7D7F31A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6485" y="3840205"/>
            <a:ext cx="1928831" cy="2936521"/>
          </a:xfrm>
          <a:prstGeom prst="rect">
            <a:avLst/>
          </a:prstGeom>
          <a:ln>
            <a:solidFill>
              <a:srgbClr val="0000FF"/>
            </a:solidFill>
          </a:ln>
        </p:spPr>
      </p:pic>
    </p:spTree>
    <p:extLst>
      <p:ext uri="{BB962C8B-B14F-4D97-AF65-F5344CB8AC3E}">
        <p14:creationId xmlns:p14="http://schemas.microsoft.com/office/powerpoint/2010/main" val="40360877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3F88AC-1B67-2F05-DBD5-C286EC30A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search_as_you_type </a:t>
            </a:r>
            <a:r>
              <a:rPr lang="ko-KR" altLang="en-US"/>
              <a:t>자료형 특징 확인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C342AD3-8A7F-ADCF-DCAC-64002817D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54" y="1845426"/>
            <a:ext cx="3194023" cy="2069869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2746E621-F54F-2031-3FCC-13049FA5BF02}"/>
              </a:ext>
            </a:extLst>
          </p:cNvPr>
          <p:cNvGrpSpPr/>
          <p:nvPr/>
        </p:nvGrpSpPr>
        <p:grpSpPr>
          <a:xfrm>
            <a:off x="6376105" y="1965380"/>
            <a:ext cx="5077655" cy="2927239"/>
            <a:chOff x="3948789" y="1945179"/>
            <a:chExt cx="5077655" cy="2927239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D68409AA-ECA8-F3D7-635B-A3CC304B5F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48789" y="1945179"/>
              <a:ext cx="2829320" cy="876422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E3391B6F-5976-9FA4-C4E3-0F8ADEA40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98073" y="1945179"/>
              <a:ext cx="1928371" cy="2927239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642D3B9-E793-B8B2-40C5-F5B48BF1F46C}"/>
              </a:ext>
            </a:extLst>
          </p:cNvPr>
          <p:cNvGrpSpPr/>
          <p:nvPr/>
        </p:nvGrpSpPr>
        <p:grpSpPr>
          <a:xfrm>
            <a:off x="881669" y="4164511"/>
            <a:ext cx="5214331" cy="2406886"/>
            <a:chOff x="450554" y="4263271"/>
            <a:chExt cx="5214331" cy="2406886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276BCF5C-DD14-B775-5F86-290A048009D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0554" y="4263271"/>
              <a:ext cx="2715004" cy="857370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79DD5516-5B6D-A4C8-CECE-682B640BF67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35892" y="4263271"/>
              <a:ext cx="2328993" cy="2406886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13BB392-0DA0-0AB9-794B-7F8CAE2FFA9D}"/>
              </a:ext>
            </a:extLst>
          </p:cNvPr>
          <p:cNvSpPr txBox="1"/>
          <p:nvPr/>
        </p:nvSpPr>
        <p:spPr>
          <a:xfrm>
            <a:off x="3767007" y="1965380"/>
            <a:ext cx="2442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search_as_you_type</a:t>
            </a:r>
            <a:r>
              <a:rPr lang="ko-KR" altLang="en-US" sz="1100"/>
              <a:t>을 지정하게 되면</a:t>
            </a:r>
            <a:r>
              <a:rPr lang="en-US" altLang="ko-KR" sz="1100"/>
              <a:t>,</a:t>
            </a:r>
            <a:br>
              <a:rPr lang="en-US" altLang="ko-KR" sz="1100"/>
            </a:br>
            <a:r>
              <a:rPr lang="en-US" altLang="ko-KR" sz="1100"/>
              <a:t>_search</a:t>
            </a:r>
            <a:r>
              <a:rPr lang="ko-KR" altLang="en-US" sz="1100"/>
              <a:t>에서 필드명에 </a:t>
            </a:r>
            <a:br>
              <a:rPr lang="en-US" altLang="ko-KR" sz="1100"/>
            </a:br>
            <a:r>
              <a:rPr lang="en-US" altLang="ko-KR" sz="1100" b="1"/>
              <a:t>._2gram, ._3gram</a:t>
            </a:r>
            <a:r>
              <a:rPr lang="ko-KR" altLang="en-US" sz="1100"/>
              <a:t>을 추가한 검색이 가능해진다</a:t>
            </a:r>
            <a:r>
              <a:rPr lang="en-US" altLang="ko-KR" sz="1100"/>
              <a:t>.</a:t>
            </a:r>
            <a:endParaRPr lang="ko-KR" altLang="en-US" sz="11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74D4D8-DE85-ED45-7156-AFC3A4AD494A}"/>
              </a:ext>
            </a:extLst>
          </p:cNvPr>
          <p:cNvSpPr txBox="1"/>
          <p:nvPr/>
        </p:nvSpPr>
        <p:spPr>
          <a:xfrm>
            <a:off x="881669" y="5170516"/>
            <a:ext cx="27150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.3_gram</a:t>
            </a:r>
            <a:r>
              <a:rPr lang="ko-KR" altLang="en-US" sz="1100"/>
              <a:t>의 특징은 첫 토큰으로 부터 </a:t>
            </a:r>
            <a:r>
              <a:rPr lang="en-US" altLang="ko-KR" sz="1100"/>
              <a:t>3</a:t>
            </a:r>
            <a:r>
              <a:rPr lang="ko-KR" altLang="en-US" sz="1100"/>
              <a:t>개씩 묶어</a:t>
            </a:r>
            <a:r>
              <a:rPr lang="en-US" altLang="ko-KR" sz="1100"/>
              <a:t>. </a:t>
            </a:r>
            <a:r>
              <a:rPr lang="ko-KR" altLang="en-US" sz="1100"/>
              <a:t>마지막 토큰이 저장될 때 까지</a:t>
            </a:r>
            <a:br>
              <a:rPr lang="en-US" altLang="ko-KR" sz="1100"/>
            </a:br>
            <a:r>
              <a:rPr lang="ko-KR" altLang="en-US" sz="1100"/>
              <a:t>순차적으로 저장된다</a:t>
            </a:r>
            <a:r>
              <a:rPr lang="en-US" altLang="ko-KR" sz="1100"/>
              <a:t>. </a:t>
            </a:r>
            <a:br>
              <a:rPr lang="en-US" altLang="ko-KR" sz="1100"/>
            </a:br>
            <a:r>
              <a:rPr lang="en-US" altLang="ko-KR" sz="1100"/>
              <a:t>(</a:t>
            </a:r>
            <a:r>
              <a:rPr lang="ko-KR" altLang="en-US" sz="1100"/>
              <a:t>토큰들의 중복된 순차적 묶음</a:t>
            </a:r>
            <a:r>
              <a:rPr lang="en-US" altLang="ko-KR" sz="1100"/>
              <a:t>)</a:t>
            </a:r>
            <a:endParaRPr lang="ko-KR" altLang="en-US" sz="11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2FF6BB-8950-75A9-946D-ACD76B2A1B18}"/>
              </a:ext>
            </a:extLst>
          </p:cNvPr>
          <p:cNvSpPr txBox="1"/>
          <p:nvPr/>
        </p:nvSpPr>
        <p:spPr>
          <a:xfrm>
            <a:off x="6458989" y="2828836"/>
            <a:ext cx="268708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/>
              <a:t>.2_gram</a:t>
            </a:r>
            <a:r>
              <a:rPr lang="ko-KR" altLang="en-US" sz="1100"/>
              <a:t>의 특징은 첫 토큰으로 부터</a:t>
            </a:r>
            <a:r>
              <a:rPr lang="en-US" altLang="ko-KR" sz="1100"/>
              <a:t>2</a:t>
            </a:r>
            <a:r>
              <a:rPr lang="ko-KR" altLang="en-US" sz="1100"/>
              <a:t>개씩 묶어</a:t>
            </a:r>
            <a:r>
              <a:rPr lang="en-US" altLang="ko-KR" sz="1100"/>
              <a:t>. </a:t>
            </a:r>
            <a:r>
              <a:rPr lang="ko-KR" altLang="en-US" sz="1100"/>
              <a:t>마지막 토큰이 저장될 때 까지</a:t>
            </a:r>
            <a:br>
              <a:rPr lang="en-US" altLang="ko-KR" sz="1100"/>
            </a:br>
            <a:r>
              <a:rPr lang="ko-KR" altLang="en-US" sz="1100"/>
              <a:t>순차적으로 저장된다</a:t>
            </a:r>
            <a:r>
              <a:rPr lang="en-US" altLang="ko-KR" sz="1100"/>
              <a:t>. </a:t>
            </a:r>
            <a:br>
              <a:rPr lang="en-US" altLang="ko-KR" sz="1100"/>
            </a:br>
            <a:r>
              <a:rPr lang="en-US" altLang="ko-KR" sz="1100"/>
              <a:t>(</a:t>
            </a:r>
            <a:r>
              <a:rPr lang="ko-KR" altLang="en-US" sz="1100"/>
              <a:t>토큰들의 중복된 순차적 묶음</a:t>
            </a:r>
            <a:r>
              <a:rPr lang="en-US" altLang="ko-KR" sz="1100"/>
              <a:t>)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14941935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9DB239-36DA-4DFD-603E-19ABC2CFF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/>
              <a:t>연관검색어 기능은 등록된 </a:t>
            </a:r>
            <a:r>
              <a:rPr lang="en-US" altLang="ko-KR" sz="3200"/>
              <a:t>2._gram</a:t>
            </a:r>
            <a:r>
              <a:rPr lang="ko-KR" altLang="en-US" sz="3200"/>
              <a:t>과 </a:t>
            </a:r>
            <a:r>
              <a:rPr lang="en-US" altLang="ko-KR" sz="3200"/>
              <a:t>3._gram </a:t>
            </a:r>
            <a:r>
              <a:rPr lang="ko-KR" altLang="en-US" sz="3200"/>
              <a:t>목록을 </a:t>
            </a:r>
            <a:br>
              <a:rPr lang="en-US" altLang="ko-KR" sz="3200"/>
            </a:br>
            <a:r>
              <a:rPr lang="ko-KR" altLang="en-US" sz="3200"/>
              <a:t>함께 조회해오는 것이다</a:t>
            </a:r>
            <a:r>
              <a:rPr lang="en-US" altLang="ko-KR" sz="3200"/>
              <a:t>.</a:t>
            </a:r>
            <a:endParaRPr lang="ko-KR" altLang="en-US" sz="32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0E28234-0D07-9745-4EC2-7646B2DCA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771" y="1911914"/>
            <a:ext cx="2581635" cy="39153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99D7D7-6298-94BA-30EB-FD388BECFB13}"/>
              </a:ext>
            </a:extLst>
          </p:cNvPr>
          <p:cNvSpPr txBox="1"/>
          <p:nvPr/>
        </p:nvSpPr>
        <p:spPr>
          <a:xfrm>
            <a:off x="1205771" y="5827235"/>
            <a:ext cx="26430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데이터 입력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80BE05A-0C8F-C9B8-DF17-B0FB8CF29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684" y="1911914"/>
            <a:ext cx="2429214" cy="22958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C9DA626-9E19-6C37-50A0-0982E46493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764" y="1911914"/>
            <a:ext cx="2476464" cy="49460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FFBE09F-B857-E528-E610-80665340963D}"/>
              </a:ext>
            </a:extLst>
          </p:cNvPr>
          <p:cNvSpPr txBox="1"/>
          <p:nvPr/>
        </p:nvSpPr>
        <p:spPr>
          <a:xfrm>
            <a:off x="4106487" y="4339244"/>
            <a:ext cx="272657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multi_match</a:t>
            </a:r>
            <a:r>
              <a:rPr lang="ko-KR" altLang="en-US" sz="1100"/>
              <a:t>에 </a:t>
            </a:r>
            <a:br>
              <a:rPr lang="en-US" altLang="ko-KR" sz="1100"/>
            </a:br>
            <a:r>
              <a:rPr lang="en-US" altLang="ko-KR" sz="1100" b="1"/>
              <a:t>type : bool_prifix</a:t>
            </a:r>
            <a:r>
              <a:rPr lang="ko-KR" altLang="en-US" sz="1100"/>
              <a:t>를 기억</a:t>
            </a:r>
            <a:br>
              <a:rPr lang="en-US" altLang="ko-KR" sz="1100"/>
            </a:br>
            <a:r>
              <a:rPr lang="en-US" altLang="ko-KR" sz="1100" b="1"/>
              <a:t>fields </a:t>
            </a:r>
            <a:r>
              <a:rPr lang="ko-KR" altLang="en-US" sz="1100" b="1"/>
              <a:t>에 </a:t>
            </a:r>
            <a:r>
              <a:rPr lang="en-US" altLang="ko-KR" sz="1100" b="1"/>
              <a:t>._2gram, ._3gram </a:t>
            </a:r>
            <a:r>
              <a:rPr lang="ko-KR" altLang="en-US" sz="1100" b="1"/>
              <a:t>필드 추가 기억</a:t>
            </a:r>
          </a:p>
        </p:txBody>
      </p:sp>
    </p:spTree>
    <p:extLst>
      <p:ext uri="{BB962C8B-B14F-4D97-AF65-F5344CB8AC3E}">
        <p14:creationId xmlns:p14="http://schemas.microsoft.com/office/powerpoint/2010/main" val="2627364290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449</TotalTime>
  <Words>980</Words>
  <Application>Microsoft Office PowerPoint</Application>
  <PresentationFormat>와이드스크린</PresentationFormat>
  <Paragraphs>106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Calibri</vt:lpstr>
      <vt:lpstr>Calibri Light</vt:lpstr>
      <vt:lpstr>Wingdings</vt:lpstr>
      <vt:lpstr>추억</vt:lpstr>
      <vt:lpstr>자주 사용하는 검색기능</vt:lpstr>
      <vt:lpstr>text 타입의 검색은 "match"를 사용한다.</vt:lpstr>
      <vt:lpstr>term 타입 검색은 text타입 이외의 검색에 사용된다.</vt:lpstr>
      <vt:lpstr>두 개 이상의 필터 검색 조건이 필요한 경우 bool을 사용한다.</vt:lpstr>
      <vt:lpstr>bool (must, filter, must_not) 실습-1</vt:lpstr>
      <vt:lpstr>bool (must, filter, must_not) 실습-2</vt:lpstr>
      <vt:lpstr>bool (must, filter, must_not) 실습-3</vt:lpstr>
      <vt:lpstr>Range 실습 데이터 입력</vt:lpstr>
      <vt:lpstr>Range 조건 실습</vt:lpstr>
      <vt:lpstr>특정 조건을 만족하는 데이터를 위주로 상위노출 시키고자 할 때 - Should</vt:lpstr>
      <vt:lpstr>Should 를 이용한 특정 조건 상위 노출 실습 데이터 입력</vt:lpstr>
      <vt:lpstr>Should를 이용한 특정조건 상위 노출</vt:lpstr>
      <vt:lpstr>오타입력 시 조회가 되도록 하기</vt:lpstr>
      <vt:lpstr>실습을 위한 데이터 및 multi_match조회</vt:lpstr>
      <vt:lpstr>multi_match 특정 필드에 가중치 부여</vt:lpstr>
      <vt:lpstr>highlight 처리</vt:lpstr>
      <vt:lpstr>페이지 네이션을 위한 실습 데이터 입력 및 검색</vt:lpstr>
      <vt:lpstr>문제 인식 실습 데이터 입력 및 조회</vt:lpstr>
      <vt:lpstr>유연한 검색 정확한 검색 모두를 지원하도록 멀티 필드 타입 지정</vt:lpstr>
      <vt:lpstr>search_as_you_type 자료형 특징 확인</vt:lpstr>
      <vt:lpstr>연관검색어 기능은 등록된 2._gram과 3._gram 목록을  함께 조회해오는 것이다.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43</cp:revision>
  <dcterms:created xsi:type="dcterms:W3CDTF">2026-09-04T07:00:08Z</dcterms:created>
  <dcterms:modified xsi:type="dcterms:W3CDTF">2026-09-04T14:31:35Z</dcterms:modified>
</cp:coreProperties>
</file>