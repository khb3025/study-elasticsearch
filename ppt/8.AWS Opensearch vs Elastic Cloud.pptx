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8AE9F20-BDC1-47A3-B127-5425CE6EB028}">
          <p14:sldIdLst>
            <p14:sldId id="256"/>
            <p14:sldId id="257"/>
            <p14:sldId id="258"/>
            <p14:sldId id="259"/>
          </p14:sldIdLst>
        </p14:section>
        <p14:section name="Spring Boot에 Elastic Cloud 연결" id="{E52627E9-C8F7-430B-8AFD-49B39E3F304B}">
          <p14:sldIdLst>
            <p14:sldId id="260"/>
            <p14:sldId id="261"/>
            <p14:sldId id="262"/>
            <p14:sldId id="263"/>
            <p14:sldId id="264"/>
          </p14:sldIdLst>
        </p14:section>
        <p14:section name="비용안나가게 Elastic Cloud 종료하기" id="{CC92E6F3-4FF5-4AC7-A70A-CD8DA2050D6F}">
          <p14:sldIdLst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0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13F219-5388-489C-A865-44C8440649E9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6C9151-A5C7-47DD-B6F4-B4457E6F6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6067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C9151-A5C7-47DD-B6F4-B4457E6F6EC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445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C23-4593-4F05-A887-840ACFBE24DD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25A6-4A20-49D3-88E9-A12795C70C8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13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C23-4593-4F05-A887-840ACFBE24DD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25A6-4A20-49D3-88E9-A12795C70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787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C23-4593-4F05-A887-840ACFBE24DD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25A6-4A20-49D3-88E9-A12795C70C8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488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C23-4593-4F05-A887-840ACFBE24DD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25A6-4A20-49D3-88E9-A12795C70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254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C23-4593-4F05-A887-840ACFBE24DD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25A6-4A20-49D3-88E9-A12795C70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63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C23-4593-4F05-A887-840ACFBE24DD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25A6-4A20-49D3-88E9-A12795C70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99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C23-4593-4F05-A887-840ACFBE24DD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25A6-4A20-49D3-88E9-A12795C70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411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A3E8C23-4593-4F05-A887-840ACFBE24DD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3A25A6-4A20-49D3-88E9-A12795C70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925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C23-4593-4F05-A887-840ACFBE24DD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25A6-4A20-49D3-88E9-A12795C70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992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C23-4593-4F05-A887-840ACFBE24DD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25A6-4A20-49D3-88E9-A12795C70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0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C23-4593-4F05-A887-840ACFBE24DD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25A6-4A20-49D3-88E9-A12795C70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75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A3E8C23-4593-4F05-A887-840ACFBE24DD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F3A25A6-4A20-49D3-88E9-A12795C70C8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766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&#49892;&#51204;&#50640;&#49436;%20&#48148;&#47196;%20&#50024;&#47673;&#45716;%20Elasticsearch%20&#51077;&#47928;%20(&#44160;&#49353;%20&#52572;&#51201;&#54868;&#54200;).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C0F94-6AA2-3104-E1E0-0B0896F50E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/>
              <a:t>AWS Opensearch vs Elastic Cloud</a:t>
            </a:r>
            <a:endParaRPr lang="ko-KR" altLang="en-US" sz="480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4EBCAB-0029-0066-B3DA-F094D7F362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69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51C46-E650-EA56-57EE-2D38087BC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배경 지식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003A63D-3E77-66F6-B475-AD8ACC413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88" y="1876181"/>
            <a:ext cx="6441324" cy="31056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8A4CDF-F0B5-0113-EDC7-33A819EE1457}"/>
              </a:ext>
            </a:extLst>
          </p:cNvPr>
          <p:cNvSpPr txBox="1"/>
          <p:nvPr/>
        </p:nvSpPr>
        <p:spPr>
          <a:xfrm>
            <a:off x="1097280" y="5033394"/>
            <a:ext cx="105046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요약 </a:t>
            </a:r>
            <a:r>
              <a:rPr lang="en-US" altLang="ko-KR"/>
              <a:t>: AWS </a:t>
            </a:r>
            <a:r>
              <a:rPr lang="ko-KR" altLang="en-US"/>
              <a:t>가 </a:t>
            </a:r>
            <a:r>
              <a:rPr lang="en-US" altLang="ko-KR"/>
              <a:t>2021</a:t>
            </a:r>
            <a:r>
              <a:rPr lang="ko-KR" altLang="en-US"/>
              <a:t>년 이전 부터 </a:t>
            </a:r>
            <a:r>
              <a:rPr lang="en-US" altLang="ko-KR"/>
              <a:t>Elasticsearch</a:t>
            </a:r>
            <a:r>
              <a:rPr lang="ko-KR" altLang="en-US"/>
              <a:t>를 오픈소스로써 사용해왔는데</a:t>
            </a:r>
            <a:r>
              <a:rPr lang="en-US" altLang="ko-KR"/>
              <a:t>,</a:t>
            </a:r>
            <a:br>
              <a:rPr lang="en-US" altLang="ko-KR"/>
            </a:br>
            <a:r>
              <a:rPr lang="en-US" altLang="ko-KR"/>
              <a:t>           Elasticsearch </a:t>
            </a:r>
            <a:r>
              <a:rPr lang="ko-KR" altLang="en-US"/>
              <a:t>회사에서 유료 전환해서 라이센스를 부과하자 </a:t>
            </a:r>
            <a:r>
              <a:rPr lang="en-US" altLang="ko-KR"/>
              <a:t>7.10.2 </a:t>
            </a:r>
            <a:r>
              <a:rPr lang="ko-KR" altLang="en-US"/>
              <a:t>버전을 복제하여 자신의 </a:t>
            </a:r>
            <a:br>
              <a:rPr lang="en-US" altLang="ko-KR"/>
            </a:br>
            <a:r>
              <a:rPr lang="en-US" altLang="ko-KR"/>
              <a:t>           </a:t>
            </a:r>
            <a:r>
              <a:rPr lang="ko-KR" altLang="en-US"/>
              <a:t>입맛대로 변경하여 서비스를 오픈한게</a:t>
            </a:r>
            <a:r>
              <a:rPr lang="en-US" altLang="ko-KR"/>
              <a:t>, AWS OpenSearch</a:t>
            </a:r>
            <a:r>
              <a:rPr lang="ko-KR" altLang="en-US"/>
              <a:t>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30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364CFC-ED02-4945-F383-5F988254B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AWS Opensearch</a:t>
            </a:r>
            <a:r>
              <a:rPr lang="ko-KR" altLang="en-US" sz="4000"/>
              <a:t>를 실습에 사용안한 이유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07C9992-027F-A10B-9DB9-EA9B4EEAB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61927"/>
            <a:ext cx="6363354" cy="105811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9387085-754C-387F-2D42-4ED737224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429000"/>
            <a:ext cx="8212684" cy="12772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43F784-C447-2387-E4F3-B12A33AF1FE0}"/>
              </a:ext>
            </a:extLst>
          </p:cNvPr>
          <p:cNvSpPr txBox="1"/>
          <p:nvPr/>
        </p:nvSpPr>
        <p:spPr>
          <a:xfrm>
            <a:off x="996612" y="3093441"/>
            <a:ext cx="561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변경 점</a:t>
            </a:r>
          </a:p>
        </p:txBody>
      </p:sp>
    </p:spTree>
    <p:extLst>
      <p:ext uri="{BB962C8B-B14F-4D97-AF65-F5344CB8AC3E}">
        <p14:creationId xmlns:p14="http://schemas.microsoft.com/office/powerpoint/2010/main" val="4118722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D064AC-E83D-A393-797B-01BE2AC34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Elastic Cloud </a:t>
            </a:r>
            <a:r>
              <a:rPr lang="ko-KR" altLang="en-US"/>
              <a:t>에서 </a:t>
            </a:r>
            <a:r>
              <a:rPr lang="en-US" altLang="ko-KR"/>
              <a:t>Elasticsearch </a:t>
            </a:r>
            <a:r>
              <a:rPr lang="ko-KR" altLang="en-US"/>
              <a:t>사용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B64025-C5C4-3997-3FF9-5292C838AA98}"/>
              </a:ext>
            </a:extLst>
          </p:cNvPr>
          <p:cNvSpPr txBox="1"/>
          <p:nvPr/>
        </p:nvSpPr>
        <p:spPr>
          <a:xfrm>
            <a:off x="1224793" y="1737360"/>
            <a:ext cx="6292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hlinkClick r:id="rId3" action="ppaction://hlinkfile"/>
              </a:rPr>
              <a:t>실전에서 바로 써먹는 </a:t>
            </a:r>
            <a:r>
              <a:rPr lang="en-US" altLang="ko-KR">
                <a:hlinkClick r:id="rId3" action="ppaction://hlinkfile"/>
              </a:rPr>
              <a:t>Elasticsearch </a:t>
            </a:r>
            <a:r>
              <a:rPr lang="ko-KR" altLang="en-US">
                <a:hlinkClick r:id="rId3" action="ppaction://hlinkfile"/>
              </a:rPr>
              <a:t>입문 </a:t>
            </a:r>
            <a:r>
              <a:rPr lang="en-US" altLang="ko-KR">
                <a:hlinkClick r:id="rId3" action="ppaction://hlinkfile"/>
              </a:rPr>
              <a:t>(</a:t>
            </a:r>
            <a:r>
              <a:rPr lang="ko-KR" altLang="en-US">
                <a:hlinkClick r:id="rId3" action="ppaction://hlinkfile"/>
              </a:rPr>
              <a:t>검색 최적화편</a:t>
            </a:r>
            <a:r>
              <a:rPr lang="en-US" altLang="ko-KR">
                <a:hlinkClick r:id="rId3" action="ppaction://hlinkfile"/>
              </a:rPr>
              <a:t>)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79212F-C9F8-8BA2-389E-51C751FB606A}"/>
              </a:ext>
            </a:extLst>
          </p:cNvPr>
          <p:cNvSpPr txBox="1"/>
          <p:nvPr/>
        </p:nvSpPr>
        <p:spPr>
          <a:xfrm>
            <a:off x="1166070" y="2290194"/>
            <a:ext cx="8430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프로그래머스에서도 </a:t>
            </a:r>
            <a:r>
              <a:rPr lang="en-US" altLang="ko-KR" sz="1200"/>
              <a:t>Elastic Search</a:t>
            </a:r>
            <a:r>
              <a:rPr lang="ko-KR" altLang="en-US" sz="1200"/>
              <a:t>를 배운다 이때 </a:t>
            </a:r>
            <a:r>
              <a:rPr lang="en-US" altLang="ko-KR" sz="1200"/>
              <a:t>14</a:t>
            </a:r>
            <a:r>
              <a:rPr lang="ko-KR" altLang="en-US" sz="1200"/>
              <a:t>일 무료 개정판을 사용할 수 있음으로 </a:t>
            </a:r>
            <a:r>
              <a:rPr lang="en-US" altLang="ko-KR" sz="1200"/>
              <a:t>Elastic Cloud</a:t>
            </a:r>
            <a:r>
              <a:rPr lang="ko-KR" altLang="en-US" sz="1200"/>
              <a:t>의 설치 및 연결은 </a:t>
            </a:r>
            <a:br>
              <a:rPr lang="en-US" altLang="ko-KR" sz="1200"/>
            </a:br>
            <a:r>
              <a:rPr lang="ko-KR" altLang="en-US" sz="1200"/>
              <a:t>강의 제공 자료를 참고하여 학습을 진행하도록 한다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871F8C7-8EFC-43D2-C8B7-C1092D4C56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6" t="22141" r="28234" b="2707"/>
          <a:stretch>
            <a:fillRect/>
          </a:stretch>
        </p:blipFill>
        <p:spPr>
          <a:xfrm>
            <a:off x="1253634" y="2860916"/>
            <a:ext cx="4127904" cy="392577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F3371C4-BFB4-63D6-580D-9E5FAC6A92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301" y="2808485"/>
            <a:ext cx="6115904" cy="15337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31751C-B66E-B863-533D-FD7008922520}"/>
              </a:ext>
            </a:extLst>
          </p:cNvPr>
          <p:cNvSpPr txBox="1"/>
          <p:nvPr/>
        </p:nvSpPr>
        <p:spPr>
          <a:xfrm>
            <a:off x="5578679" y="4572000"/>
            <a:ext cx="59477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강의 화면에서 처럼 </a:t>
            </a:r>
            <a:r>
              <a:rPr lang="en-US" altLang="ko-KR" sz="1400"/>
              <a:t>Elastic Cloud </a:t>
            </a:r>
            <a:r>
              <a:rPr lang="ko-KR" altLang="en-US" sz="1400"/>
              <a:t>환경을 생성하였다고 가정하고 진행한다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r>
              <a:rPr lang="en-US" altLang="ko-KR" sz="1400"/>
              <a:t>Username : elastic</a:t>
            </a:r>
          </a:p>
          <a:p>
            <a:r>
              <a:rPr lang="en-US" altLang="ko-KR" sz="1400"/>
              <a:t>Password : KSYhmz330plZcvbnkWGAEEPR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139732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EEAB5D-8DE2-3EA8-91F8-E9F11E78E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Elastic Cloud</a:t>
            </a:r>
            <a:r>
              <a:rPr lang="ko-KR" altLang="en-US"/>
              <a:t>에 </a:t>
            </a:r>
            <a:r>
              <a:rPr lang="en-US" altLang="ko-KR"/>
              <a:t>Nori Analyzer </a:t>
            </a:r>
            <a:r>
              <a:rPr lang="ko-KR" altLang="en-US"/>
              <a:t>셋팅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A89E177-79E8-BB94-00B3-03AE67726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103" y="1888790"/>
            <a:ext cx="6837454" cy="478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951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E5BA9-C17C-5D59-64FE-CEE77196F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Elastic Cloud</a:t>
            </a:r>
            <a:r>
              <a:rPr lang="ko-KR" altLang="en-US"/>
              <a:t>에 </a:t>
            </a:r>
            <a:r>
              <a:rPr lang="en-US" altLang="ko-KR"/>
              <a:t>Nori Analyzer </a:t>
            </a:r>
            <a:r>
              <a:rPr lang="ko-KR" altLang="en-US"/>
              <a:t>셋팅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F068639-3EC3-4E64-9C85-99A359484573}"/>
              </a:ext>
            </a:extLst>
          </p:cNvPr>
          <p:cNvGrpSpPr/>
          <p:nvPr/>
        </p:nvGrpSpPr>
        <p:grpSpPr>
          <a:xfrm>
            <a:off x="241499" y="1845218"/>
            <a:ext cx="11862607" cy="4359513"/>
            <a:chOff x="241499" y="1845218"/>
            <a:chExt cx="11862607" cy="435951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C2E8CC6-519F-0D99-1B5C-98414A7E94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1499" y="1845218"/>
              <a:ext cx="5884981" cy="4359513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C885A0E-6B50-69C8-2E08-6DD6A9F2B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413" y="1845218"/>
              <a:ext cx="5858693" cy="3905795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2F5C097-B655-1366-8CDB-8FC05347C55C}"/>
                </a:ext>
              </a:extLst>
            </p:cNvPr>
            <p:cNvSpPr/>
            <p:nvPr/>
          </p:nvSpPr>
          <p:spPr>
            <a:xfrm>
              <a:off x="511728" y="2080470"/>
              <a:ext cx="360727" cy="36072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1</a:t>
              </a:r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76A7351-938F-4BB3-D5EC-AC04DE2C2463}"/>
                </a:ext>
              </a:extLst>
            </p:cNvPr>
            <p:cNvSpPr/>
            <p:nvPr/>
          </p:nvSpPr>
          <p:spPr>
            <a:xfrm>
              <a:off x="6549109" y="2052507"/>
              <a:ext cx="360727" cy="36072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2</a:t>
              </a:r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7973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65CE7A-FE94-E551-9382-0944A0DAE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Elastic Cloud</a:t>
            </a:r>
            <a:r>
              <a:rPr lang="ko-KR" altLang="en-US"/>
              <a:t>에 </a:t>
            </a:r>
            <a:r>
              <a:rPr lang="en-US" altLang="ko-KR"/>
              <a:t>Nori Analyzer </a:t>
            </a:r>
            <a:r>
              <a:rPr lang="ko-KR" altLang="en-US"/>
              <a:t>셋팅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596619C-6257-1374-0380-CA8A9AC4D917}"/>
              </a:ext>
            </a:extLst>
          </p:cNvPr>
          <p:cNvGrpSpPr/>
          <p:nvPr/>
        </p:nvGrpSpPr>
        <p:grpSpPr>
          <a:xfrm>
            <a:off x="973930" y="1866203"/>
            <a:ext cx="7896835" cy="4340440"/>
            <a:chOff x="973930" y="1866203"/>
            <a:chExt cx="7896835" cy="434044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9E06A1D-D426-8675-B90D-9E0401FC1F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3930" y="1866203"/>
              <a:ext cx="4839642" cy="3159639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BEA8630-8957-92D2-B708-EB390146D0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7280" y="5120641"/>
              <a:ext cx="7773485" cy="10860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64152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1F7116-182E-B13E-BD1C-603BB53B3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Elasticsearch </a:t>
            </a:r>
            <a:r>
              <a:rPr lang="ko-KR" altLang="en-US"/>
              <a:t>주소 확인하기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90B63C0-0581-B6D1-5C22-F7CEC3202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19050"/>
            <a:ext cx="5963482" cy="16099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9ED2F63-6888-29DE-7B86-3E1189CD0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768" y="3390370"/>
            <a:ext cx="7053111" cy="336839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C7FEC9F9-2470-D42A-8683-541B852B45C7}"/>
              </a:ext>
            </a:extLst>
          </p:cNvPr>
          <p:cNvGrpSpPr/>
          <p:nvPr/>
        </p:nvGrpSpPr>
        <p:grpSpPr>
          <a:xfrm>
            <a:off x="1426128" y="1950122"/>
            <a:ext cx="10192624" cy="3326872"/>
            <a:chOff x="1426128" y="1950122"/>
            <a:chExt cx="10192624" cy="332687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56FD14-B367-85D5-C801-82FF5D838AC7}"/>
                </a:ext>
              </a:extLst>
            </p:cNvPr>
            <p:cNvSpPr/>
            <p:nvPr/>
          </p:nvSpPr>
          <p:spPr>
            <a:xfrm>
              <a:off x="1426128" y="4102217"/>
              <a:ext cx="503340" cy="176168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D202AFF1-6641-B4CC-266D-FFDDB207485E}"/>
                </a:ext>
              </a:extLst>
            </p:cNvPr>
            <p:cNvCxnSpPr>
              <a:cxnSpLocks/>
              <a:stCxn id="7" idx="3"/>
              <a:endCxn id="11" idx="1"/>
            </p:cNvCxnSpPr>
            <p:nvPr/>
          </p:nvCxnSpPr>
          <p:spPr>
            <a:xfrm flipV="1">
              <a:off x="1929468" y="3613558"/>
              <a:ext cx="6073629" cy="576743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D77E6F6-1D82-34D9-DD77-C86DD60F2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018" t="13333" r="40000"/>
            <a:stretch>
              <a:fillRect/>
            </a:stretch>
          </p:blipFill>
          <p:spPr>
            <a:xfrm>
              <a:off x="8003097" y="1950122"/>
              <a:ext cx="3615655" cy="3326872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930BBE8-68C9-628F-F6A9-C7415A7F955A}"/>
              </a:ext>
            </a:extLst>
          </p:cNvPr>
          <p:cNvSpPr txBox="1"/>
          <p:nvPr/>
        </p:nvSpPr>
        <p:spPr>
          <a:xfrm>
            <a:off x="8447714" y="5419288"/>
            <a:ext cx="3615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elastic cloud</a:t>
            </a:r>
            <a:r>
              <a:rPr lang="ko-KR" altLang="en-US" sz="1200"/>
              <a:t> 와 연결된 </a:t>
            </a:r>
            <a:r>
              <a:rPr lang="en-US" altLang="ko-KR" sz="1200"/>
              <a:t>Kibana</a:t>
            </a:r>
            <a:r>
              <a:rPr lang="ko-KR" altLang="en-US" sz="1200"/>
              <a:t>를 제공한다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335730-FFAB-DD58-2CC2-E91F804DD880}"/>
              </a:ext>
            </a:extLst>
          </p:cNvPr>
          <p:cNvSpPr txBox="1"/>
          <p:nvPr/>
        </p:nvSpPr>
        <p:spPr>
          <a:xfrm>
            <a:off x="4127383" y="5142289"/>
            <a:ext cx="1778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외부 주소</a:t>
            </a:r>
          </a:p>
        </p:txBody>
      </p:sp>
    </p:spTree>
    <p:extLst>
      <p:ext uri="{BB962C8B-B14F-4D97-AF65-F5344CB8AC3E}">
        <p14:creationId xmlns:p14="http://schemas.microsoft.com/office/powerpoint/2010/main" val="1277004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140BD5-9F69-D4C5-5002-639BDB771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SpringBoot App</a:t>
            </a:r>
            <a:r>
              <a:rPr lang="ko-KR" altLang="en-US"/>
              <a:t>과 연결하기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CA65CC-76EC-8D38-E4B4-9AFF90DFD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093" y="1906033"/>
            <a:ext cx="7588587" cy="3247822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57BD89A-85FF-0DAA-EFC3-9DCB4ADB2B16}"/>
              </a:ext>
            </a:extLst>
          </p:cNvPr>
          <p:cNvGrpSpPr/>
          <p:nvPr/>
        </p:nvGrpSpPr>
        <p:grpSpPr>
          <a:xfrm>
            <a:off x="1097280" y="1906033"/>
            <a:ext cx="2327521" cy="4770592"/>
            <a:chOff x="1097280" y="1906033"/>
            <a:chExt cx="2327521" cy="477059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0E6CB8E-7F9F-E01A-73AB-C5FCDD304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7280" y="1906033"/>
              <a:ext cx="2327521" cy="4770592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61F099F-5A43-D3C6-E73B-82BA5C87D35D}"/>
                </a:ext>
              </a:extLst>
            </p:cNvPr>
            <p:cNvSpPr/>
            <p:nvPr/>
          </p:nvSpPr>
          <p:spPr>
            <a:xfrm>
              <a:off x="1317072" y="6434356"/>
              <a:ext cx="973122" cy="242269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42347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64C04BA-961D-D614-D699-4A0615142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958" y="85247"/>
            <a:ext cx="6462084" cy="668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445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5B59364-7179-17F0-0EB1-690B4E68C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997" y="699761"/>
            <a:ext cx="6434114" cy="59820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18746C-4828-439B-C4BD-E71DB496B7AB}"/>
              </a:ext>
            </a:extLst>
          </p:cNvPr>
          <p:cNvSpPr txBox="1"/>
          <p:nvPr/>
        </p:nvSpPr>
        <p:spPr>
          <a:xfrm>
            <a:off x="2776997" y="330429"/>
            <a:ext cx="4731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비용 나가고 있는지 체크하기</a:t>
            </a:r>
          </a:p>
        </p:txBody>
      </p:sp>
    </p:spTree>
    <p:extLst>
      <p:ext uri="{BB962C8B-B14F-4D97-AF65-F5344CB8AC3E}">
        <p14:creationId xmlns:p14="http://schemas.microsoft.com/office/powerpoint/2010/main" val="3129371854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</TotalTime>
  <Words>151</Words>
  <Application>Microsoft Office PowerPoint</Application>
  <PresentationFormat>와이드스크린</PresentationFormat>
  <Paragraphs>23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Calibri</vt:lpstr>
      <vt:lpstr>Calibri Light</vt:lpstr>
      <vt:lpstr>추억</vt:lpstr>
      <vt:lpstr>AWS Opensearch vs Elastic Cloud</vt:lpstr>
      <vt:lpstr>배경 지식</vt:lpstr>
      <vt:lpstr>AWS Opensearch를 실습에 사용안한 이유</vt:lpstr>
      <vt:lpstr>Elastic Cloud 에서 Elasticsearch 사용</vt:lpstr>
      <vt:lpstr>Elastic Cloud에 Nori Analyzer 셋팅</vt:lpstr>
      <vt:lpstr>Elastic Cloud에 Nori Analyzer 셋팅</vt:lpstr>
      <vt:lpstr>Elastic Cloud에 Nori Analyzer 셋팅</vt:lpstr>
      <vt:lpstr>Elasticsearch 주소 확인하기</vt:lpstr>
      <vt:lpstr>SpringBoot App과 연결하기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9</cp:revision>
  <dcterms:created xsi:type="dcterms:W3CDTF">2026-09-06T14:29:22Z</dcterms:created>
  <dcterms:modified xsi:type="dcterms:W3CDTF">2026-09-06T14:59:58Z</dcterms:modified>
</cp:coreProperties>
</file>