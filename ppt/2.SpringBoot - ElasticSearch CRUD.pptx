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9CC1C99D-57C4-4936-A196-AD722E62777A}">
          <p14:sldIdLst>
            <p14:sldId id="256"/>
          </p14:sldIdLst>
        </p14:section>
        <p14:section name="ElasticSearch 애플리케이션 생성 및 설정" id="{E8D6B9FA-6930-45AA-AC34-84697F80F3D5}">
          <p14:sldIdLst>
            <p14:sldId id="257"/>
            <p14:sldId id="258"/>
            <p14:sldId id="259"/>
            <p14:sldId id="260"/>
          </p14:sldIdLst>
        </p14:section>
        <p14:section name="ElasticSearch CRUD 작성" id="{28ED5473-EFC1-488E-9DC4-3E3AFE6D654C}">
          <p14:sldIdLst>
            <p14:sldId id="262"/>
            <p14:sldId id="263"/>
            <p14:sldId id="264"/>
            <p14:sldId id="266"/>
            <p14:sldId id="265"/>
            <p14:sldId id="26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2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7941-1BAB-45A3-BDB9-92A86408CD1D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D7C7-6AC1-4D23-AF32-4F06F4D1F2A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213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7941-1BAB-45A3-BDB9-92A86408CD1D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D7C7-6AC1-4D23-AF32-4F06F4D1F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928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7941-1BAB-45A3-BDB9-92A86408CD1D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D7C7-6AC1-4D23-AF32-4F06F4D1F2A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5731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7941-1BAB-45A3-BDB9-92A86408CD1D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D7C7-6AC1-4D23-AF32-4F06F4D1F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185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7941-1BAB-45A3-BDB9-92A86408CD1D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D7C7-6AC1-4D23-AF32-4F06F4D1F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974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7941-1BAB-45A3-BDB9-92A86408CD1D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D7C7-6AC1-4D23-AF32-4F06F4D1F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561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7941-1BAB-45A3-BDB9-92A86408CD1D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D7C7-6AC1-4D23-AF32-4F06F4D1F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995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2A77941-1BAB-45A3-BDB9-92A86408CD1D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41AD7C7-6AC1-4D23-AF32-4F06F4D1F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6868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7941-1BAB-45A3-BDB9-92A86408CD1D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D7C7-6AC1-4D23-AF32-4F06F4D1F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245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7941-1BAB-45A3-BDB9-92A86408CD1D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D7C7-6AC1-4D23-AF32-4F06F4D1F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521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7941-1BAB-45A3-BDB9-92A86408CD1D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1AD7C7-6AC1-4D23-AF32-4F06F4D1F2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137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2A77941-1BAB-45A3-BDB9-92A86408CD1D}" type="datetimeFigureOut">
              <a:rPr lang="ko-KR" altLang="en-US" smtClean="0"/>
              <a:t>2026-09-01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41AD7C7-6AC1-4D23-AF32-4F06F4D1F2AB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454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733994-33CB-B8C0-DD50-273A9FF3B98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sz="6000"/>
              <a:t>SpringBoot &amp; ElasticSearch</a:t>
            </a:r>
            <a:endParaRPr lang="ko-KR" altLang="en-US" sz="60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59FA4DA-71BF-4249-559C-D09A82D693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186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D7BC6B-D2CC-1132-724E-3AFE66C79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Spring Boot ElasticSeach </a:t>
            </a:r>
            <a:r>
              <a:rPr lang="ko-KR" altLang="en-US" sz="3600"/>
              <a:t>애플리케이션 생성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B25A86C-CF7B-C392-4A45-4DFADD013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1131" y="1828836"/>
            <a:ext cx="9589737" cy="4742561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939452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B38DCE-8610-A67E-83E0-89CB5D0D6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application.yml </a:t>
            </a:r>
            <a:r>
              <a:rPr lang="ko-KR" altLang="en-US"/>
              <a:t>설정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4043998-03F6-2F65-DF8D-8D3482BAA148}"/>
              </a:ext>
            </a:extLst>
          </p:cNvPr>
          <p:cNvGrpSpPr/>
          <p:nvPr/>
        </p:nvGrpSpPr>
        <p:grpSpPr>
          <a:xfrm>
            <a:off x="941763" y="1984111"/>
            <a:ext cx="6099117" cy="4794914"/>
            <a:chOff x="941763" y="1984111"/>
            <a:chExt cx="6099117" cy="479491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2CC0AAC-9562-E71E-1065-C0DF52B2A4EF}"/>
                </a:ext>
              </a:extLst>
            </p:cNvPr>
            <p:cNvSpPr txBox="1"/>
            <p:nvPr/>
          </p:nvSpPr>
          <p:spPr>
            <a:xfrm>
              <a:off x="3537759" y="1984111"/>
              <a:ext cx="3503121" cy="1543115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>
              <a:spAutoFit/>
            </a:bodyPr>
            <a:lstStyle/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spring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elasticsearch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uris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http://localhost:9200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b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</a:b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logging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level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</a:t>
              </a:r>
            </a:p>
            <a:p>
              <a:pPr>
                <a:lnSpc>
                  <a:spcPts val="1425"/>
                </a:lnSpc>
                <a:buNone/>
              </a:pP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        </a:t>
              </a:r>
              <a:r>
                <a:rPr lang="en-US" altLang="ko-KR" sz="1100" b="0">
                  <a:solidFill>
                    <a:srgbClr val="7EE787"/>
                  </a:solidFill>
                  <a:effectLst/>
                  <a:latin typeface="Consolas" panose="020B0609020204030204" pitchFamily="49" charset="0"/>
                </a:rPr>
                <a:t>org.elasticsearch.client</a:t>
              </a:r>
              <a:r>
                <a:rPr lang="en-US" altLang="ko-KR" sz="1100" b="0">
                  <a:solidFill>
                    <a:srgbClr val="BBBEBF"/>
                  </a:solidFill>
                  <a:effectLst/>
                  <a:latin typeface="Consolas" panose="020B0609020204030204" pitchFamily="49" charset="0"/>
                </a:rPr>
                <a:t>: </a:t>
              </a:r>
              <a:r>
                <a:rPr lang="en-US" altLang="ko-KR" sz="1100" b="0">
                  <a:solidFill>
                    <a:srgbClr val="A5D6FF"/>
                  </a:solidFill>
                  <a:effectLst/>
                  <a:latin typeface="Consolas" panose="020B0609020204030204" pitchFamily="49" charset="0"/>
                </a:rPr>
                <a:t>DEBUG</a:t>
              </a:r>
              <a:endPara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9FCC971-E0FC-0890-E099-F6C5AC2CD2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1763" y="1984111"/>
              <a:ext cx="2473701" cy="4794914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96E83EA-A0B4-9FE8-0C1B-CF4404C9512F}"/>
                </a:ext>
              </a:extLst>
            </p:cNvPr>
            <p:cNvSpPr/>
            <p:nvPr/>
          </p:nvSpPr>
          <p:spPr>
            <a:xfrm>
              <a:off x="1188720" y="5045825"/>
              <a:ext cx="1039091" cy="23275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9427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9BE98B-59B3-25CB-8875-521FB8095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UserDocument </a:t>
            </a:r>
            <a:r>
              <a:rPr lang="ko-KR" altLang="en-US" sz="3600"/>
              <a:t>작성 </a:t>
            </a:r>
            <a:r>
              <a:rPr lang="en-US" altLang="ko-KR" sz="3600"/>
              <a:t>- (JPA</a:t>
            </a:r>
            <a:r>
              <a:rPr lang="ko-KR" altLang="en-US" sz="3600"/>
              <a:t>로 치면 </a:t>
            </a:r>
            <a:r>
              <a:rPr lang="en-US" altLang="ko-KR" sz="3600"/>
              <a:t>Entity)</a:t>
            </a:r>
            <a:endParaRPr lang="ko-KR" altLang="en-US" sz="360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EF690D7-BCFB-F3C4-DAEC-1D39C2019C5B}"/>
              </a:ext>
            </a:extLst>
          </p:cNvPr>
          <p:cNvGrpSpPr/>
          <p:nvPr/>
        </p:nvGrpSpPr>
        <p:grpSpPr>
          <a:xfrm>
            <a:off x="941763" y="1984111"/>
            <a:ext cx="2473701" cy="4794914"/>
            <a:chOff x="941763" y="1984111"/>
            <a:chExt cx="2473701" cy="4794914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AB09203-BE3C-8655-673D-4C09E04C7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1763" y="1984111"/>
              <a:ext cx="2473701" cy="4794914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C31994A-A457-4804-1831-1D1C3622C722}"/>
                </a:ext>
              </a:extLst>
            </p:cNvPr>
            <p:cNvSpPr/>
            <p:nvPr/>
          </p:nvSpPr>
          <p:spPr>
            <a:xfrm>
              <a:off x="1230284" y="4123113"/>
              <a:ext cx="1180407" cy="22444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00351B15-EB84-EDEA-D6EA-43F42639F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8248" y="1984111"/>
            <a:ext cx="4466967" cy="228863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F3E9647-9F9F-6DDD-2736-C65BE8C6D6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5086" y="1986150"/>
            <a:ext cx="2870594" cy="47228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A53D3E-9275-9071-9967-1CE607C5A38A}"/>
              </a:ext>
            </a:extLst>
          </p:cNvPr>
          <p:cNvSpPr txBox="1"/>
          <p:nvPr/>
        </p:nvSpPr>
        <p:spPr>
          <a:xfrm>
            <a:off x="3608248" y="4716885"/>
            <a:ext cx="20859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FF0000"/>
                </a:solidFill>
              </a:rPr>
              <a:t>ElasticSearch</a:t>
            </a:r>
          </a:p>
          <a:p>
            <a:r>
              <a:rPr lang="en-US" altLang="ko-KR" sz="1200"/>
              <a:t>@Document(indexName = "")</a:t>
            </a:r>
          </a:p>
          <a:p>
            <a:endParaRPr lang="en-US" altLang="ko-KR" sz="1200"/>
          </a:p>
          <a:p>
            <a:r>
              <a:rPr lang="en-US" altLang="ko-KR" sz="1200"/>
              <a:t>@Id</a:t>
            </a:r>
          </a:p>
          <a:p>
            <a:endParaRPr lang="en-US" altLang="ko-KR" sz="1200"/>
          </a:p>
          <a:p>
            <a:r>
              <a:rPr lang="en-US" altLang="ko-KR" sz="1200"/>
              <a:t>@Field(type = FieldType.XXX )</a:t>
            </a:r>
            <a:endParaRPr lang="ko-KR" altLang="en-US" sz="12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50910D-BAAA-BE1E-ABD0-439C82857285}"/>
              </a:ext>
            </a:extLst>
          </p:cNvPr>
          <p:cNvSpPr txBox="1"/>
          <p:nvPr/>
        </p:nvSpPr>
        <p:spPr>
          <a:xfrm>
            <a:off x="5946667" y="4748688"/>
            <a:ext cx="21285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FF0000"/>
                </a:solidFill>
              </a:rPr>
              <a:t>JPA</a:t>
            </a:r>
          </a:p>
          <a:p>
            <a:r>
              <a:rPr lang="en-US" altLang="ko-KR" sz="1200"/>
              <a:t>@Document(indexName = "")</a:t>
            </a:r>
          </a:p>
          <a:p>
            <a:endParaRPr lang="en-US" altLang="ko-KR" sz="1200"/>
          </a:p>
          <a:p>
            <a:r>
              <a:rPr lang="en-US" altLang="ko-KR" sz="1200"/>
              <a:t>@Id</a:t>
            </a:r>
          </a:p>
          <a:p>
            <a:endParaRPr lang="en-US" altLang="ko-KR" sz="1200"/>
          </a:p>
          <a:p>
            <a:r>
              <a:rPr lang="en-US" altLang="ko-KR" sz="1200"/>
              <a:t>@Colum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F8FDF0-22CD-C95F-DEC2-EA472C7A8455}"/>
              </a:ext>
            </a:extLst>
          </p:cNvPr>
          <p:cNvSpPr txBox="1"/>
          <p:nvPr/>
        </p:nvSpPr>
        <p:spPr>
          <a:xfrm>
            <a:off x="3608248" y="4347555"/>
            <a:ext cx="4424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ElasticSearch </a:t>
            </a:r>
            <a:r>
              <a:rPr lang="ko-KR" altLang="en-US"/>
              <a:t>와 </a:t>
            </a:r>
            <a:r>
              <a:rPr lang="en-US" altLang="ko-KR"/>
              <a:t>JPA </a:t>
            </a:r>
            <a:r>
              <a:rPr lang="ko-KR" altLang="en-US"/>
              <a:t>애노테이션 비교</a:t>
            </a:r>
          </a:p>
        </p:txBody>
      </p:sp>
    </p:spTree>
    <p:extLst>
      <p:ext uri="{BB962C8B-B14F-4D97-AF65-F5344CB8AC3E}">
        <p14:creationId xmlns:p14="http://schemas.microsoft.com/office/powerpoint/2010/main" val="2179456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A800F-CD93-BBC5-8C8C-6F4303F27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UserDocumentRepository - (JPA</a:t>
            </a:r>
            <a:r>
              <a:rPr lang="ko-KR" altLang="en-US" sz="3600"/>
              <a:t>로 치면 </a:t>
            </a:r>
            <a:r>
              <a:rPr lang="en-US" altLang="ko-KR" sz="3600"/>
              <a:t>JpaRepository)</a:t>
            </a:r>
            <a:endParaRPr lang="ko-KR" altLang="en-US" sz="3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861EA0-5F2F-1866-0C85-8284A6E74FF1}"/>
              </a:ext>
            </a:extLst>
          </p:cNvPr>
          <p:cNvSpPr txBox="1"/>
          <p:nvPr/>
        </p:nvSpPr>
        <p:spPr>
          <a:xfrm>
            <a:off x="3697085" y="1972548"/>
            <a:ext cx="6851766" cy="224676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elasticsearch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springframework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elasticsearch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repository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ElasticsearchRepository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UserDocumentRepository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extends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ElasticsearchRepository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UserDocument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&gt;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Custom query methods can be defined here if needed</a:t>
            </a: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35800F85-6257-5633-2EDA-AED971AFED6A}"/>
              </a:ext>
            </a:extLst>
          </p:cNvPr>
          <p:cNvGrpSpPr/>
          <p:nvPr/>
        </p:nvGrpSpPr>
        <p:grpSpPr>
          <a:xfrm>
            <a:off x="1161133" y="1955424"/>
            <a:ext cx="2370942" cy="4527785"/>
            <a:chOff x="1161133" y="1955424"/>
            <a:chExt cx="2370942" cy="452778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A010447-A508-78D1-3B2E-EECB9AA2BD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1133" y="1955424"/>
              <a:ext cx="2370942" cy="4527785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11AD198-7165-545C-9316-DEE59D5AB4CD}"/>
                </a:ext>
              </a:extLst>
            </p:cNvPr>
            <p:cNvSpPr/>
            <p:nvPr/>
          </p:nvSpPr>
          <p:spPr>
            <a:xfrm>
              <a:off x="1421476" y="4131425"/>
              <a:ext cx="1812175" cy="2244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21774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B11D0-B46E-8356-4469-5D8691DE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/>
              <a:t>UserCreateRequestDto - </a:t>
            </a:r>
            <a:r>
              <a:rPr lang="ko-KR" altLang="en-US" sz="3200"/>
              <a:t>사용자 요청 등록 </a:t>
            </a:r>
            <a:r>
              <a:rPr lang="en-US" altLang="ko-KR" sz="3200"/>
              <a:t>DTO</a:t>
            </a:r>
            <a:r>
              <a:rPr lang="ko-KR" altLang="en-US" sz="3200"/>
              <a:t>작성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B897289-E3ED-3592-A845-2D953C7BEF7C}"/>
              </a:ext>
            </a:extLst>
          </p:cNvPr>
          <p:cNvGrpSpPr/>
          <p:nvPr/>
        </p:nvGrpSpPr>
        <p:grpSpPr>
          <a:xfrm>
            <a:off x="1097280" y="1826570"/>
            <a:ext cx="2838846" cy="4667901"/>
            <a:chOff x="486963" y="1843195"/>
            <a:chExt cx="2838846" cy="466790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A4BA802-E559-E991-F078-E4392760E5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6963" y="1843195"/>
              <a:ext cx="2838846" cy="466790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862A003-1C36-6EB2-15CF-E52C55D40FAB}"/>
                </a:ext>
              </a:extLst>
            </p:cNvPr>
            <p:cNvSpPr/>
            <p:nvPr/>
          </p:nvSpPr>
          <p:spPr>
            <a:xfrm>
              <a:off x="881149" y="4646815"/>
              <a:ext cx="1778924" cy="2078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385450C-67D2-32E1-8D68-ECC2C6CFEFA2}"/>
              </a:ext>
            </a:extLst>
          </p:cNvPr>
          <p:cNvSpPr txBox="1"/>
          <p:nvPr/>
        </p:nvSpPr>
        <p:spPr>
          <a:xfrm>
            <a:off x="4049708" y="1826570"/>
            <a:ext cx="3002973" cy="45952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elasticsearch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UserCreateRequestDto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isActive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getAge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getIsActive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isActive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577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E761E2-BA0B-9CAC-DB9D-8D0C24D9E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사용자 등록 </a:t>
            </a:r>
            <a:r>
              <a:rPr lang="en-US" altLang="ko-KR"/>
              <a:t>API </a:t>
            </a:r>
            <a:r>
              <a:rPr lang="ko-KR" altLang="en-US"/>
              <a:t>작성 </a:t>
            </a:r>
            <a:r>
              <a:rPr lang="en-US" altLang="ko-KR"/>
              <a:t>- Controller</a:t>
            </a:r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8F19EDB-4917-4F31-1B96-7BCEB773069F}"/>
              </a:ext>
            </a:extLst>
          </p:cNvPr>
          <p:cNvGrpSpPr/>
          <p:nvPr/>
        </p:nvGrpSpPr>
        <p:grpSpPr>
          <a:xfrm>
            <a:off x="1097280" y="1826570"/>
            <a:ext cx="2838846" cy="4667901"/>
            <a:chOff x="1097280" y="1826570"/>
            <a:chExt cx="2838846" cy="466790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A190D8A-D29B-F1D9-ADC1-369106E51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26570"/>
              <a:ext cx="2838846" cy="4667901"/>
            </a:xfrm>
            <a:prstGeom prst="rect">
              <a:avLst/>
            </a:prstGeom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9687045-362F-9796-1DBD-DCA4D3EA302F}"/>
                </a:ext>
              </a:extLst>
            </p:cNvPr>
            <p:cNvSpPr/>
            <p:nvPr/>
          </p:nvSpPr>
          <p:spPr>
            <a:xfrm>
              <a:off x="1491466" y="4414059"/>
              <a:ext cx="1778924" cy="2078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C47B332E-3AE3-A879-C4E7-2B35D762DD7D}"/>
              </a:ext>
            </a:extLst>
          </p:cNvPr>
          <p:cNvGrpSpPr/>
          <p:nvPr/>
        </p:nvGrpSpPr>
        <p:grpSpPr>
          <a:xfrm>
            <a:off x="4076528" y="1843196"/>
            <a:ext cx="6174846" cy="2778681"/>
            <a:chOff x="4076528" y="1843196"/>
            <a:chExt cx="6174846" cy="2778681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D06B769-7DF4-07CF-FF96-3C8CB9936E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76528" y="1843196"/>
              <a:ext cx="6174846" cy="2778681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CA4D48A-36AA-95AF-3E4F-9457D3B31188}"/>
                </a:ext>
              </a:extLst>
            </p:cNvPr>
            <p:cNvSpPr/>
            <p:nvPr/>
          </p:nvSpPr>
          <p:spPr>
            <a:xfrm>
              <a:off x="4977270" y="3232535"/>
              <a:ext cx="2587312" cy="125633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647712F-92CE-B7BB-9CFB-FB9A75B184D3}"/>
              </a:ext>
            </a:extLst>
          </p:cNvPr>
          <p:cNvSpPr txBox="1"/>
          <p:nvPr/>
        </p:nvSpPr>
        <p:spPr>
          <a:xfrm>
            <a:off x="4076528" y="4621877"/>
            <a:ext cx="62728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elasticSearch</a:t>
            </a:r>
            <a:r>
              <a:rPr lang="ko-KR" altLang="en-US" sz="1200"/>
              <a:t>에서 인덱스에 </a:t>
            </a:r>
            <a:r>
              <a:rPr lang="en-US" altLang="ko-KR" sz="1200"/>
              <a:t>document</a:t>
            </a:r>
            <a:r>
              <a:rPr lang="ko-KR" altLang="en-US" sz="1200"/>
              <a:t>를 저장하는 방식은 </a:t>
            </a:r>
            <a:r>
              <a:rPr lang="en-US" altLang="ko-KR" sz="1200"/>
              <a:t>JPA </a:t>
            </a:r>
            <a:r>
              <a:rPr lang="ko-KR" altLang="en-US" sz="1200"/>
              <a:t>와 유사하다는걸 알 수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496426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DCEB8F-3F14-99C5-2022-8A03F8987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/>
              <a:t>사용자 전체 조회 </a:t>
            </a:r>
            <a:r>
              <a:rPr lang="en-US" altLang="ko-KR" sz="3600"/>
              <a:t>/ </a:t>
            </a:r>
            <a:r>
              <a:rPr lang="ko-KR" altLang="en-US" sz="3600"/>
              <a:t>개별 조회 </a:t>
            </a:r>
            <a:r>
              <a:rPr lang="en-US" altLang="ko-KR" sz="3600"/>
              <a:t>API </a:t>
            </a:r>
            <a:r>
              <a:rPr lang="ko-KR" altLang="en-US" sz="3600"/>
              <a:t>작성 </a:t>
            </a:r>
            <a:r>
              <a:rPr lang="en-US" altLang="ko-KR" sz="3600"/>
              <a:t>- Controller</a:t>
            </a:r>
            <a:endParaRPr lang="ko-KR" altLang="en-US" sz="360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DF1AB495-85E4-8440-580E-999259499F65}"/>
              </a:ext>
            </a:extLst>
          </p:cNvPr>
          <p:cNvGrpSpPr/>
          <p:nvPr/>
        </p:nvGrpSpPr>
        <p:grpSpPr>
          <a:xfrm>
            <a:off x="1097280" y="1826570"/>
            <a:ext cx="2838846" cy="4667901"/>
            <a:chOff x="1097280" y="1826570"/>
            <a:chExt cx="2838846" cy="466790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06535E2-8319-22B6-37E6-1C077F2CA2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26570"/>
              <a:ext cx="2838846" cy="466790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4424C17-8E0B-C557-6395-A2C6C5B41A58}"/>
                </a:ext>
              </a:extLst>
            </p:cNvPr>
            <p:cNvSpPr/>
            <p:nvPr/>
          </p:nvSpPr>
          <p:spPr>
            <a:xfrm>
              <a:off x="1491466" y="4414059"/>
              <a:ext cx="1778924" cy="2078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3E3500FC-7F54-8AC6-8BA0-E9B48FC13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211" y="1826570"/>
            <a:ext cx="7116168" cy="18957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0109E2-7C32-93AC-46D3-A577143524B0}"/>
              </a:ext>
            </a:extLst>
          </p:cNvPr>
          <p:cNvSpPr txBox="1"/>
          <p:nvPr/>
        </p:nvSpPr>
        <p:spPr>
          <a:xfrm>
            <a:off x="4167211" y="3832167"/>
            <a:ext cx="711616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사용자 </a:t>
            </a:r>
            <a:r>
              <a:rPr lang="en-US" altLang="ko-KR" sz="1400"/>
              <a:t>Document </a:t>
            </a:r>
            <a:r>
              <a:rPr lang="ko-KR" altLang="en-US" sz="1400"/>
              <a:t>정보에 대한 전체 조회 및 개별조회 또한 </a:t>
            </a:r>
            <a:endParaRPr lang="en-US" altLang="ko-KR" sz="1400"/>
          </a:p>
          <a:p>
            <a:r>
              <a:rPr lang="en-US" altLang="ko-KR" sz="1400"/>
              <a:t>JPA </a:t>
            </a:r>
            <a:r>
              <a:rPr lang="ko-KR" altLang="en-US" sz="1400"/>
              <a:t>에서 사용자 조회 및 전체조회와 크게 다른게 없이 비슷하다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ko-KR" altLang="en-US" sz="1400"/>
              <a:t>반환되는 값이 </a:t>
            </a:r>
            <a:r>
              <a:rPr lang="en-US" altLang="ko-KR" sz="1400"/>
              <a:t>Optional</a:t>
            </a:r>
            <a:r>
              <a:rPr lang="ko-KR" altLang="en-US" sz="1400"/>
              <a:t>을 지원하는것 까지 동일</a:t>
            </a:r>
          </a:p>
        </p:txBody>
      </p:sp>
    </p:spTree>
    <p:extLst>
      <p:ext uri="{BB962C8B-B14F-4D97-AF65-F5344CB8AC3E}">
        <p14:creationId xmlns:p14="http://schemas.microsoft.com/office/powerpoint/2010/main" val="265903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AFBE7-ADE8-E5FC-38BA-5DC036E00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/>
              <a:t>사용자 정보 수정 </a:t>
            </a:r>
            <a:r>
              <a:rPr lang="en-US" altLang="ko-KR" sz="4000"/>
              <a:t>UserUpdateRequestDto </a:t>
            </a:r>
            <a:r>
              <a:rPr lang="ko-KR" altLang="en-US" sz="4000"/>
              <a:t>작성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ECFD170D-ACF5-E3D5-B731-7256F7F0B691}"/>
              </a:ext>
            </a:extLst>
          </p:cNvPr>
          <p:cNvGrpSpPr/>
          <p:nvPr/>
        </p:nvGrpSpPr>
        <p:grpSpPr>
          <a:xfrm>
            <a:off x="1097280" y="1826570"/>
            <a:ext cx="2838846" cy="4667901"/>
            <a:chOff x="1097280" y="1826570"/>
            <a:chExt cx="2838846" cy="466790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992CD89-C795-7096-C768-D9B0B5B5F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26570"/>
              <a:ext cx="2838846" cy="466790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B4B23A7-BDF1-9B3F-B0BC-2EB13E332382}"/>
                </a:ext>
              </a:extLst>
            </p:cNvPr>
            <p:cNvSpPr/>
            <p:nvPr/>
          </p:nvSpPr>
          <p:spPr>
            <a:xfrm>
              <a:off x="1516405" y="5261957"/>
              <a:ext cx="1778924" cy="2078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145BC55-A2DF-2B5D-E166-77EF6508B986}"/>
              </a:ext>
            </a:extLst>
          </p:cNvPr>
          <p:cNvSpPr txBox="1"/>
          <p:nvPr/>
        </p:nvSpPr>
        <p:spPr>
          <a:xfrm>
            <a:off x="4087784" y="1826570"/>
            <a:ext cx="2986347" cy="45952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package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com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altLang="ko-KR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elasticsearch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UserUpdateRequestDto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05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isActive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Long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getAge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Boolean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getIsActive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isActive</a:t>
            </a: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1425"/>
              </a:lnSpc>
              <a:buNone/>
            </a:pPr>
            <a:br>
              <a:rPr lang="en-US" altLang="ko-KR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ko-KR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19519-CA98-BD1A-F698-5E4D873F0BA3}"/>
              </a:ext>
            </a:extLst>
          </p:cNvPr>
          <p:cNvSpPr txBox="1"/>
          <p:nvPr/>
        </p:nvSpPr>
        <p:spPr>
          <a:xfrm>
            <a:off x="7140633" y="1826570"/>
            <a:ext cx="37989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특정 정보만을 수정할 수 있는 필드 값을 설정한다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9515670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20A1E4-71FB-B51F-350F-6A9382E25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사용자 정보 수정 </a:t>
            </a:r>
            <a:r>
              <a:rPr lang="en-US" altLang="ko-KR"/>
              <a:t>API </a:t>
            </a:r>
            <a:r>
              <a:rPr lang="ko-KR" altLang="en-US"/>
              <a:t>작성 </a:t>
            </a:r>
            <a:r>
              <a:rPr lang="en-US" altLang="ko-KR"/>
              <a:t>- Controller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4B9E56-235C-12F8-E5CC-4000810395C9}"/>
              </a:ext>
            </a:extLst>
          </p:cNvPr>
          <p:cNvSpPr txBox="1"/>
          <p:nvPr/>
        </p:nvSpPr>
        <p:spPr>
          <a:xfrm>
            <a:off x="4137660" y="1826570"/>
            <a:ext cx="6562873" cy="241771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PutMapping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"/{id}"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sz="11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UserDocument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userUpdate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PathVariable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@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RequestBody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UserUpdateRequestDto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userUpdateRequestDto</a:t>
            </a:r>
            <a:endParaRPr lang="en-US" altLang="ko-KR" sz="11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){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UserDocument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findUser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userDocumentRepository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findById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orElseThrow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(() </a:t>
            </a:r>
            <a:r>
              <a:rPr lang="en-US" altLang="ko-KR" sz="11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IllegalArgumentException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"User not found"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findUser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setName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userUpdateRequestDto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getName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findUser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setAge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userUpdateRequestDto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getAge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findUser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setIsActive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userUpdateRequestDto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getIsActive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sz="11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1100" b="0">
                <a:solidFill>
                  <a:srgbClr val="79C0FF"/>
                </a:solidFill>
                <a:effectLst/>
                <a:latin typeface="Consolas" panose="020B0609020204030204" pitchFamily="49" charset="0"/>
              </a:rPr>
              <a:t>userDocumentRepository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sz="11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sz="11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findUser</a:t>
            </a: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ts val="1425"/>
              </a:lnSpc>
              <a:buNone/>
            </a:pPr>
            <a:r>
              <a:rPr lang="en-US" altLang="ko-KR" sz="11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5A9A95A3-6A1E-B457-9127-A244CD92077C}"/>
              </a:ext>
            </a:extLst>
          </p:cNvPr>
          <p:cNvGrpSpPr/>
          <p:nvPr/>
        </p:nvGrpSpPr>
        <p:grpSpPr>
          <a:xfrm>
            <a:off x="1097280" y="1826570"/>
            <a:ext cx="2838846" cy="4667901"/>
            <a:chOff x="1097280" y="1826570"/>
            <a:chExt cx="2838846" cy="4667901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665B13DB-8658-A061-310B-20152326A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97280" y="1826570"/>
              <a:ext cx="2838846" cy="4667901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05C9E28-1F49-AEEC-6D35-C6E590418FD3}"/>
                </a:ext>
              </a:extLst>
            </p:cNvPr>
            <p:cNvSpPr/>
            <p:nvPr/>
          </p:nvSpPr>
          <p:spPr>
            <a:xfrm>
              <a:off x="1491466" y="4414059"/>
              <a:ext cx="1778924" cy="2078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916D26C-8858-172A-1C33-DA02F4DA82F9}"/>
              </a:ext>
            </a:extLst>
          </p:cNvPr>
          <p:cNvSpPr txBox="1"/>
          <p:nvPr/>
        </p:nvSpPr>
        <p:spPr>
          <a:xfrm>
            <a:off x="4137660" y="4414059"/>
            <a:ext cx="755003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수정할 사용자를 찾고 전달받은 </a:t>
            </a:r>
            <a:r>
              <a:rPr lang="en-US" altLang="ko-KR" sz="1400"/>
              <a:t>DTO </a:t>
            </a:r>
            <a:r>
              <a:rPr lang="ko-KR" altLang="en-US" sz="1400"/>
              <a:t>로 값을 덮어씌운다</a:t>
            </a:r>
            <a:r>
              <a:rPr lang="en-US" altLang="ko-KR" sz="1400"/>
              <a:t>.</a:t>
            </a:r>
          </a:p>
          <a:p>
            <a:r>
              <a:rPr lang="ko-KR" altLang="en-US" sz="1400"/>
              <a:t>통상 사용했던 </a:t>
            </a:r>
            <a:r>
              <a:rPr lang="en-US" altLang="ko-KR" sz="1400" b="1">
                <a:solidFill>
                  <a:srgbClr val="FF0000"/>
                </a:solidFill>
              </a:rPr>
              <a:t>JPA</a:t>
            </a:r>
            <a:r>
              <a:rPr lang="ko-KR" altLang="en-US" sz="1400" b="1">
                <a:solidFill>
                  <a:srgbClr val="FF0000"/>
                </a:solidFill>
              </a:rPr>
              <a:t>와 별다를게 없다</a:t>
            </a:r>
            <a:r>
              <a:rPr lang="en-US" altLang="ko-KR" sz="1400" b="1">
                <a:solidFill>
                  <a:srgbClr val="FF0000"/>
                </a:solidFill>
              </a:rPr>
              <a:t>. </a:t>
            </a:r>
          </a:p>
          <a:p>
            <a:br>
              <a:rPr lang="en-US" altLang="ko-KR" sz="1400"/>
            </a:br>
            <a:r>
              <a:rPr lang="ko-KR" altLang="en-US" sz="1400"/>
              <a:t>다만 </a:t>
            </a:r>
            <a:r>
              <a:rPr lang="en-US" altLang="ko-KR" sz="1400"/>
              <a:t>JPA</a:t>
            </a:r>
            <a:r>
              <a:rPr lang="ko-KR" altLang="en-US" sz="1400"/>
              <a:t>는 </a:t>
            </a:r>
            <a:r>
              <a:rPr lang="en-US" altLang="ko-KR" sz="1400"/>
              <a:t>Service</a:t>
            </a:r>
            <a:r>
              <a:rPr lang="ko-KR" altLang="en-US" sz="1400"/>
              <a:t>단에서 변경감지에 의한 업데이트를 수행하나 </a:t>
            </a:r>
            <a:endParaRPr lang="en-US" altLang="ko-KR" sz="1400"/>
          </a:p>
          <a:p>
            <a:r>
              <a:rPr lang="en-US" altLang="ko-KR" sz="1400" b="1">
                <a:solidFill>
                  <a:srgbClr val="FF0000"/>
                </a:solidFill>
              </a:rPr>
              <a:t>ElasticSearchRepository</a:t>
            </a:r>
            <a:r>
              <a:rPr lang="ko-KR" altLang="en-US" sz="1400" b="1">
                <a:solidFill>
                  <a:srgbClr val="FF0000"/>
                </a:solidFill>
              </a:rPr>
              <a:t> 를 상속받은 엔티티에서 </a:t>
            </a:r>
            <a:r>
              <a:rPr lang="en-US" altLang="ko-KR" sz="1400" b="1">
                <a:solidFill>
                  <a:srgbClr val="FF0000"/>
                </a:solidFill>
              </a:rPr>
              <a:t>save </a:t>
            </a:r>
            <a:r>
              <a:rPr lang="ko-KR" altLang="en-US" sz="1400" b="1">
                <a:solidFill>
                  <a:srgbClr val="FF0000"/>
                </a:solidFill>
              </a:rPr>
              <a:t>메서드를 통한 저장은 필수이다</a:t>
            </a:r>
            <a:r>
              <a:rPr lang="en-US" altLang="ko-KR" sz="1400"/>
              <a:t>.</a:t>
            </a:r>
            <a:r>
              <a:rPr lang="ko-KR" altLang="en-US" sz="14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12709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890701-EC47-73B7-5342-C2FD36E33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사용자 정보 삭제 </a:t>
            </a:r>
            <a:r>
              <a:rPr lang="en-US" altLang="ko-KR"/>
              <a:t>API</a:t>
            </a:r>
            <a:r>
              <a:rPr lang="ko-KR" altLang="en-US"/>
              <a:t>작성 </a:t>
            </a:r>
            <a:r>
              <a:rPr lang="en-US" altLang="ko-KR"/>
              <a:t>- Controller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FA22DB2-8A29-E438-5534-97EEC8417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6570"/>
            <a:ext cx="2838846" cy="466790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5347A843-816E-C694-0303-3E9B54017B46}"/>
              </a:ext>
            </a:extLst>
          </p:cNvPr>
          <p:cNvSpPr/>
          <p:nvPr/>
        </p:nvSpPr>
        <p:spPr>
          <a:xfrm>
            <a:off x="1491466" y="4414059"/>
            <a:ext cx="1778924" cy="2078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5EF1A7B-E65E-3F08-00CB-D198712EB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169" y="1826570"/>
            <a:ext cx="6506483" cy="13527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27F202-2C3C-52DF-5B44-AF226F24F895}"/>
              </a:ext>
            </a:extLst>
          </p:cNvPr>
          <p:cNvSpPr txBox="1"/>
          <p:nvPr/>
        </p:nvSpPr>
        <p:spPr>
          <a:xfrm>
            <a:off x="4156169" y="3291840"/>
            <a:ext cx="74151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userRepository.deleteById(id) </a:t>
            </a:r>
            <a:r>
              <a:rPr lang="ko-KR" altLang="en-US" sz="1400"/>
              <a:t>로도 삭제가 가능하나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ko-KR" altLang="en-US" sz="1400"/>
              <a:t>사용자가 없을때</a:t>
            </a:r>
            <a:r>
              <a:rPr lang="en-US" altLang="ko-KR" sz="1400"/>
              <a:t>, </a:t>
            </a:r>
            <a:r>
              <a:rPr lang="ko-KR" altLang="en-US" sz="1400"/>
              <a:t>사용자가 없음을 알리는 코드는 실무적으로 필요하다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r>
              <a:rPr lang="ko-KR" altLang="en-US" sz="1400"/>
              <a:t>일반적인 </a:t>
            </a:r>
            <a:r>
              <a:rPr lang="en-US" altLang="ko-KR" sz="1400"/>
              <a:t>JPA</a:t>
            </a:r>
            <a:r>
              <a:rPr lang="ko-KR" altLang="en-US" sz="1400"/>
              <a:t>와 사용법은 동일함</a:t>
            </a:r>
            <a:r>
              <a:rPr lang="en-US" altLang="ko-KR" sz="1400"/>
              <a:t>.</a:t>
            </a:r>
          </a:p>
          <a:p>
            <a:endParaRPr lang="en-US" altLang="ko-KR" sz="1400"/>
          </a:p>
          <a:p>
            <a:endParaRPr lang="en-US" altLang="ko-KR" sz="1400"/>
          </a:p>
          <a:p>
            <a:endParaRPr lang="en-US" altLang="ko-KR" sz="1400"/>
          </a:p>
          <a:p>
            <a:r>
              <a:rPr lang="en-US" altLang="ko-KR" sz="1400"/>
              <a:t>※ </a:t>
            </a:r>
            <a:r>
              <a:rPr lang="ko-KR" altLang="en-US" sz="1400"/>
              <a:t>실제 서비스에서는 </a:t>
            </a:r>
            <a:r>
              <a:rPr lang="en-US" altLang="ko-KR" sz="1400"/>
              <a:t>RDS</a:t>
            </a:r>
            <a:r>
              <a:rPr lang="ko-KR" altLang="en-US" sz="1400"/>
              <a:t>와 </a:t>
            </a:r>
            <a:r>
              <a:rPr lang="en-US" altLang="ko-KR" sz="1400"/>
              <a:t>ElasticSearch</a:t>
            </a:r>
            <a:r>
              <a:rPr lang="ko-KR" altLang="en-US" sz="1400"/>
              <a:t>를 함께 사용한다</a:t>
            </a:r>
            <a:r>
              <a:rPr lang="en-US" altLang="ko-KR" sz="1400"/>
              <a:t>. </a:t>
            </a:r>
            <a:r>
              <a:rPr lang="ko-KR" altLang="en-US" sz="1400"/>
              <a:t>나중에 강의에서 알아가도록 하자</a:t>
            </a:r>
            <a:endParaRPr lang="en-US" altLang="ko-KR" sz="1400"/>
          </a:p>
        </p:txBody>
      </p:sp>
    </p:spTree>
    <p:extLst>
      <p:ext uri="{BB962C8B-B14F-4D97-AF65-F5344CB8AC3E}">
        <p14:creationId xmlns:p14="http://schemas.microsoft.com/office/powerpoint/2010/main" val="2069355449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66</TotalTime>
  <Words>542</Words>
  <Application>Microsoft Office PowerPoint</Application>
  <PresentationFormat>와이드스크린</PresentationFormat>
  <Paragraphs>114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Calibri</vt:lpstr>
      <vt:lpstr>Calibri Light</vt:lpstr>
      <vt:lpstr>Consolas</vt:lpstr>
      <vt:lpstr>추억</vt:lpstr>
      <vt:lpstr>SpringBoot &amp; ElasticSearch</vt:lpstr>
      <vt:lpstr>Spring Boot ElasticSeach 애플리케이션 생성</vt:lpstr>
      <vt:lpstr>application.yml 설정</vt:lpstr>
      <vt:lpstr>UserDocument 작성 - (JPA로 치면 Entity)</vt:lpstr>
      <vt:lpstr>UserDocumentRepository - (JPA로 치면 JpaRepository)</vt:lpstr>
      <vt:lpstr>UserCreateRequestDto - 사용자 요청 등록 DTO작성</vt:lpstr>
      <vt:lpstr>사용자 등록 API 작성 - Controller</vt:lpstr>
      <vt:lpstr>사용자 전체 조회 / 개별 조회 API 작성 - Controller</vt:lpstr>
      <vt:lpstr>사용자 정보 수정 UserUpdateRequestDto 작성</vt:lpstr>
      <vt:lpstr>사용자 정보 수정 API 작성 - Controller</vt:lpstr>
      <vt:lpstr>사용자 정보 삭제 API작성 - Controller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27</cp:revision>
  <dcterms:created xsi:type="dcterms:W3CDTF">2026-09-01T12:18:55Z</dcterms:created>
  <dcterms:modified xsi:type="dcterms:W3CDTF">2026-09-01T13:24:57Z</dcterms:modified>
</cp:coreProperties>
</file>