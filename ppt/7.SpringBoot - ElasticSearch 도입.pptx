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8" r:id="rId3"/>
    <p:sldId id="259" r:id="rId4"/>
    <p:sldId id="262" r:id="rId5"/>
    <p:sldId id="263" r:id="rId6"/>
    <p:sldId id="260" r:id="rId7"/>
    <p:sldId id="261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7105650" cy="10236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C2F98E64-5795-462E-9CF1-B84C17EF0C6F}">
          <p14:sldIdLst>
            <p14:sldId id="256"/>
          </p14:sldIdLst>
        </p14:section>
        <p14:section name="일반적인 인프라 구성" id="{C0604478-057F-4822-B67A-D8C63173EE59}">
          <p14:sldIdLst>
            <p14:sldId id="258"/>
          </p14:sldIdLst>
        </p14:section>
        <p14:section name="실습 인프라 구성" id="{4ED9A934-FE31-43AA-9C4F-3446672443D3}">
          <p14:sldIdLst>
            <p14:sldId id="259"/>
          </p14:sldIdLst>
        </p14:section>
        <p14:section name="애플리케이션 실행 확인" id="{22B18B2B-1CD5-4A38-B3FB-ACACAD1F6F67}">
          <p14:sldIdLst>
            <p14:sldId id="262"/>
            <p14:sldId id="263"/>
          </p14:sldIdLst>
        </p14:section>
        <p14:section name="요구사항 정리" id="{88D32668-7964-46F3-901E-6C38E37B159B}">
          <p14:sldIdLst>
            <p14:sldId id="260"/>
            <p14:sldId id="261"/>
            <p14:sldId id="264"/>
            <p14:sldId id="265"/>
            <p14:sldId id="266"/>
            <p14:sldId id="267"/>
            <p14:sldId id="268"/>
          </p14:sldIdLst>
        </p14:section>
        <p14:section name="SpringBoot App ElasticSearch 적용" id="{C7E007AA-E0E6-4D11-907D-812F545908D4}">
          <p14:sldIdLst>
            <p14:sldId id="269"/>
            <p14:sldId id="270"/>
          </p14:sldIdLst>
        </p14:section>
        <p14:section name="상품 등록 및 삭제 기능" id="{F18BDDFD-66E1-4822-B922-01D5AFCD8EF4}">
          <p14:sldIdLst>
            <p14:sldId id="271"/>
            <p14:sldId id="272"/>
            <p14:sldId id="273"/>
            <p14:sldId id="274"/>
          </p14:sldIdLst>
        </p14:section>
        <p14:section name="자동완성기능" id="{5868DABF-4193-423E-BB43-60AE492D52D4}">
          <p14:sldIdLst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0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70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9115" cy="513588"/>
          </a:xfrm>
          <a:prstGeom prst="rect">
            <a:avLst/>
          </a:prstGeom>
        </p:spPr>
        <p:txBody>
          <a:bodyPr vert="horz" lIns="99094" tIns="49547" rIns="99094" bIns="49547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4891" y="0"/>
            <a:ext cx="3079115" cy="513588"/>
          </a:xfrm>
          <a:prstGeom prst="rect">
            <a:avLst/>
          </a:prstGeom>
        </p:spPr>
        <p:txBody>
          <a:bodyPr vert="horz" lIns="99094" tIns="49547" rIns="99094" bIns="49547" rtlCol="0"/>
          <a:lstStyle>
            <a:lvl1pPr algn="r">
              <a:defRPr sz="1300"/>
            </a:lvl1pPr>
          </a:lstStyle>
          <a:p>
            <a:fld id="{EBB39729-CD21-4644-AA86-B8B07B68A2D4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94" tIns="49547" rIns="99094" bIns="4954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565" y="4926171"/>
            <a:ext cx="5684520" cy="4030504"/>
          </a:xfrm>
          <a:prstGeom prst="rect">
            <a:avLst/>
          </a:prstGeom>
        </p:spPr>
        <p:txBody>
          <a:bodyPr vert="horz" lIns="99094" tIns="49547" rIns="99094" bIns="49547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2614"/>
            <a:ext cx="3079115" cy="513587"/>
          </a:xfrm>
          <a:prstGeom prst="rect">
            <a:avLst/>
          </a:prstGeom>
        </p:spPr>
        <p:txBody>
          <a:bodyPr vert="horz" lIns="99094" tIns="49547" rIns="99094" bIns="49547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4891" y="9722614"/>
            <a:ext cx="3079115" cy="513587"/>
          </a:xfrm>
          <a:prstGeom prst="rect">
            <a:avLst/>
          </a:prstGeom>
        </p:spPr>
        <p:txBody>
          <a:bodyPr vert="horz" lIns="99094" tIns="49547" rIns="99094" bIns="49547" rtlCol="0" anchor="b"/>
          <a:lstStyle>
            <a:lvl1pPr algn="r">
              <a:defRPr sz="1300"/>
            </a:lvl1pPr>
          </a:lstStyle>
          <a:p>
            <a:fld id="{99A921DC-1A52-44B0-8895-6C68862008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0105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A921DC-1A52-44B0-8895-6C688620082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2436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2116-9884-49CF-B26E-269C3EFC009F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B3A6E-3842-47E4-B4AB-F77B25ADFB2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2850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2116-9884-49CF-B26E-269C3EFC009F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B3A6E-3842-47E4-B4AB-F77B25ADFB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524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2116-9884-49CF-B26E-269C3EFC009F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B3A6E-3842-47E4-B4AB-F77B25ADFB2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2056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2116-9884-49CF-B26E-269C3EFC009F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B3A6E-3842-47E4-B4AB-F77B25ADFB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2853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2116-9884-49CF-B26E-269C3EFC009F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B3A6E-3842-47E4-B4AB-F77B25ADFB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371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2116-9884-49CF-B26E-269C3EFC009F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B3A6E-3842-47E4-B4AB-F77B25ADFB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3891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2116-9884-49CF-B26E-269C3EFC009F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B3A6E-3842-47E4-B4AB-F77B25ADFB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446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C052116-9884-49CF-B26E-269C3EFC009F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3DB3A6E-3842-47E4-B4AB-F77B25ADFB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4623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2116-9884-49CF-B26E-269C3EFC009F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B3A6E-3842-47E4-B4AB-F77B25ADFB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62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2116-9884-49CF-B26E-269C3EFC009F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B3A6E-3842-47E4-B4AB-F77B25ADFB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4042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2116-9884-49CF-B26E-269C3EFC009F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B3A6E-3842-47E4-B4AB-F77B25ADFB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3784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C052116-9884-49CF-B26E-269C3EFC009F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3DB3A6E-3842-47E4-B4AB-F77B25ADFB2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7558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903F60-778D-F747-9BD4-AC16C92E7C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6000" dirty="0" err="1"/>
              <a:t>SpringBoot</a:t>
            </a:r>
            <a:r>
              <a:rPr lang="en-US" altLang="ko-KR" sz="6000"/>
              <a:t> - ElasticSearch </a:t>
            </a:r>
            <a:r>
              <a:rPr lang="ko-KR" altLang="en-US" sz="6000"/>
              <a:t>도입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384DC03-7ADA-037D-CFBA-D624EE40A4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5020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9C2E94-5341-3ACB-7E5A-A7B6B90AE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인프라 구성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7633C04-AAEA-502B-3042-A64085423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282" y="1851434"/>
            <a:ext cx="5846853" cy="49151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EC8C6B-9C53-290C-D5DA-86BB1F3102AD}"/>
              </a:ext>
            </a:extLst>
          </p:cNvPr>
          <p:cNvSpPr txBox="1"/>
          <p:nvPr/>
        </p:nvSpPr>
        <p:spPr>
          <a:xfrm>
            <a:off x="7398327" y="1851434"/>
            <a:ext cx="3682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일라스틱서치 도입시 </a:t>
            </a:r>
            <a:r>
              <a:rPr lang="en-US" altLang="ko-KR" sz="1200"/>
              <a:t>DB</a:t>
            </a:r>
            <a:r>
              <a:rPr lang="ko-KR" altLang="en-US" sz="1200"/>
              <a:t>와 일라스틱서치에 등록된 데이터의 동기화 필요</a:t>
            </a:r>
            <a:r>
              <a:rPr lang="en-US" altLang="ko-KR" sz="1200"/>
              <a:t>. </a:t>
            </a:r>
            <a:r>
              <a:rPr lang="ko-KR" altLang="en-US" sz="120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979980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E79FE0-6C0C-F3B5-98E4-3DA7076DB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실습 인프라 구성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6690660-159A-FFE6-C0CC-6426F9BCF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830" y="2066065"/>
            <a:ext cx="5837280" cy="45053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12C8B7-D21B-EEE8-5C13-9555EBE8D39E}"/>
              </a:ext>
            </a:extLst>
          </p:cNvPr>
          <p:cNvSpPr txBox="1"/>
          <p:nvPr/>
        </p:nvSpPr>
        <p:spPr>
          <a:xfrm>
            <a:off x="6354862" y="4576508"/>
            <a:ext cx="557390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실습 인프라 구성도 실제 서비스에 도입 가능</a:t>
            </a:r>
            <a:r>
              <a:rPr lang="en-US" altLang="ko-KR" sz="1200"/>
              <a:t>.</a:t>
            </a:r>
            <a:br>
              <a:rPr lang="en-US" altLang="ko-KR" sz="1200"/>
            </a:br>
            <a:endParaRPr lang="en-US" altLang="ko-KR" sz="1200"/>
          </a:p>
          <a:p>
            <a:r>
              <a:rPr lang="en-US" altLang="ko-KR" sz="1200"/>
              <a:t>Trade Off</a:t>
            </a:r>
            <a:br>
              <a:rPr lang="en-US" altLang="ko-KR" sz="1200"/>
            </a:br>
            <a:r>
              <a:rPr lang="ko-KR" altLang="en-US" sz="1200"/>
              <a:t>장점 </a:t>
            </a:r>
            <a:r>
              <a:rPr lang="en-US" altLang="ko-KR" sz="1200"/>
              <a:t>: Kafka </a:t>
            </a:r>
            <a:r>
              <a:rPr lang="ko-KR" altLang="en-US" sz="1200"/>
              <a:t>서버 비용을 아낄수 있음</a:t>
            </a:r>
            <a:r>
              <a:rPr lang="en-US" altLang="ko-KR" sz="1200"/>
              <a:t>.</a:t>
            </a:r>
          </a:p>
          <a:p>
            <a:r>
              <a:rPr lang="ko-KR" altLang="en-US" sz="1200"/>
              <a:t>단점 </a:t>
            </a:r>
            <a:r>
              <a:rPr lang="en-US" altLang="ko-KR" sz="1200"/>
              <a:t>: - Transaction</a:t>
            </a:r>
            <a:r>
              <a:rPr lang="ko-KR" altLang="en-US" sz="1200"/>
              <a:t>의 관리 범위는 </a:t>
            </a:r>
            <a:r>
              <a:rPr lang="en-US" altLang="ko-KR" sz="1200"/>
              <a:t>DB</a:t>
            </a:r>
            <a:r>
              <a:rPr lang="ko-KR" altLang="en-US" sz="1200"/>
              <a:t>까지며</a:t>
            </a:r>
            <a:r>
              <a:rPr lang="en-US" altLang="ko-KR" sz="1200"/>
              <a:t>, ElasticSearch</a:t>
            </a:r>
            <a:r>
              <a:rPr lang="ko-KR" altLang="en-US" sz="1200"/>
              <a:t>의 </a:t>
            </a:r>
            <a:r>
              <a:rPr lang="en-US" altLang="ko-KR" sz="1200"/>
              <a:t>Rollback</a:t>
            </a:r>
            <a:r>
              <a:rPr lang="ko-KR" altLang="en-US" sz="1200"/>
              <a:t>은 불가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           </a:t>
            </a:r>
            <a:r>
              <a:rPr lang="ko-KR" altLang="en-US" sz="1200"/>
              <a:t>장애시</a:t>
            </a:r>
            <a:r>
              <a:rPr lang="en-US" altLang="ko-KR" sz="1200"/>
              <a:t>, DB Rollback</a:t>
            </a:r>
            <a:r>
              <a:rPr lang="ko-KR" altLang="en-US" sz="1200"/>
              <a:t>과 함께 </a:t>
            </a:r>
            <a:r>
              <a:rPr lang="en-US" altLang="ko-KR" sz="1200"/>
              <a:t>ElasticSearch</a:t>
            </a:r>
            <a:r>
              <a:rPr lang="ko-KR" altLang="en-US" sz="1200"/>
              <a:t>의 처리를 고려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            - Kafka</a:t>
            </a:r>
            <a:r>
              <a:rPr lang="ko-KR" altLang="en-US" sz="1200"/>
              <a:t>는 장애시 </a:t>
            </a:r>
            <a:r>
              <a:rPr lang="en-US" altLang="ko-KR" sz="1200"/>
              <a:t>dlt</a:t>
            </a:r>
            <a:r>
              <a:rPr lang="ko-KR" altLang="en-US" sz="1200"/>
              <a:t>에 의해 재처리 시도 및 기록에 남아 수동처리가 가능</a:t>
            </a:r>
            <a:br>
              <a:rPr lang="en-US" altLang="ko-KR" sz="1200"/>
            </a:br>
            <a:r>
              <a:rPr lang="en-US" altLang="ko-KR" sz="1200"/>
              <a:t>            - ElasticSearch</a:t>
            </a:r>
            <a:r>
              <a:rPr lang="ko-KR" altLang="en-US" sz="1200"/>
              <a:t>와 </a:t>
            </a:r>
            <a:r>
              <a:rPr lang="en-US" altLang="ko-KR" sz="1200"/>
              <a:t>DB </a:t>
            </a:r>
            <a:r>
              <a:rPr lang="ko-KR" altLang="en-US" sz="1200"/>
              <a:t>동기화 부분은 사용자가 알필요가 없는 부분으로 </a:t>
            </a:r>
            <a:r>
              <a:rPr lang="en-US" altLang="ko-KR" sz="1200"/>
              <a:t>Kafka </a:t>
            </a:r>
            <a:br>
              <a:rPr lang="en-US" altLang="ko-KR" sz="1200"/>
            </a:br>
            <a:r>
              <a:rPr lang="en-US" altLang="ko-KR" sz="1200"/>
              <a:t>           </a:t>
            </a:r>
            <a:r>
              <a:rPr lang="ko-KR" altLang="en-US" sz="1200"/>
              <a:t>도입을 안할 시 동기화 자원을 포함하게 되어 </a:t>
            </a:r>
            <a:r>
              <a:rPr lang="en-US" altLang="ko-KR" sz="1200"/>
              <a:t>API</a:t>
            </a:r>
            <a:r>
              <a:rPr lang="ko-KR" altLang="en-US" sz="1200"/>
              <a:t>의 응답속도가 느려짐</a:t>
            </a:r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9E36C16-FBED-726A-D1D0-89AD3B877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862" y="2066065"/>
            <a:ext cx="3130509" cy="235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147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C03418-1ED7-1CA5-A370-D6E97C455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DB docker container </a:t>
            </a:r>
            <a:r>
              <a:rPr lang="ko-KR" altLang="en-US"/>
              <a:t>생성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AAB710-815C-E236-9487-1E66F09E5820}"/>
              </a:ext>
            </a:extLst>
          </p:cNvPr>
          <p:cNvSpPr txBox="1"/>
          <p:nvPr/>
        </p:nvSpPr>
        <p:spPr>
          <a:xfrm>
            <a:off x="1028701" y="1953459"/>
            <a:ext cx="609738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docker run -d \</a:t>
            </a:r>
          </a:p>
          <a:p>
            <a:r>
              <a:rPr lang="ko-KR" altLang="en-US"/>
              <a:t>  --name </a:t>
            </a:r>
            <a:r>
              <a:rPr lang="en-US" altLang="ko-KR"/>
              <a:t>elasticsearch_db </a:t>
            </a:r>
            <a:r>
              <a:rPr lang="ko-KR" altLang="en-US"/>
              <a:t>\</a:t>
            </a:r>
          </a:p>
          <a:p>
            <a:r>
              <a:rPr lang="ko-KR" altLang="en-US"/>
              <a:t>  -e MYSQL_ROOT_PASSWORD=password \</a:t>
            </a:r>
          </a:p>
          <a:p>
            <a:r>
              <a:rPr lang="ko-KR" altLang="en-US"/>
              <a:t>  -e MYSQL_DATABASE=</a:t>
            </a:r>
            <a:r>
              <a:rPr lang="en-US" altLang="ko-KR"/>
              <a:t>coupang</a:t>
            </a:r>
            <a:r>
              <a:rPr lang="ko-KR" altLang="en-US"/>
              <a:t> \</a:t>
            </a:r>
          </a:p>
          <a:p>
            <a:r>
              <a:rPr lang="ko-KR" altLang="en-US"/>
              <a:t>  -e MYSQL_USER=</a:t>
            </a:r>
            <a:r>
              <a:rPr lang="en-US" altLang="ko-KR"/>
              <a:t>elastic</a:t>
            </a:r>
            <a:r>
              <a:rPr lang="ko-KR" altLang="en-US"/>
              <a:t> \</a:t>
            </a:r>
          </a:p>
          <a:p>
            <a:r>
              <a:rPr lang="ko-KR" altLang="en-US"/>
              <a:t>  -e MYSQL_PASSWORD=password \</a:t>
            </a:r>
          </a:p>
          <a:p>
            <a:r>
              <a:rPr lang="ko-KR" altLang="en-US"/>
              <a:t>  -p 33</a:t>
            </a:r>
            <a:r>
              <a:rPr lang="en-US" altLang="ko-KR"/>
              <a:t>25</a:t>
            </a:r>
            <a:r>
              <a:rPr lang="ko-KR" altLang="en-US"/>
              <a:t>:3306 mysql:</a:t>
            </a:r>
            <a:r>
              <a:rPr lang="en-US" altLang="ko-KR"/>
              <a:t>latest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96227C-E172-2F7F-D0C3-8D3C924B355E}"/>
              </a:ext>
            </a:extLst>
          </p:cNvPr>
          <p:cNvSpPr txBox="1"/>
          <p:nvPr/>
        </p:nvSpPr>
        <p:spPr>
          <a:xfrm>
            <a:off x="5683828" y="1953459"/>
            <a:ext cx="538041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docker run -d </a:t>
            </a:r>
            <a:r>
              <a:rPr lang="en-US" altLang="ko-KR"/>
              <a:t>^</a:t>
            </a:r>
            <a:endParaRPr lang="ko-KR" altLang="en-US"/>
          </a:p>
          <a:p>
            <a:r>
              <a:rPr lang="ko-KR" altLang="en-US"/>
              <a:t>  --name </a:t>
            </a:r>
            <a:r>
              <a:rPr lang="en-US" altLang="ko-KR"/>
              <a:t>elasticsearch_db ^</a:t>
            </a:r>
            <a:endParaRPr lang="ko-KR" altLang="en-US"/>
          </a:p>
          <a:p>
            <a:r>
              <a:rPr lang="ko-KR" altLang="en-US"/>
              <a:t>  -e MYSQL_ROOT_PASSWORD=password </a:t>
            </a:r>
            <a:r>
              <a:rPr lang="en-US" altLang="ko-KR"/>
              <a:t>^</a:t>
            </a:r>
            <a:endParaRPr lang="ko-KR" altLang="en-US"/>
          </a:p>
          <a:p>
            <a:r>
              <a:rPr lang="ko-KR" altLang="en-US"/>
              <a:t>  -e MYSQL_DATABASE=</a:t>
            </a:r>
            <a:r>
              <a:rPr lang="en-US" altLang="ko-KR"/>
              <a:t>coupang</a:t>
            </a:r>
            <a:r>
              <a:rPr lang="ko-KR" altLang="en-US"/>
              <a:t> </a:t>
            </a:r>
            <a:r>
              <a:rPr lang="en-US" altLang="ko-KR"/>
              <a:t>^</a:t>
            </a:r>
            <a:endParaRPr lang="ko-KR" altLang="en-US"/>
          </a:p>
          <a:p>
            <a:r>
              <a:rPr lang="ko-KR" altLang="en-US"/>
              <a:t>  -e MYSQL_USER=</a:t>
            </a:r>
            <a:r>
              <a:rPr lang="en-US" altLang="ko-KR"/>
              <a:t>elastic</a:t>
            </a:r>
            <a:r>
              <a:rPr lang="ko-KR" altLang="en-US"/>
              <a:t> </a:t>
            </a:r>
            <a:r>
              <a:rPr lang="en-US" altLang="ko-KR"/>
              <a:t>^</a:t>
            </a:r>
            <a:endParaRPr lang="ko-KR" altLang="en-US"/>
          </a:p>
          <a:p>
            <a:r>
              <a:rPr lang="ko-KR" altLang="en-US"/>
              <a:t>  -e MYSQL_PASSWORD=password </a:t>
            </a:r>
            <a:r>
              <a:rPr lang="en-US" altLang="ko-KR"/>
              <a:t>^</a:t>
            </a:r>
            <a:endParaRPr lang="ko-KR" altLang="en-US"/>
          </a:p>
          <a:p>
            <a:r>
              <a:rPr lang="ko-KR" altLang="en-US"/>
              <a:t>  -p 33</a:t>
            </a:r>
            <a:r>
              <a:rPr lang="en-US" altLang="ko-KR"/>
              <a:t>25</a:t>
            </a:r>
            <a:r>
              <a:rPr lang="ko-KR" altLang="en-US"/>
              <a:t>:3306 mysql:</a:t>
            </a:r>
            <a:r>
              <a:rPr lang="en-US" altLang="ko-KR"/>
              <a:t>latest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1399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383610-5647-6B60-6F1F-DCD8B38D2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application.yml </a:t>
            </a:r>
            <a:r>
              <a:rPr lang="ko-KR" altLang="en-US"/>
              <a:t>에 </a:t>
            </a:r>
            <a:r>
              <a:rPr lang="en-US" altLang="ko-KR"/>
              <a:t>DB </a:t>
            </a:r>
            <a:r>
              <a:rPr lang="ko-KR" altLang="en-US"/>
              <a:t>연결정보 수정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E14881D-8497-4BBA-DDF1-A1E77BCA3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20" y="2478332"/>
            <a:ext cx="4334480" cy="217200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3DA6BCA-EB69-A148-5750-CF88E995B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920" y="1898267"/>
            <a:ext cx="8916644" cy="4191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08603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557870-131A-4E3F-3AE2-03D648A68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요구 사항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F4D0115-6256-4279-61FA-5056D7B34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77" y="1891318"/>
            <a:ext cx="5853123" cy="420191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B87653D-ABFD-9984-15A4-6CDB079ED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927" y="1806266"/>
            <a:ext cx="5745840" cy="3245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393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8FB29B-EF38-29B1-C783-3F387150C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/>
              <a:t>요구 사항에 맞는 </a:t>
            </a:r>
            <a:r>
              <a:rPr lang="en-US" altLang="ko-KR" sz="3600"/>
              <a:t>Kibana</a:t>
            </a:r>
            <a:r>
              <a:rPr lang="ko-KR" altLang="en-US" sz="3600"/>
              <a:t> 쿼리 작성 </a:t>
            </a:r>
            <a:r>
              <a:rPr lang="en-US" altLang="ko-KR" sz="3600"/>
              <a:t>-1</a:t>
            </a:r>
            <a:endParaRPr lang="ko-KR" altLang="en-US" sz="3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257285-952E-56C5-D46D-ACA5F4F43A42}"/>
              </a:ext>
            </a:extLst>
          </p:cNvPr>
          <p:cNvSpPr txBox="1"/>
          <p:nvPr/>
        </p:nvSpPr>
        <p:spPr>
          <a:xfrm>
            <a:off x="1180407" y="1862051"/>
            <a:ext cx="5062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1. </a:t>
            </a:r>
            <a:r>
              <a:rPr lang="ko-KR" altLang="en-US"/>
              <a:t>엔티티에 </a:t>
            </a:r>
            <a:r>
              <a:rPr lang="en-US" altLang="ko-KR"/>
              <a:t>Product</a:t>
            </a:r>
            <a:r>
              <a:rPr lang="ko-KR" altLang="en-US"/>
              <a:t> 에 맞는 </a:t>
            </a:r>
            <a:r>
              <a:rPr lang="en-US" altLang="ko-KR"/>
              <a:t>mapping </a:t>
            </a:r>
            <a:r>
              <a:rPr lang="ko-KR" altLang="en-US"/>
              <a:t>작성하기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EC12CE8-80C9-93F6-89B5-51B2A0050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6199" y="2356074"/>
            <a:ext cx="4204028" cy="3029373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A25378BB-B6C1-0A26-B867-0E1E60DAD407}"/>
              </a:ext>
            </a:extLst>
          </p:cNvPr>
          <p:cNvGrpSpPr/>
          <p:nvPr/>
        </p:nvGrpSpPr>
        <p:grpSpPr>
          <a:xfrm>
            <a:off x="254571" y="2356074"/>
            <a:ext cx="2572109" cy="3029373"/>
            <a:chOff x="254571" y="2356074"/>
            <a:chExt cx="2572109" cy="3029373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D8C1B875-9CBE-79BC-4C5F-7AD69F206E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4571" y="2356074"/>
              <a:ext cx="2572109" cy="3029373"/>
            </a:xfrm>
            <a:prstGeom prst="rect">
              <a:avLst/>
            </a:prstGeom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F0B6E15-081F-D18A-C50F-948D74DAB20D}"/>
                </a:ext>
              </a:extLst>
            </p:cNvPr>
            <p:cNvSpPr/>
            <p:nvPr/>
          </p:nvSpPr>
          <p:spPr>
            <a:xfrm>
              <a:off x="673331" y="5128953"/>
              <a:ext cx="1014153" cy="25649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E9D85BBD-1393-FA0F-22D9-4EE2EB56A4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6248" y="2356074"/>
            <a:ext cx="2867425" cy="361047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62122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AFAFC-B9C7-44C5-FDD9-2BD83D9C7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81B13-A50A-BB70-FDAA-5696D4D4F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/>
              <a:t>요구 사항에 맞는 </a:t>
            </a:r>
            <a:r>
              <a:rPr lang="en-US" altLang="ko-KR" sz="3600"/>
              <a:t>Kibana</a:t>
            </a:r>
            <a:r>
              <a:rPr lang="ko-KR" altLang="en-US" sz="3600"/>
              <a:t> 쿼리 작성 </a:t>
            </a:r>
            <a:r>
              <a:rPr lang="en-US" altLang="ko-KR" sz="3600"/>
              <a:t>-2</a:t>
            </a:r>
            <a:endParaRPr lang="ko-KR" altLang="en-US" sz="3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E63845-EF44-7155-0EF4-F5506976951D}"/>
              </a:ext>
            </a:extLst>
          </p:cNvPr>
          <p:cNvSpPr txBox="1"/>
          <p:nvPr/>
        </p:nvSpPr>
        <p:spPr>
          <a:xfrm>
            <a:off x="523702" y="1837113"/>
            <a:ext cx="48130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요구사항에 맞게 </a:t>
            </a:r>
            <a:r>
              <a:rPr lang="en-US" altLang="ko-KR" sz="1200"/>
              <a:t>elasticsearch</a:t>
            </a:r>
            <a:r>
              <a:rPr lang="ko-KR" altLang="en-US" sz="1200"/>
              <a:t>쿼리 작성하기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05E932C-2DF1-F881-E148-63737ADB5C0D}"/>
              </a:ext>
            </a:extLst>
          </p:cNvPr>
          <p:cNvGrpSpPr/>
          <p:nvPr/>
        </p:nvGrpSpPr>
        <p:grpSpPr>
          <a:xfrm>
            <a:off x="529666" y="2114112"/>
            <a:ext cx="8356639" cy="1996885"/>
            <a:chOff x="529666" y="2114112"/>
            <a:chExt cx="8356639" cy="1996885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53CBB843-7B65-1658-5A95-AFFFFFA52538}"/>
                </a:ext>
              </a:extLst>
            </p:cNvPr>
            <p:cNvGrpSpPr/>
            <p:nvPr/>
          </p:nvGrpSpPr>
          <p:grpSpPr>
            <a:xfrm>
              <a:off x="529666" y="2114112"/>
              <a:ext cx="8356639" cy="1996885"/>
              <a:chOff x="529666" y="2114112"/>
              <a:chExt cx="8356639" cy="1996885"/>
            </a:xfrm>
          </p:grpSpPr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A5383163-55F2-189D-18A7-27F3AFA5E2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29666" y="2114112"/>
                <a:ext cx="4801175" cy="1996885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BB227BAE-416D-00BC-8A3E-D6FB073903F5}"/>
                  </a:ext>
                </a:extLst>
              </p:cNvPr>
              <p:cNvGrpSpPr/>
              <p:nvPr/>
            </p:nvGrpSpPr>
            <p:grpSpPr>
              <a:xfrm>
                <a:off x="739833" y="2474192"/>
                <a:ext cx="8146472" cy="576579"/>
                <a:chOff x="739833" y="2474192"/>
                <a:chExt cx="8146472" cy="576579"/>
              </a:xfrm>
            </p:grpSpPr>
            <p:cxnSp>
              <p:nvCxnSpPr>
                <p:cNvPr id="5" name="직선 화살표 연결선 4">
                  <a:extLst>
                    <a:ext uri="{FF2B5EF4-FFF2-40B4-BE49-F238E27FC236}">
                      <a16:creationId xmlns:a16="http://schemas.microsoft.com/office/drawing/2014/main" id="{397B8FB1-68A6-340A-5E46-8ABEB94575F6}"/>
                    </a:ext>
                  </a:extLst>
                </p:cNvPr>
                <p:cNvCxnSpPr>
                  <a:cxnSpLocks/>
                  <a:stCxn id="10" idx="3"/>
                  <a:endCxn id="6" idx="1"/>
                </p:cNvCxnSpPr>
                <p:nvPr/>
              </p:nvCxnSpPr>
              <p:spPr>
                <a:xfrm flipV="1">
                  <a:off x="4613564" y="2604997"/>
                  <a:ext cx="1088967" cy="208861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FD1E6D7-C22E-BC1D-9E51-20B333F405FF}"/>
                    </a:ext>
                  </a:extLst>
                </p:cNvPr>
                <p:cNvSpPr txBox="1"/>
                <p:nvPr/>
              </p:nvSpPr>
              <p:spPr>
                <a:xfrm>
                  <a:off x="5702531" y="2474192"/>
                  <a:ext cx="3183774" cy="26161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050"/>
                    <a:t>multi_search </a:t>
                  </a:r>
                  <a:r>
                    <a:rPr lang="ko-KR" altLang="en-US" sz="1050"/>
                    <a:t>쿼리 작성</a:t>
                  </a:r>
                  <a:r>
                    <a:rPr lang="en-US" altLang="ko-KR" sz="1050"/>
                    <a:t> (</a:t>
                  </a:r>
                  <a:r>
                    <a:rPr lang="ko-KR" altLang="en-US" sz="1050"/>
                    <a:t>필드별 가중치 적용</a:t>
                  </a:r>
                  <a:r>
                    <a:rPr lang="en-US" altLang="ko-KR" sz="1050"/>
                    <a:t>)</a:t>
                  </a:r>
                  <a:endParaRPr lang="ko-KR" altLang="en-US" sz="1050"/>
                </a:p>
              </p:txBody>
            </p:sp>
            <p:sp>
              <p:nvSpPr>
                <p:cNvPr id="10" name="직사각형 9">
                  <a:extLst>
                    <a:ext uri="{FF2B5EF4-FFF2-40B4-BE49-F238E27FC236}">
                      <a16:creationId xmlns:a16="http://schemas.microsoft.com/office/drawing/2014/main" id="{A19BDCFD-1CEB-2A60-C1B6-FD886C9846AE}"/>
                    </a:ext>
                  </a:extLst>
                </p:cNvPr>
                <p:cNvSpPr/>
                <p:nvPr/>
              </p:nvSpPr>
              <p:spPr>
                <a:xfrm>
                  <a:off x="739833" y="2576945"/>
                  <a:ext cx="3873731" cy="473826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7592561C-7EA9-ABF3-9F83-3F2FE935BCF5}"/>
                </a:ext>
              </a:extLst>
            </p:cNvPr>
            <p:cNvSpPr/>
            <p:nvPr/>
          </p:nvSpPr>
          <p:spPr>
            <a:xfrm>
              <a:off x="739833" y="3050771"/>
              <a:ext cx="4591008" cy="20886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4A9FBDBF-375D-12AD-1C44-44DCEFE08DAB}"/>
                </a:ext>
              </a:extLst>
            </p:cNvPr>
            <p:cNvCxnSpPr>
              <a:cxnSpLocks/>
              <a:stCxn id="23" idx="3"/>
              <a:endCxn id="21" idx="1"/>
            </p:cNvCxnSpPr>
            <p:nvPr/>
          </p:nvCxnSpPr>
          <p:spPr>
            <a:xfrm>
              <a:off x="5330841" y="3470564"/>
              <a:ext cx="693116" cy="311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492D5B2F-DB7C-E594-B352-D28E9E0BEE6E}"/>
              </a:ext>
            </a:extLst>
          </p:cNvPr>
          <p:cNvSpPr txBox="1"/>
          <p:nvPr/>
        </p:nvSpPr>
        <p:spPr>
          <a:xfrm>
            <a:off x="6023957" y="3342876"/>
            <a:ext cx="2685011" cy="2616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50"/>
              <a:t>text </a:t>
            </a:r>
            <a:r>
              <a:rPr lang="ko-KR" altLang="en-US" sz="1050"/>
              <a:t>자료형으로 유연한 검색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C9DABAC-1266-F6FD-1E86-E27FE5AAD1D9}"/>
              </a:ext>
            </a:extLst>
          </p:cNvPr>
          <p:cNvSpPr/>
          <p:nvPr/>
        </p:nvSpPr>
        <p:spPr>
          <a:xfrm>
            <a:off x="739833" y="3259632"/>
            <a:ext cx="4591008" cy="4218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7CAED3-36DF-0728-5AE0-4D3FE6F27CA2}"/>
              </a:ext>
            </a:extLst>
          </p:cNvPr>
          <p:cNvSpPr txBox="1"/>
          <p:nvPr/>
        </p:nvSpPr>
        <p:spPr>
          <a:xfrm>
            <a:off x="6023957" y="2962002"/>
            <a:ext cx="4125883" cy="2539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50"/>
              <a:t>analyzer </a:t>
            </a:r>
            <a:r>
              <a:rPr lang="ko-KR" altLang="en-US" sz="1050"/>
              <a:t>내 토큰 필터에 </a:t>
            </a:r>
            <a:r>
              <a:rPr lang="en-US" altLang="ko-KR" sz="1050"/>
              <a:t>lowercase </a:t>
            </a:r>
            <a:r>
              <a:rPr lang="ko-KR" altLang="en-US" sz="1050"/>
              <a:t>필터 적용 </a:t>
            </a:r>
            <a:r>
              <a:rPr lang="en-US" altLang="ko-KR" sz="1050"/>
              <a:t>- default</a:t>
            </a:r>
            <a:endParaRPr lang="ko-KR" altLang="en-US" sz="1050"/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E01153E5-A149-6C87-79DB-1CF2178B7A6F}"/>
              </a:ext>
            </a:extLst>
          </p:cNvPr>
          <p:cNvCxnSpPr>
            <a:cxnSpLocks/>
            <a:stCxn id="14" idx="3"/>
            <a:endCxn id="37" idx="1"/>
          </p:cNvCxnSpPr>
          <p:nvPr/>
        </p:nvCxnSpPr>
        <p:spPr>
          <a:xfrm flipV="1">
            <a:off x="5330841" y="3088960"/>
            <a:ext cx="693116" cy="662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086284B-5D87-EC0E-A980-55FD6E2949D4}"/>
              </a:ext>
            </a:extLst>
          </p:cNvPr>
          <p:cNvSpPr txBox="1"/>
          <p:nvPr/>
        </p:nvSpPr>
        <p:spPr>
          <a:xfrm>
            <a:off x="6023956" y="3789043"/>
            <a:ext cx="2862349" cy="2539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50"/>
              <a:t>analyzer </a:t>
            </a:r>
            <a:r>
              <a:rPr lang="ko-KR" altLang="en-US" sz="1050"/>
              <a:t>내 </a:t>
            </a:r>
            <a:r>
              <a:rPr lang="en-US" altLang="ko-KR" sz="1050"/>
              <a:t>char_filter</a:t>
            </a:r>
            <a:r>
              <a:rPr lang="ko-KR" altLang="en-US" sz="1050"/>
              <a:t>에 </a:t>
            </a:r>
            <a:r>
              <a:rPr lang="en-US" altLang="ko-KR" sz="1050"/>
              <a:t>html_strip </a:t>
            </a:r>
            <a:r>
              <a:rPr lang="ko-KR" altLang="en-US" sz="1050"/>
              <a:t>필터 적용</a:t>
            </a: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AD0411BC-810D-9014-4600-F4BF956C864D}"/>
              </a:ext>
            </a:extLst>
          </p:cNvPr>
          <p:cNvCxnSpPr>
            <a:cxnSpLocks/>
            <a:stCxn id="46" idx="3"/>
            <a:endCxn id="41" idx="1"/>
          </p:cNvCxnSpPr>
          <p:nvPr/>
        </p:nvCxnSpPr>
        <p:spPr>
          <a:xfrm>
            <a:off x="5330841" y="3810647"/>
            <a:ext cx="693115" cy="1053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201C265-F0E7-35B7-9911-268755AD6AD0}"/>
              </a:ext>
            </a:extLst>
          </p:cNvPr>
          <p:cNvSpPr/>
          <p:nvPr/>
        </p:nvSpPr>
        <p:spPr>
          <a:xfrm>
            <a:off x="739833" y="3702885"/>
            <a:ext cx="4591008" cy="2155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B5E32BC-C262-6153-2DEA-1DC0F30EAE47}"/>
              </a:ext>
            </a:extLst>
          </p:cNvPr>
          <p:cNvSpPr/>
          <p:nvPr/>
        </p:nvSpPr>
        <p:spPr>
          <a:xfrm>
            <a:off x="739833" y="3911080"/>
            <a:ext cx="4591008" cy="2155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CC68C7C-9FE3-806C-5002-C34D65C28B56}"/>
              </a:ext>
            </a:extLst>
          </p:cNvPr>
          <p:cNvSpPr txBox="1"/>
          <p:nvPr/>
        </p:nvSpPr>
        <p:spPr>
          <a:xfrm>
            <a:off x="6023956" y="4084089"/>
            <a:ext cx="4699462" cy="2539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50"/>
              <a:t>nori </a:t>
            </a:r>
            <a:r>
              <a:rPr lang="ko-KR" altLang="en-US" sz="1050"/>
              <a:t>애널라이저 설정 </a:t>
            </a: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585418BC-5F04-3B60-A606-596435BE9791}"/>
              </a:ext>
            </a:extLst>
          </p:cNvPr>
          <p:cNvCxnSpPr>
            <a:stCxn id="47" idx="3"/>
            <a:endCxn id="52" idx="1"/>
          </p:cNvCxnSpPr>
          <p:nvPr/>
        </p:nvCxnSpPr>
        <p:spPr>
          <a:xfrm>
            <a:off x="5330841" y="4018842"/>
            <a:ext cx="693115" cy="1922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F1A165C4-8A52-5031-E530-AEFD766E4550}"/>
              </a:ext>
            </a:extLst>
          </p:cNvPr>
          <p:cNvGrpSpPr/>
          <p:nvPr/>
        </p:nvGrpSpPr>
        <p:grpSpPr>
          <a:xfrm>
            <a:off x="523702" y="4387996"/>
            <a:ext cx="4344006" cy="1887753"/>
            <a:chOff x="407713" y="4400588"/>
            <a:chExt cx="4344006" cy="1887753"/>
          </a:xfrm>
        </p:grpSpPr>
        <p:pic>
          <p:nvPicPr>
            <p:cNvPr id="56" name="그림 55">
              <a:extLst>
                <a:ext uri="{FF2B5EF4-FFF2-40B4-BE49-F238E27FC236}">
                  <a16:creationId xmlns:a16="http://schemas.microsoft.com/office/drawing/2014/main" id="{0EC761A4-C34D-8EA2-0EBC-5CEC129A4C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7713" y="4726023"/>
              <a:ext cx="4344006" cy="1562318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2E15765-9534-9BB9-26E1-8EA2BDEC5399}"/>
                </a:ext>
              </a:extLst>
            </p:cNvPr>
            <p:cNvSpPr txBox="1"/>
            <p:nvPr/>
          </p:nvSpPr>
          <p:spPr>
            <a:xfrm>
              <a:off x="407713" y="4400588"/>
              <a:ext cx="37735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/>
                <a:t>★ 가중치 쿼리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4936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CA6F39-F5E8-D8CB-0452-D18B13838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/>
              <a:t>요구 사항에 맞는 </a:t>
            </a:r>
            <a:r>
              <a:rPr lang="en-US" altLang="ko-KR" sz="3600"/>
              <a:t>Kibana</a:t>
            </a:r>
            <a:r>
              <a:rPr lang="ko-KR" altLang="en-US" sz="3600"/>
              <a:t> 쿼리 작성 </a:t>
            </a:r>
            <a:r>
              <a:rPr lang="en-US" altLang="ko-KR" sz="3600"/>
              <a:t>-2</a:t>
            </a:r>
            <a:endParaRPr lang="ko-KR" altLang="en-US" sz="36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561B73-9034-F7DA-16EC-2B3272055F52}"/>
              </a:ext>
            </a:extLst>
          </p:cNvPr>
          <p:cNvSpPr txBox="1"/>
          <p:nvPr/>
        </p:nvSpPr>
        <p:spPr>
          <a:xfrm>
            <a:off x="1186642" y="1814545"/>
            <a:ext cx="60973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/>
              <a:t>★ 요구사항 검색을 위한 인덱스 자료 수정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6158764-0355-DC0D-5688-27CB06F67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852" y="2153341"/>
            <a:ext cx="3842645" cy="47046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B9501F1-C175-1320-1ED9-C0F05D6D00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40"/>
          <a:stretch>
            <a:fillRect/>
          </a:stretch>
        </p:blipFill>
        <p:spPr>
          <a:xfrm>
            <a:off x="5250938" y="2153340"/>
            <a:ext cx="5389354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778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FDA06-C4DA-C107-91D9-D31B59D4E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ED95E2-5B35-D377-E7B5-92CC2CDE6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/>
              <a:t>요구 사항에 맞는 </a:t>
            </a:r>
            <a:r>
              <a:rPr lang="en-US" altLang="ko-KR" sz="3600"/>
              <a:t>Kibana</a:t>
            </a:r>
            <a:r>
              <a:rPr lang="ko-KR" altLang="en-US" sz="3600"/>
              <a:t> 쿼리 작성 </a:t>
            </a:r>
            <a:r>
              <a:rPr lang="en-US" altLang="ko-KR" sz="3600"/>
              <a:t>-3</a:t>
            </a:r>
            <a:endParaRPr lang="ko-KR" altLang="en-US" sz="360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CF45605-A2E8-4742-7212-6A811434A773}"/>
              </a:ext>
            </a:extLst>
          </p:cNvPr>
          <p:cNvGrpSpPr/>
          <p:nvPr/>
        </p:nvGrpSpPr>
        <p:grpSpPr>
          <a:xfrm>
            <a:off x="199417" y="1884585"/>
            <a:ext cx="4779907" cy="2047335"/>
            <a:chOff x="751409" y="1884585"/>
            <a:chExt cx="6582694" cy="2872942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0E0D265-38C6-7E39-DA96-EABDC3631B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1409" y="1884585"/>
              <a:ext cx="6582694" cy="2191056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84CC8847-6EB2-7181-E7CA-00AB03849C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67106"/>
            <a:stretch>
              <a:fillRect/>
            </a:stretch>
          </p:blipFill>
          <p:spPr>
            <a:xfrm>
              <a:off x="823314" y="4075640"/>
              <a:ext cx="5336418" cy="681887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16B60E8-259C-B51F-F47F-349B6985B375}"/>
              </a:ext>
            </a:extLst>
          </p:cNvPr>
          <p:cNvGrpSpPr/>
          <p:nvPr/>
        </p:nvGrpSpPr>
        <p:grpSpPr>
          <a:xfrm>
            <a:off x="251630" y="1884584"/>
            <a:ext cx="10780744" cy="4079778"/>
            <a:chOff x="251630" y="1884584"/>
            <a:chExt cx="10780744" cy="4079778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AA6ABD3B-4BFA-85BA-2341-E18E4033D320}"/>
                </a:ext>
              </a:extLst>
            </p:cNvPr>
            <p:cNvGrpSpPr/>
            <p:nvPr/>
          </p:nvGrpSpPr>
          <p:grpSpPr>
            <a:xfrm>
              <a:off x="6126480" y="1899478"/>
              <a:ext cx="4905894" cy="4064884"/>
              <a:chOff x="4979324" y="1884585"/>
              <a:chExt cx="4905894" cy="4064884"/>
            </a:xfrm>
          </p:grpSpPr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5DE8D455-1D6E-73C2-5E64-41BA8A725B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79324" y="1884585"/>
                <a:ext cx="4905894" cy="4064884"/>
              </a:xfrm>
              <a:prstGeom prst="rect">
                <a:avLst/>
              </a:prstGeom>
            </p:spPr>
          </p:pic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9066B024-F6CF-7E39-DD9A-8AB884A88ECF}"/>
                  </a:ext>
                </a:extLst>
              </p:cNvPr>
              <p:cNvSpPr/>
              <p:nvPr/>
            </p:nvSpPr>
            <p:spPr>
              <a:xfrm>
                <a:off x="5769033" y="2327564"/>
                <a:ext cx="4116185" cy="148797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A65DF065-682D-D273-EED5-043154427F1F}"/>
                  </a:ext>
                </a:extLst>
              </p:cNvPr>
              <p:cNvSpPr/>
              <p:nvPr/>
            </p:nvSpPr>
            <p:spPr>
              <a:xfrm>
                <a:off x="9069185" y="4197927"/>
                <a:ext cx="816033" cy="23501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98502C1-FA5F-A826-3B0A-0E7A21C0C4E2}"/>
                </a:ext>
              </a:extLst>
            </p:cNvPr>
            <p:cNvSpPr/>
            <p:nvPr/>
          </p:nvSpPr>
          <p:spPr>
            <a:xfrm>
              <a:off x="251630" y="1884584"/>
              <a:ext cx="4727694" cy="134370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0000"/>
                </a:solidFill>
              </a:endParaRPr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694F513C-F7DF-4BD8-6CF9-4B7ECECCF89A}"/>
                </a:ext>
              </a:extLst>
            </p:cNvPr>
            <p:cNvCxnSpPr>
              <a:stCxn id="17" idx="3"/>
              <a:endCxn id="14" idx="1"/>
            </p:cNvCxnSpPr>
            <p:nvPr/>
          </p:nvCxnSpPr>
          <p:spPr>
            <a:xfrm>
              <a:off x="4979324" y="2556438"/>
              <a:ext cx="1936865" cy="53589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02460C8F-E113-4D09-F4D8-73A69D5B3239}"/>
              </a:ext>
            </a:extLst>
          </p:cNvPr>
          <p:cNvGrpSpPr/>
          <p:nvPr/>
        </p:nvGrpSpPr>
        <p:grpSpPr>
          <a:xfrm>
            <a:off x="251630" y="3228291"/>
            <a:ext cx="5735956" cy="3554894"/>
            <a:chOff x="251630" y="3228291"/>
            <a:chExt cx="5735956" cy="3554894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6B3860A1-AC51-D497-CBDB-EA6E5E990B54}"/>
                </a:ext>
              </a:extLst>
            </p:cNvPr>
            <p:cNvSpPr/>
            <p:nvPr/>
          </p:nvSpPr>
          <p:spPr>
            <a:xfrm>
              <a:off x="251630" y="3228291"/>
              <a:ext cx="2425068" cy="77844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ADA2CCE4-E2B9-1BF4-2ECE-8A8C699AF055}"/>
                </a:ext>
              </a:extLst>
            </p:cNvPr>
            <p:cNvGrpSpPr/>
            <p:nvPr/>
          </p:nvGrpSpPr>
          <p:grpSpPr>
            <a:xfrm>
              <a:off x="251630" y="4106486"/>
              <a:ext cx="2001119" cy="2676699"/>
              <a:chOff x="3299308" y="3330998"/>
              <a:chExt cx="2106390" cy="2986673"/>
            </a:xfrm>
          </p:grpSpPr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id="{1D864A16-866C-5526-7782-F814FEC7BF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99308" y="3330998"/>
                <a:ext cx="2106390" cy="2986673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</p:pic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EC5D0335-E5E0-7ED0-5FB0-EF1D78853442}"/>
                  </a:ext>
                </a:extLst>
              </p:cNvPr>
              <p:cNvSpPr/>
              <p:nvPr/>
            </p:nvSpPr>
            <p:spPr>
              <a:xfrm>
                <a:off x="4036691" y="5143578"/>
                <a:ext cx="1308393" cy="820783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A891F444-DA13-CBD3-75EC-B952109C8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757603" y="3306316"/>
              <a:ext cx="3229983" cy="3359182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007D88DE-3E8C-C87D-0913-9C1238878412}"/>
                </a:ext>
              </a:extLst>
            </p:cNvPr>
            <p:cNvSpPr/>
            <p:nvPr/>
          </p:nvSpPr>
          <p:spPr>
            <a:xfrm>
              <a:off x="3505074" y="4447834"/>
              <a:ext cx="1474250" cy="181164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09E3F22F-7AD4-324F-B4AF-87C47419A247}"/>
                </a:ext>
              </a:extLst>
            </p:cNvPr>
            <p:cNvSpPr/>
            <p:nvPr/>
          </p:nvSpPr>
          <p:spPr>
            <a:xfrm>
              <a:off x="3349840" y="3582784"/>
              <a:ext cx="282823" cy="14479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64451D2-C2B6-C8EE-7F85-E2574D1F93FC}"/>
              </a:ext>
            </a:extLst>
          </p:cNvPr>
          <p:cNvSpPr/>
          <p:nvPr/>
        </p:nvSpPr>
        <p:spPr>
          <a:xfrm>
            <a:off x="6317673" y="4588624"/>
            <a:ext cx="5519651" cy="20768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chemeClr val="tx1"/>
                </a:solidFill>
              </a:rPr>
              <a:t>동의어 적용을 위해 </a:t>
            </a:r>
            <a:r>
              <a:rPr lang="en-US" altLang="ko-KR" sz="1050">
                <a:solidFill>
                  <a:schemeClr val="tx1"/>
                </a:solidFill>
              </a:rPr>
              <a:t>Analyzer </a:t>
            </a:r>
            <a:r>
              <a:rPr lang="ko-KR" altLang="en-US" sz="1050">
                <a:solidFill>
                  <a:schemeClr val="tx1"/>
                </a:solidFill>
              </a:rPr>
              <a:t>동일 레벨에 </a:t>
            </a:r>
            <a:r>
              <a:rPr lang="en-US" altLang="ko-KR" sz="1050">
                <a:solidFill>
                  <a:schemeClr val="tx1"/>
                </a:solidFill>
              </a:rPr>
              <a:t>filter </a:t>
            </a:r>
            <a:r>
              <a:rPr lang="ko-KR" altLang="en-US" sz="1050">
                <a:solidFill>
                  <a:schemeClr val="tx1"/>
                </a:solidFill>
              </a:rPr>
              <a:t>선언 </a:t>
            </a:r>
            <a:r>
              <a:rPr lang="en-US" altLang="ko-KR" sz="1050">
                <a:solidFill>
                  <a:schemeClr val="tx1"/>
                </a:solidFill>
              </a:rPr>
              <a:t>synonym_filter </a:t>
            </a:r>
            <a:r>
              <a:rPr lang="ko-KR" altLang="en-US" sz="1050">
                <a:solidFill>
                  <a:schemeClr val="tx1"/>
                </a:solidFill>
              </a:rPr>
              <a:t>정의 및 </a:t>
            </a:r>
            <a:r>
              <a:rPr lang="en-US" altLang="ko-KR" sz="1050">
                <a:solidFill>
                  <a:schemeClr val="tx1"/>
                </a:solidFill>
              </a:rPr>
              <a:t>name</a:t>
            </a:r>
            <a:r>
              <a:rPr lang="ko-KR" altLang="en-US" sz="1050">
                <a:solidFill>
                  <a:schemeClr val="tx1"/>
                </a:solidFill>
              </a:rPr>
              <a:t>필드 </a:t>
            </a:r>
            <a:r>
              <a:rPr lang="en-US" altLang="ko-KR" sz="1050">
                <a:solidFill>
                  <a:schemeClr val="tx1"/>
                </a:solidFill>
              </a:rPr>
              <a:t>analynzer</a:t>
            </a:r>
            <a:r>
              <a:rPr lang="ko-KR" altLang="en-US" sz="1050">
                <a:solidFill>
                  <a:schemeClr val="tx1"/>
                </a:solidFill>
              </a:rPr>
              <a:t>에 </a:t>
            </a:r>
            <a:r>
              <a:rPr lang="en-US" altLang="ko-KR" sz="1050">
                <a:solidFill>
                  <a:schemeClr val="tx1"/>
                </a:solidFill>
              </a:rPr>
              <a:t>synonym_filter </a:t>
            </a:r>
            <a:r>
              <a:rPr lang="ko-KR" altLang="en-US" sz="1050">
                <a:solidFill>
                  <a:schemeClr val="tx1"/>
                </a:solidFill>
              </a:rPr>
              <a:t>추가</a:t>
            </a:r>
            <a:endParaRPr lang="en-US" altLang="ko-KR" sz="1050">
              <a:solidFill>
                <a:schemeClr val="tx1"/>
              </a:solidFill>
            </a:endParaRPr>
          </a:p>
          <a:p>
            <a:pPr algn="ctr"/>
            <a:endParaRPr lang="en-US" altLang="ko-KR" sz="1050">
              <a:solidFill>
                <a:schemeClr val="tx1"/>
              </a:solidFill>
            </a:endParaRPr>
          </a:p>
          <a:p>
            <a:pPr algn="ctr"/>
            <a:r>
              <a:rPr lang="en-US" altLang="ko-KR" sz="1050">
                <a:solidFill>
                  <a:srgbClr val="FF0000"/>
                </a:solidFill>
              </a:rPr>
              <a:t>55~61 Line : </a:t>
            </a:r>
            <a:r>
              <a:rPr lang="ko-KR" altLang="en-US" sz="1050">
                <a:solidFill>
                  <a:srgbClr val="FF0000"/>
                </a:solidFill>
              </a:rPr>
              <a:t>특정 카테고리 내에서만 검색 </a:t>
            </a:r>
            <a:r>
              <a:rPr lang="en-US" altLang="ko-KR" sz="1050">
                <a:solidFill>
                  <a:srgbClr val="FF0000"/>
                </a:solidFill>
                <a:sym typeface="Wingdings" panose="05000000000000000000" pitchFamily="2" charset="2"/>
              </a:rPr>
              <a:t> (</a:t>
            </a:r>
            <a:r>
              <a:rPr lang="ko-KR" altLang="en-US" sz="1050">
                <a:solidFill>
                  <a:srgbClr val="FF0000"/>
                </a:solidFill>
                <a:sym typeface="Wingdings" panose="05000000000000000000" pitchFamily="2" charset="2"/>
              </a:rPr>
              <a:t>정확한 검색 </a:t>
            </a:r>
            <a:r>
              <a:rPr lang="en-US" altLang="ko-KR" sz="1050">
                <a:solidFill>
                  <a:srgbClr val="FF0000"/>
                </a:solidFill>
                <a:sym typeface="Wingdings" panose="05000000000000000000" pitchFamily="2" charset="2"/>
              </a:rPr>
              <a:t>= </a:t>
            </a:r>
            <a:r>
              <a:rPr lang="ko-KR" altLang="en-US" sz="1050">
                <a:solidFill>
                  <a:srgbClr val="FF0000"/>
                </a:solidFill>
                <a:sym typeface="Wingdings" panose="05000000000000000000" pitchFamily="2" charset="2"/>
              </a:rPr>
              <a:t>키워드</a:t>
            </a:r>
            <a:r>
              <a:rPr lang="en-US" altLang="ko-KR" sz="1050">
                <a:solidFill>
                  <a:srgbClr val="FF0000"/>
                </a:solidFill>
                <a:sym typeface="Wingdings" panose="05000000000000000000" pitchFamily="2" charset="2"/>
              </a:rPr>
              <a:t>)</a:t>
            </a:r>
            <a:r>
              <a:rPr lang="ko-KR" altLang="en-US" sz="105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br>
              <a:rPr lang="en-US" altLang="ko-KR" sz="1050">
                <a:solidFill>
                  <a:srgbClr val="FF0000"/>
                </a:solidFill>
                <a:sym typeface="Wingdings" panose="05000000000000000000" pitchFamily="2" charset="2"/>
              </a:rPr>
            </a:br>
            <a:r>
              <a:rPr lang="en-US" altLang="ko-KR" sz="1050">
                <a:solidFill>
                  <a:srgbClr val="FF0000"/>
                </a:solidFill>
                <a:sym typeface="Wingdings" panose="05000000000000000000" pitchFamily="2" charset="2"/>
              </a:rPr>
              <a:t>multi_type</a:t>
            </a:r>
            <a:r>
              <a:rPr lang="ko-KR" altLang="en-US" sz="1050">
                <a:solidFill>
                  <a:srgbClr val="FF0000"/>
                </a:solidFill>
                <a:sym typeface="Wingdings" panose="05000000000000000000" pitchFamily="2" charset="2"/>
              </a:rPr>
              <a:t>으로 카테고리에서만 검색할 수 있도록 </a:t>
            </a:r>
            <a:r>
              <a:rPr lang="en-US" altLang="ko-KR" sz="1050">
                <a:solidFill>
                  <a:srgbClr val="FF0000"/>
                </a:solidFill>
                <a:sym typeface="Wingdings" panose="05000000000000000000" pitchFamily="2" charset="2"/>
              </a:rPr>
              <a:t>keyword </a:t>
            </a:r>
            <a:r>
              <a:rPr lang="ko-KR" altLang="en-US" sz="1050">
                <a:solidFill>
                  <a:srgbClr val="FF0000"/>
                </a:solidFill>
                <a:sym typeface="Wingdings" panose="05000000000000000000" pitchFamily="2" charset="2"/>
              </a:rPr>
              <a:t>자료형 추가</a:t>
            </a:r>
            <a:endParaRPr lang="en-US" altLang="ko-KR" sz="105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algn="ctr"/>
            <a:endParaRPr lang="en-US" altLang="ko-KR" sz="1050">
              <a:solidFill>
                <a:schemeClr val="tx1"/>
              </a:solidFill>
            </a:endParaRPr>
          </a:p>
          <a:p>
            <a:pPr algn="ctr"/>
            <a:r>
              <a:rPr lang="en-US" altLang="ko-KR" sz="1050">
                <a:solidFill>
                  <a:srgbClr val="FF0000"/>
                </a:solidFill>
              </a:rPr>
              <a:t>67~100Line : </a:t>
            </a:r>
            <a:r>
              <a:rPr lang="ko-KR" altLang="en-US" sz="1050">
                <a:solidFill>
                  <a:srgbClr val="FF0000"/>
                </a:solidFill>
              </a:rPr>
              <a:t>특정 카테고리 및 특정 가격 범위 </a:t>
            </a:r>
            <a:r>
              <a:rPr lang="en-US" altLang="ko-KR" sz="105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050">
                <a:solidFill>
                  <a:srgbClr val="FF0000"/>
                </a:solidFill>
                <a:sym typeface="Wingdings" panose="05000000000000000000" pitchFamily="2" charset="2"/>
              </a:rPr>
              <a:t>두 개 이상의 조건</a:t>
            </a:r>
            <a:r>
              <a:rPr lang="en-US" altLang="ko-KR" sz="1050">
                <a:solidFill>
                  <a:srgbClr val="FF0000"/>
                </a:solidFill>
                <a:sym typeface="Wingdings" panose="05000000000000000000" pitchFamily="2" charset="2"/>
              </a:rPr>
              <a:t>(= bool </a:t>
            </a:r>
            <a:r>
              <a:rPr lang="ko-KR" altLang="en-US" sz="1050">
                <a:solidFill>
                  <a:srgbClr val="FF0000"/>
                </a:solidFill>
                <a:sym typeface="Wingdings" panose="05000000000000000000" pitchFamily="2" charset="2"/>
              </a:rPr>
              <a:t>검색 조건</a:t>
            </a:r>
            <a:r>
              <a:rPr lang="en-US" altLang="ko-KR" sz="1050">
                <a:solidFill>
                  <a:srgbClr val="FF0000"/>
                </a:solidFill>
                <a:sym typeface="Wingdings" panose="05000000000000000000" pitchFamily="2" charset="2"/>
              </a:rPr>
              <a:t>)</a:t>
            </a:r>
            <a:br>
              <a:rPr lang="en-US" altLang="ko-KR" sz="1050">
                <a:solidFill>
                  <a:srgbClr val="FF0000"/>
                </a:solidFill>
                <a:sym typeface="Wingdings" panose="05000000000000000000" pitchFamily="2" charset="2"/>
              </a:rPr>
            </a:br>
            <a:r>
              <a:rPr lang="ko-KR" altLang="en-US" sz="1050">
                <a:solidFill>
                  <a:srgbClr val="FF0000"/>
                </a:solidFill>
                <a:sym typeface="Wingdings" panose="05000000000000000000" pitchFamily="2" charset="2"/>
              </a:rPr>
              <a:t>기존 </a:t>
            </a:r>
            <a:r>
              <a:rPr lang="en-US" altLang="ko-KR" sz="1050">
                <a:solidFill>
                  <a:srgbClr val="FF0000"/>
                </a:solidFill>
                <a:sym typeface="Wingdings" panose="05000000000000000000" pitchFamily="2" charset="2"/>
              </a:rPr>
              <a:t>score </a:t>
            </a:r>
            <a:r>
              <a:rPr lang="ko-KR" altLang="en-US" sz="1050">
                <a:solidFill>
                  <a:srgbClr val="FF0000"/>
                </a:solidFill>
                <a:sym typeface="Wingdings" panose="05000000000000000000" pitchFamily="2" charset="2"/>
              </a:rPr>
              <a:t>형 멀티 타입 검색은 </a:t>
            </a:r>
            <a:r>
              <a:rPr lang="en-US" altLang="ko-KR" sz="1050">
                <a:solidFill>
                  <a:srgbClr val="FF0000"/>
                </a:solidFill>
                <a:sym typeface="Wingdings" panose="05000000000000000000" pitchFamily="2" charset="2"/>
              </a:rPr>
              <a:t>bool </a:t>
            </a:r>
            <a:r>
              <a:rPr lang="ko-KR" altLang="en-US" sz="1050">
                <a:solidFill>
                  <a:srgbClr val="FF0000"/>
                </a:solidFill>
                <a:sym typeface="Wingdings" panose="05000000000000000000" pitchFamily="2" charset="2"/>
              </a:rPr>
              <a:t>내부로 들어가게 된다</a:t>
            </a:r>
            <a:r>
              <a:rPr lang="en-US" altLang="ko-KR" sz="1050">
                <a:solidFill>
                  <a:srgbClr val="FF0000"/>
                </a:solidFill>
                <a:sym typeface="Wingdings" panose="05000000000000000000" pitchFamily="2" charset="2"/>
              </a:rPr>
              <a:t>.</a:t>
            </a:r>
            <a:br>
              <a:rPr lang="en-US" altLang="ko-KR" sz="1050">
                <a:solidFill>
                  <a:srgbClr val="FF0000"/>
                </a:solidFill>
                <a:sym typeface="Wingdings" panose="05000000000000000000" pitchFamily="2" charset="2"/>
              </a:rPr>
            </a:br>
            <a:r>
              <a:rPr lang="en-US" altLang="ko-KR" sz="1050">
                <a:solidFill>
                  <a:srgbClr val="FF0000"/>
                </a:solidFill>
                <a:sym typeface="Wingdings" panose="05000000000000000000" pitchFamily="2" charset="2"/>
              </a:rPr>
              <a:t>keyword</a:t>
            </a:r>
            <a:r>
              <a:rPr lang="ko-KR" altLang="en-US" sz="1050">
                <a:solidFill>
                  <a:srgbClr val="FF0000"/>
                </a:solidFill>
                <a:sym typeface="Wingdings" panose="05000000000000000000" pitchFamily="2" charset="2"/>
              </a:rPr>
              <a:t>와 범위검색은 </a:t>
            </a:r>
            <a:r>
              <a:rPr lang="en-US" altLang="ko-KR" sz="1050">
                <a:solidFill>
                  <a:srgbClr val="FF0000"/>
                </a:solidFill>
                <a:sym typeface="Wingdings" panose="05000000000000000000" pitchFamily="2" charset="2"/>
              </a:rPr>
              <a:t>score</a:t>
            </a:r>
            <a:r>
              <a:rPr lang="ko-KR" altLang="en-US" sz="1050">
                <a:solidFill>
                  <a:srgbClr val="FF0000"/>
                </a:solidFill>
                <a:sym typeface="Wingdings" panose="05000000000000000000" pitchFamily="2" charset="2"/>
              </a:rPr>
              <a:t>형 조건이 아님으로 </a:t>
            </a:r>
            <a:r>
              <a:rPr lang="en-US" altLang="ko-KR" sz="1050">
                <a:solidFill>
                  <a:srgbClr val="FF0000"/>
                </a:solidFill>
                <a:sym typeface="Wingdings" panose="05000000000000000000" pitchFamily="2" charset="2"/>
              </a:rPr>
              <a:t>filter </a:t>
            </a:r>
            <a:r>
              <a:rPr lang="ko-KR" altLang="en-US" sz="1050">
                <a:solidFill>
                  <a:srgbClr val="FF0000"/>
                </a:solidFill>
                <a:sym typeface="Wingdings" panose="05000000000000000000" pitchFamily="2" charset="2"/>
              </a:rPr>
              <a:t>내 정의</a:t>
            </a:r>
            <a:endParaRPr lang="en-US" altLang="ko-KR" sz="105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algn="ctr"/>
            <a:r>
              <a:rPr lang="en-US" altLang="ko-KR" sz="1050">
                <a:solidFill>
                  <a:srgbClr val="FF0000"/>
                </a:solidFill>
                <a:sym typeface="Wingdings" panose="05000000000000000000" pitchFamily="2" charset="2"/>
              </a:rPr>
              <a:t>keyword </a:t>
            </a:r>
            <a:r>
              <a:rPr lang="ko-KR" altLang="en-US" sz="1050">
                <a:solidFill>
                  <a:srgbClr val="FF0000"/>
                </a:solidFill>
                <a:sym typeface="Wingdings" panose="05000000000000000000" pitchFamily="2" charset="2"/>
              </a:rPr>
              <a:t>검색 특화 </a:t>
            </a:r>
            <a:r>
              <a:rPr lang="en-US" altLang="ko-KR" sz="1050">
                <a:solidFill>
                  <a:srgbClr val="FF0000"/>
                </a:solidFill>
                <a:sym typeface="Wingdings" panose="05000000000000000000" pitchFamily="2" charset="2"/>
              </a:rPr>
              <a:t>term</a:t>
            </a:r>
            <a:r>
              <a:rPr lang="ko-KR" altLang="en-US" sz="1050">
                <a:solidFill>
                  <a:srgbClr val="FF0000"/>
                </a:solidFill>
                <a:sym typeface="Wingdings" panose="05000000000000000000" pitchFamily="2" charset="2"/>
              </a:rPr>
              <a:t>으로 카테고리를 범위 검색 조건인 </a:t>
            </a:r>
            <a:r>
              <a:rPr lang="en-US" altLang="ko-KR" sz="1050">
                <a:solidFill>
                  <a:srgbClr val="FF0000"/>
                </a:solidFill>
                <a:sym typeface="Wingdings" panose="05000000000000000000" pitchFamily="2" charset="2"/>
              </a:rPr>
              <a:t>range</a:t>
            </a:r>
            <a:r>
              <a:rPr lang="ko-KR" altLang="en-US" sz="1050">
                <a:solidFill>
                  <a:srgbClr val="FF0000"/>
                </a:solidFill>
                <a:sym typeface="Wingdings" panose="05000000000000000000" pitchFamily="2" charset="2"/>
              </a:rPr>
              <a:t>를 사용하여 특정 범위 검색을 정의한다</a:t>
            </a:r>
            <a:r>
              <a:rPr lang="en-US" altLang="ko-KR" sz="1050">
                <a:solidFill>
                  <a:srgbClr val="FF0000"/>
                </a:solidFill>
                <a:sym typeface="Wingdings" panose="05000000000000000000" pitchFamily="2" charset="2"/>
              </a:rPr>
              <a:t>.</a:t>
            </a:r>
            <a:endParaRPr lang="ko-KR" altLang="en-US" sz="105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602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8A334B-28C6-60F2-4254-670F578E4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요구 사항에 맞는 </a:t>
            </a:r>
            <a:r>
              <a:rPr lang="en-US" altLang="ko-KR"/>
              <a:t>Kibana</a:t>
            </a:r>
            <a:r>
              <a:rPr lang="ko-KR" altLang="en-US"/>
              <a:t> 쿼리 작성 </a:t>
            </a:r>
            <a:r>
              <a:rPr lang="en-US" altLang="ko-KR"/>
              <a:t>-4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B32FE9F-BD3D-BE89-A206-931F0E488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15" y="1979273"/>
            <a:ext cx="5161966" cy="132088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DB0DDA1-5225-92E0-52B1-9842CE71F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406" y="1805314"/>
            <a:ext cx="3155274" cy="4969557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24CFA6DD-26C8-D0B4-74DA-E8B6EF33EC5E}"/>
              </a:ext>
            </a:extLst>
          </p:cNvPr>
          <p:cNvGrpSpPr/>
          <p:nvPr/>
        </p:nvGrpSpPr>
        <p:grpSpPr>
          <a:xfrm>
            <a:off x="351915" y="1979273"/>
            <a:ext cx="9415540" cy="3631818"/>
            <a:chOff x="351915" y="1979273"/>
            <a:chExt cx="9415540" cy="3631818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FF67F9D-EA18-7E77-1DD8-4762F7791356}"/>
                </a:ext>
              </a:extLst>
            </p:cNvPr>
            <p:cNvSpPr/>
            <p:nvPr/>
          </p:nvSpPr>
          <p:spPr>
            <a:xfrm>
              <a:off x="351915" y="1979273"/>
              <a:ext cx="4893416" cy="2236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176E70BD-DD27-E317-AD11-EA6E8778E3D1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>
              <a:off x="5261956" y="2086495"/>
              <a:ext cx="3374968" cy="308402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BAD745A-0673-9062-6203-86697F06B947}"/>
                </a:ext>
              </a:extLst>
            </p:cNvPr>
            <p:cNvSpPr/>
            <p:nvPr/>
          </p:nvSpPr>
          <p:spPr>
            <a:xfrm>
              <a:off x="8636924" y="4729942"/>
              <a:ext cx="1130531" cy="88114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86BEA32-C574-21C5-88FA-C3142A58F4DC}"/>
              </a:ext>
            </a:extLst>
          </p:cNvPr>
          <p:cNvGrpSpPr/>
          <p:nvPr/>
        </p:nvGrpSpPr>
        <p:grpSpPr>
          <a:xfrm>
            <a:off x="351914" y="2243473"/>
            <a:ext cx="9606734" cy="541292"/>
            <a:chOff x="351914" y="2243473"/>
            <a:chExt cx="9606734" cy="541292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234A0C8-B298-8723-1DFB-31C0D7ABE347}"/>
                </a:ext>
              </a:extLst>
            </p:cNvPr>
            <p:cNvSpPr/>
            <p:nvPr/>
          </p:nvSpPr>
          <p:spPr>
            <a:xfrm>
              <a:off x="351914" y="2243473"/>
              <a:ext cx="5178591" cy="541292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7BB5E200-C9D9-1A8A-7840-08CDB8F8DA6C}"/>
                </a:ext>
              </a:extLst>
            </p:cNvPr>
            <p:cNvCxnSpPr>
              <a:cxnSpLocks/>
              <a:stCxn id="8" idx="3"/>
              <a:endCxn id="18" idx="1"/>
            </p:cNvCxnSpPr>
            <p:nvPr/>
          </p:nvCxnSpPr>
          <p:spPr>
            <a:xfrm>
              <a:off x="5530505" y="2514119"/>
              <a:ext cx="3580245" cy="212456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B93986C6-E23D-3925-4D11-29A0880859AF}"/>
                </a:ext>
              </a:extLst>
            </p:cNvPr>
            <p:cNvSpPr/>
            <p:nvPr/>
          </p:nvSpPr>
          <p:spPr>
            <a:xfrm>
              <a:off x="9110750" y="2668385"/>
              <a:ext cx="847898" cy="116380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4CF3990F-4165-5DD5-050D-438D6869A7DE}"/>
              </a:ext>
            </a:extLst>
          </p:cNvPr>
          <p:cNvGrpSpPr/>
          <p:nvPr/>
        </p:nvGrpSpPr>
        <p:grpSpPr>
          <a:xfrm>
            <a:off x="351915" y="2805065"/>
            <a:ext cx="9415540" cy="3695488"/>
            <a:chOff x="351915" y="2805065"/>
            <a:chExt cx="9415540" cy="3695488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19FF8B7-CCEC-AFCF-8B53-B7EEEE82CD67}"/>
                </a:ext>
              </a:extLst>
            </p:cNvPr>
            <p:cNvSpPr/>
            <p:nvPr/>
          </p:nvSpPr>
          <p:spPr>
            <a:xfrm>
              <a:off x="351915" y="2805065"/>
              <a:ext cx="4727161" cy="274318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DEE96E2-BFC0-544E-A279-8D4AE306914B}"/>
                </a:ext>
              </a:extLst>
            </p:cNvPr>
            <p:cNvSpPr/>
            <p:nvPr/>
          </p:nvSpPr>
          <p:spPr>
            <a:xfrm>
              <a:off x="8379229" y="5785658"/>
              <a:ext cx="1388226" cy="714895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E289ED7A-2FAE-EF89-6496-222010B16356}"/>
                </a:ext>
              </a:extLst>
            </p:cNvPr>
            <p:cNvCxnSpPr/>
            <p:nvPr/>
          </p:nvCxnSpPr>
          <p:spPr>
            <a:xfrm>
              <a:off x="5079076" y="2942705"/>
              <a:ext cx="3300153" cy="3250277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09A64AB3-57ED-69BC-7374-C705D986AD29}"/>
              </a:ext>
            </a:extLst>
          </p:cNvPr>
          <p:cNvGrpSpPr/>
          <p:nvPr/>
        </p:nvGrpSpPr>
        <p:grpSpPr>
          <a:xfrm>
            <a:off x="351915" y="3099683"/>
            <a:ext cx="9174470" cy="3695314"/>
            <a:chOff x="351915" y="3099683"/>
            <a:chExt cx="9174470" cy="3695314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3F16D73-37BD-5517-D8AA-A735BCE7C4A6}"/>
                </a:ext>
              </a:extLst>
            </p:cNvPr>
            <p:cNvSpPr/>
            <p:nvPr/>
          </p:nvSpPr>
          <p:spPr>
            <a:xfrm>
              <a:off x="351915" y="3099683"/>
              <a:ext cx="3155274" cy="2236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277F9B86-CDDE-1C6C-7C84-1F5C347A52CC}"/>
                </a:ext>
              </a:extLst>
            </p:cNvPr>
            <p:cNvSpPr/>
            <p:nvPr/>
          </p:nvSpPr>
          <p:spPr>
            <a:xfrm>
              <a:off x="8379229" y="6500553"/>
              <a:ext cx="1147156" cy="29444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A86ED30C-0F48-ECB4-74B0-591AD600EBB5}"/>
                </a:ext>
              </a:extLst>
            </p:cNvPr>
            <p:cNvCxnSpPr>
              <a:stCxn id="9" idx="3"/>
              <a:endCxn id="28" idx="1"/>
            </p:cNvCxnSpPr>
            <p:nvPr/>
          </p:nvCxnSpPr>
          <p:spPr>
            <a:xfrm>
              <a:off x="3507189" y="3211483"/>
              <a:ext cx="4872040" cy="343629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48190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8D11A-B6C2-DE5F-9D6C-D80A42B52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그룹 44">
            <a:extLst>
              <a:ext uri="{FF2B5EF4-FFF2-40B4-BE49-F238E27FC236}">
                <a16:creationId xmlns:a16="http://schemas.microsoft.com/office/drawing/2014/main" id="{50468433-C6C1-B010-78CA-2B017B99F998}"/>
              </a:ext>
            </a:extLst>
          </p:cNvPr>
          <p:cNvGrpSpPr/>
          <p:nvPr/>
        </p:nvGrpSpPr>
        <p:grpSpPr>
          <a:xfrm>
            <a:off x="430480" y="1879537"/>
            <a:ext cx="3953427" cy="1047896"/>
            <a:chOff x="287119" y="1849336"/>
            <a:chExt cx="3953427" cy="1047896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E68B0384-EC53-C95A-04F9-F23DAF85EE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7119" y="1849336"/>
              <a:ext cx="3953427" cy="104789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2C642D28-6BBA-D1A1-1D76-C30D6B449583}"/>
                </a:ext>
              </a:extLst>
            </p:cNvPr>
            <p:cNvSpPr/>
            <p:nvPr/>
          </p:nvSpPr>
          <p:spPr>
            <a:xfrm>
              <a:off x="490451" y="2130573"/>
              <a:ext cx="3657600" cy="36509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E7D7BA02-2ADE-EE26-2F49-4898B9E1F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요구 사항에 맞는 </a:t>
            </a:r>
            <a:r>
              <a:rPr lang="en-US" altLang="ko-KR"/>
              <a:t>Kibana</a:t>
            </a:r>
            <a:r>
              <a:rPr lang="ko-KR" altLang="en-US"/>
              <a:t> 쿼리 작성 </a:t>
            </a:r>
            <a:r>
              <a:rPr lang="en-US" altLang="ko-KR"/>
              <a:t>-5</a:t>
            </a:r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612A1464-B679-F7D2-0752-CB45F683975D}"/>
              </a:ext>
            </a:extLst>
          </p:cNvPr>
          <p:cNvGrpSpPr/>
          <p:nvPr/>
        </p:nvGrpSpPr>
        <p:grpSpPr>
          <a:xfrm>
            <a:off x="4451465" y="1849336"/>
            <a:ext cx="3387436" cy="4874569"/>
            <a:chOff x="4383907" y="1849336"/>
            <a:chExt cx="3454994" cy="4874569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F5C54F02-D3B8-603C-D7E9-FD071830816F}"/>
                </a:ext>
              </a:extLst>
            </p:cNvPr>
            <p:cNvGrpSpPr/>
            <p:nvPr/>
          </p:nvGrpSpPr>
          <p:grpSpPr>
            <a:xfrm>
              <a:off x="4383907" y="1849336"/>
              <a:ext cx="3454994" cy="4874569"/>
              <a:chOff x="4383907" y="1849336"/>
              <a:chExt cx="3454994" cy="4874569"/>
            </a:xfrm>
          </p:grpSpPr>
          <p:pic>
            <p:nvPicPr>
              <p:cNvPr id="14" name="그림 13">
                <a:extLst>
                  <a:ext uri="{FF2B5EF4-FFF2-40B4-BE49-F238E27FC236}">
                    <a16:creationId xmlns:a16="http://schemas.microsoft.com/office/drawing/2014/main" id="{D3131292-9DA6-8B6F-68B7-E85B0F2077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83907" y="1849336"/>
                <a:ext cx="1495634" cy="247685"/>
              </a:xfrm>
              <a:prstGeom prst="rect">
                <a:avLst/>
              </a:prstGeom>
            </p:spPr>
          </p:pic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97A79F04-BE65-A728-71B2-8E83E9FD4E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93322" y="2208997"/>
                <a:ext cx="3345579" cy="4514908"/>
              </a:xfrm>
              <a:prstGeom prst="rect">
                <a:avLst/>
              </a:prstGeom>
            </p:spPr>
          </p:pic>
        </p:grp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CB080013-EF6E-2A58-9DC7-A15BAA260228}"/>
                </a:ext>
              </a:extLst>
            </p:cNvPr>
            <p:cNvSpPr/>
            <p:nvPr/>
          </p:nvSpPr>
          <p:spPr>
            <a:xfrm>
              <a:off x="5727469" y="3183775"/>
              <a:ext cx="1986742" cy="68995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1C76B1C4-476F-924D-F722-F367A771FEA1}"/>
              </a:ext>
            </a:extLst>
          </p:cNvPr>
          <p:cNvSpPr txBox="1"/>
          <p:nvPr/>
        </p:nvSpPr>
        <p:spPr>
          <a:xfrm>
            <a:off x="7988531" y="1849336"/>
            <a:ext cx="3807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solidFill>
                  <a:srgbClr val="FF0000"/>
                </a:solidFill>
              </a:rPr>
              <a:t>자동완성기능은 </a:t>
            </a:r>
            <a:r>
              <a:rPr lang="en-US" altLang="ko-KR" sz="1200">
                <a:solidFill>
                  <a:srgbClr val="FF0000"/>
                </a:solidFill>
              </a:rPr>
              <a:t>search_as_you_type</a:t>
            </a:r>
            <a:r>
              <a:rPr lang="ko-KR" altLang="en-US" sz="1200">
                <a:solidFill>
                  <a:srgbClr val="FF0000"/>
                </a:solidFill>
              </a:rPr>
              <a:t>으로 만들었으며</a:t>
            </a:r>
            <a:r>
              <a:rPr lang="en-US" altLang="ko-KR" sz="1200">
                <a:solidFill>
                  <a:srgbClr val="FF0000"/>
                </a:solidFill>
              </a:rPr>
              <a:t>, text</a:t>
            </a:r>
            <a:r>
              <a:rPr lang="ko-KR" altLang="en-US" sz="1200">
                <a:solidFill>
                  <a:srgbClr val="FF0000"/>
                </a:solidFill>
              </a:rPr>
              <a:t>와는 다른 타입임으로 </a:t>
            </a:r>
            <a:r>
              <a:rPr lang="en-US" altLang="ko-KR" sz="1200">
                <a:solidFill>
                  <a:srgbClr val="FF0000"/>
                </a:solidFill>
              </a:rPr>
              <a:t>mulit field </a:t>
            </a:r>
            <a:r>
              <a:rPr lang="ko-KR" altLang="en-US" sz="1200">
                <a:solidFill>
                  <a:srgbClr val="FF0000"/>
                </a:solidFill>
              </a:rPr>
              <a:t>기능으로 자동완성기능의 타입을 추가해준다</a:t>
            </a:r>
            <a:r>
              <a:rPr lang="en-US" altLang="ko-KR" sz="1200">
                <a:solidFill>
                  <a:srgbClr val="FF0000"/>
                </a:solidFill>
              </a:rPr>
              <a:t>.</a:t>
            </a:r>
            <a:endParaRPr lang="ko-KR" altLang="en-US" sz="1200">
              <a:solidFill>
                <a:srgbClr val="FF0000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E00E3C9E-3BE8-6B2A-A0FC-9091203FAB87}"/>
              </a:ext>
            </a:extLst>
          </p:cNvPr>
          <p:cNvCxnSpPr>
            <a:stCxn id="22" idx="3"/>
            <a:endCxn id="26" idx="2"/>
          </p:cNvCxnSpPr>
          <p:nvPr/>
        </p:nvCxnSpPr>
        <p:spPr>
          <a:xfrm flipV="1">
            <a:off x="7716649" y="2495667"/>
            <a:ext cx="2175497" cy="10330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33519529-4DF3-7CE1-1DAD-8E8A21214576}"/>
              </a:ext>
            </a:extLst>
          </p:cNvPr>
          <p:cNvGrpSpPr/>
          <p:nvPr/>
        </p:nvGrpSpPr>
        <p:grpSpPr>
          <a:xfrm>
            <a:off x="633812" y="2525868"/>
            <a:ext cx="11430762" cy="2785965"/>
            <a:chOff x="633812" y="2525868"/>
            <a:chExt cx="11430762" cy="2785965"/>
          </a:xfrm>
        </p:grpSpPr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6B333100-BDE0-B8BB-7379-6CFF0A760E3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82444" y="4000390"/>
              <a:ext cx="4982130" cy="131144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DA3E373E-6F65-49A0-C02D-61B2603FB137}"/>
                </a:ext>
              </a:extLst>
            </p:cNvPr>
            <p:cNvSpPr/>
            <p:nvPr/>
          </p:nvSpPr>
          <p:spPr>
            <a:xfrm>
              <a:off x="7531332" y="5062451"/>
              <a:ext cx="560345" cy="17847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D13D68C8-E54F-A301-1980-BE3F0E0A7959}"/>
                </a:ext>
              </a:extLst>
            </p:cNvPr>
            <p:cNvSpPr/>
            <p:nvPr/>
          </p:nvSpPr>
          <p:spPr>
            <a:xfrm>
              <a:off x="633812" y="2525868"/>
              <a:ext cx="3657600" cy="31403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ysClr val="windowText" lastClr="000000"/>
                  </a:solidFill>
                </a:ln>
              </a:endParaRPr>
            </a:p>
          </p:txBody>
        </p:sp>
      </p:grp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52527A6A-29BD-DFFB-B610-3003494560E4}"/>
              </a:ext>
            </a:extLst>
          </p:cNvPr>
          <p:cNvCxnSpPr>
            <a:cxnSpLocks/>
            <a:stCxn id="37" idx="2"/>
            <a:endCxn id="40" idx="1"/>
          </p:cNvCxnSpPr>
          <p:nvPr/>
        </p:nvCxnSpPr>
        <p:spPr>
          <a:xfrm rot="16200000" flipH="1">
            <a:off x="3841079" y="1461436"/>
            <a:ext cx="2311787" cy="506872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87184CD-3977-3775-39BE-4D536C209391}"/>
              </a:ext>
            </a:extLst>
          </p:cNvPr>
          <p:cNvSpPr/>
          <p:nvPr/>
        </p:nvSpPr>
        <p:spPr>
          <a:xfrm>
            <a:off x="7740536" y="4373335"/>
            <a:ext cx="4324038" cy="6182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0979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4B45BF-A8FB-C0D8-B619-90A41D259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Gradle </a:t>
            </a:r>
            <a:r>
              <a:rPr lang="ko-KR" altLang="en-US"/>
              <a:t>의존성 추가하기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E795399-1959-642A-7BD2-B70AB21745A9}"/>
              </a:ext>
            </a:extLst>
          </p:cNvPr>
          <p:cNvGrpSpPr/>
          <p:nvPr/>
        </p:nvGrpSpPr>
        <p:grpSpPr>
          <a:xfrm>
            <a:off x="1262263" y="1890251"/>
            <a:ext cx="2086266" cy="4124901"/>
            <a:chOff x="1262263" y="1890251"/>
            <a:chExt cx="2086266" cy="4124901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74C17979-BD02-F7F3-353A-1F20A77177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62263" y="1890251"/>
              <a:ext cx="2086266" cy="4124901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FE5FE27-F398-9A99-DAC8-DBA2C1D40594}"/>
                </a:ext>
              </a:extLst>
            </p:cNvPr>
            <p:cNvSpPr/>
            <p:nvPr/>
          </p:nvSpPr>
          <p:spPr>
            <a:xfrm>
              <a:off x="1388225" y="4921135"/>
              <a:ext cx="1047404" cy="24938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85A3620-27ED-F894-75DF-12C126F554DB}"/>
              </a:ext>
            </a:extLst>
          </p:cNvPr>
          <p:cNvGrpSpPr/>
          <p:nvPr/>
        </p:nvGrpSpPr>
        <p:grpSpPr>
          <a:xfrm>
            <a:off x="3488450" y="1890251"/>
            <a:ext cx="6744641" cy="1714739"/>
            <a:chOff x="3488450" y="1890251"/>
            <a:chExt cx="6744641" cy="171473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FF0BAAC-427F-FA06-2980-AA6F861C44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88450" y="1890251"/>
              <a:ext cx="6744641" cy="1714739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593584F-9B69-849D-475B-49651B62EE08}"/>
                </a:ext>
              </a:extLst>
            </p:cNvPr>
            <p:cNvSpPr/>
            <p:nvPr/>
          </p:nvSpPr>
          <p:spPr>
            <a:xfrm>
              <a:off x="4272742" y="2443942"/>
              <a:ext cx="5893723" cy="24106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68560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E5E516-25AC-0B78-4408-5066D0FBF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application.yml </a:t>
            </a:r>
            <a:r>
              <a:rPr lang="ko-KR" altLang="en-US"/>
              <a:t>수정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B4EFD28-4BC2-C261-9503-D6122F542677}"/>
              </a:ext>
            </a:extLst>
          </p:cNvPr>
          <p:cNvGrpSpPr/>
          <p:nvPr/>
        </p:nvGrpSpPr>
        <p:grpSpPr>
          <a:xfrm>
            <a:off x="1097280" y="1928603"/>
            <a:ext cx="2514951" cy="2905530"/>
            <a:chOff x="1097280" y="1928603"/>
            <a:chExt cx="2514951" cy="2905530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657639B-8D72-D05C-BA6C-B7F4C4C7DF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928603"/>
              <a:ext cx="2514951" cy="2905530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15374F5-471C-5A3F-8F8E-263403865E86}"/>
                </a:ext>
              </a:extLst>
            </p:cNvPr>
            <p:cNvSpPr/>
            <p:nvPr/>
          </p:nvSpPr>
          <p:spPr>
            <a:xfrm>
              <a:off x="1313411" y="4613564"/>
              <a:ext cx="1130531" cy="22056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1DDF9D5-11EA-EAFF-82D2-EF0AF466A12E}"/>
              </a:ext>
            </a:extLst>
          </p:cNvPr>
          <p:cNvGrpSpPr/>
          <p:nvPr/>
        </p:nvGrpSpPr>
        <p:grpSpPr>
          <a:xfrm>
            <a:off x="3832487" y="1928603"/>
            <a:ext cx="4105848" cy="3000794"/>
            <a:chOff x="3832487" y="1928603"/>
            <a:chExt cx="4105848" cy="300079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830F5EE-122C-A189-CD2C-71C54FA7E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32487" y="1928603"/>
              <a:ext cx="4105848" cy="3000794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64D4BA4-CAE9-6AFD-A024-0F77852A66A2}"/>
                </a:ext>
              </a:extLst>
            </p:cNvPr>
            <p:cNvSpPr/>
            <p:nvPr/>
          </p:nvSpPr>
          <p:spPr>
            <a:xfrm>
              <a:off x="4364182" y="3823855"/>
              <a:ext cx="2643447" cy="11055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46590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303924-6C67-F6B3-383F-651A90389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ElasticSearch</a:t>
            </a:r>
            <a:r>
              <a:rPr lang="ko-KR" altLang="en-US" sz="4000"/>
              <a:t>의 </a:t>
            </a:r>
            <a:r>
              <a:rPr lang="en-US" altLang="ko-KR" sz="4000"/>
              <a:t>index - mapping</a:t>
            </a:r>
            <a:r>
              <a:rPr lang="ko-KR" altLang="en-US" sz="4000"/>
              <a:t> 작성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E5AE6B0-B354-7410-419C-89073A6498CA}"/>
              </a:ext>
            </a:extLst>
          </p:cNvPr>
          <p:cNvGrpSpPr/>
          <p:nvPr/>
        </p:nvGrpSpPr>
        <p:grpSpPr>
          <a:xfrm>
            <a:off x="419703" y="1944654"/>
            <a:ext cx="2524477" cy="2553056"/>
            <a:chOff x="419703" y="1944654"/>
            <a:chExt cx="2524477" cy="255305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8738274-312A-00FA-C4A9-200F5EE079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9703" y="1944654"/>
              <a:ext cx="2524477" cy="2553056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8B977AD-065E-0D7F-E647-60779B56787C}"/>
                </a:ext>
              </a:extLst>
            </p:cNvPr>
            <p:cNvSpPr/>
            <p:nvPr/>
          </p:nvSpPr>
          <p:spPr>
            <a:xfrm>
              <a:off x="847898" y="4239491"/>
              <a:ext cx="1537855" cy="25821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2E7F680-23F4-7334-67B0-11B510DAE170}"/>
              </a:ext>
            </a:extLst>
          </p:cNvPr>
          <p:cNvSpPr txBox="1"/>
          <p:nvPr/>
        </p:nvSpPr>
        <p:spPr>
          <a:xfrm>
            <a:off x="6907876" y="1730046"/>
            <a:ext cx="49460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/>
              <a:t>※kibana</a:t>
            </a:r>
            <a:r>
              <a:rPr lang="ko-KR" altLang="en-US" sz="1200" b="1"/>
              <a:t>에 작성한 쿼리를 참고하여 작성한다</a:t>
            </a:r>
            <a:r>
              <a:rPr lang="en-US" altLang="ko-KR" sz="1200" b="1"/>
              <a:t>.</a:t>
            </a:r>
            <a:endParaRPr lang="ko-KR" altLang="en-US" sz="1200" b="1"/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507EB598-E77B-C048-678C-8F4E4F769626}"/>
              </a:ext>
            </a:extLst>
          </p:cNvPr>
          <p:cNvGrpSpPr/>
          <p:nvPr/>
        </p:nvGrpSpPr>
        <p:grpSpPr>
          <a:xfrm>
            <a:off x="3017520" y="1944654"/>
            <a:ext cx="8395855" cy="4538963"/>
            <a:chOff x="3017520" y="1944654"/>
            <a:chExt cx="8395855" cy="4538963"/>
          </a:xfrm>
        </p:grpSpPr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AFF2285A-4AFA-13A7-DE88-F06F97F8AC05}"/>
                </a:ext>
              </a:extLst>
            </p:cNvPr>
            <p:cNvGrpSpPr/>
            <p:nvPr/>
          </p:nvGrpSpPr>
          <p:grpSpPr>
            <a:xfrm>
              <a:off x="3017520" y="1944654"/>
              <a:ext cx="8395855" cy="4538963"/>
              <a:chOff x="3017520" y="1944654"/>
              <a:chExt cx="8395855" cy="4538963"/>
            </a:xfrm>
          </p:grpSpPr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71F52D0E-2244-DEB3-E644-01FAA8B982A4}"/>
                  </a:ext>
                </a:extLst>
              </p:cNvPr>
              <p:cNvGrpSpPr/>
              <p:nvPr/>
            </p:nvGrpSpPr>
            <p:grpSpPr>
              <a:xfrm>
                <a:off x="3017520" y="1944654"/>
                <a:ext cx="8395855" cy="4218992"/>
                <a:chOff x="3042458" y="1944654"/>
                <a:chExt cx="8395855" cy="4218992"/>
              </a:xfrm>
            </p:grpSpPr>
            <p:cxnSp>
              <p:nvCxnSpPr>
                <p:cNvPr id="17" name="직선 화살표 연결선 16">
                  <a:extLst>
                    <a:ext uri="{FF2B5EF4-FFF2-40B4-BE49-F238E27FC236}">
                      <a16:creationId xmlns:a16="http://schemas.microsoft.com/office/drawing/2014/main" id="{75315A19-C552-65A0-5E0D-8AC5A04ABADF}"/>
                    </a:ext>
                  </a:extLst>
                </p:cNvPr>
                <p:cNvCxnSpPr>
                  <a:cxnSpLocks/>
                  <a:stCxn id="15" idx="3"/>
                  <a:endCxn id="14" idx="1"/>
                </p:cNvCxnSpPr>
                <p:nvPr/>
              </p:nvCxnSpPr>
              <p:spPr>
                <a:xfrm>
                  <a:off x="4954385" y="2040514"/>
                  <a:ext cx="2010383" cy="9961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9" name="그룹 28">
                  <a:extLst>
                    <a:ext uri="{FF2B5EF4-FFF2-40B4-BE49-F238E27FC236}">
                      <a16:creationId xmlns:a16="http://schemas.microsoft.com/office/drawing/2014/main" id="{8B6939E2-047D-ECFB-AF7F-119B651510F2}"/>
                    </a:ext>
                  </a:extLst>
                </p:cNvPr>
                <p:cNvGrpSpPr/>
                <p:nvPr/>
              </p:nvGrpSpPr>
              <p:grpSpPr>
                <a:xfrm>
                  <a:off x="3042458" y="1944654"/>
                  <a:ext cx="6106730" cy="4218992"/>
                  <a:chOff x="3042458" y="1944654"/>
                  <a:chExt cx="6106730" cy="4218992"/>
                </a:xfrm>
              </p:grpSpPr>
              <p:grpSp>
                <p:nvGrpSpPr>
                  <p:cNvPr id="22" name="그룹 21">
                    <a:extLst>
                      <a:ext uri="{FF2B5EF4-FFF2-40B4-BE49-F238E27FC236}">
                        <a16:creationId xmlns:a16="http://schemas.microsoft.com/office/drawing/2014/main" id="{4399F957-A73B-D34E-4FF8-F14B067C6563}"/>
                      </a:ext>
                    </a:extLst>
                  </p:cNvPr>
                  <p:cNvGrpSpPr/>
                  <p:nvPr/>
                </p:nvGrpSpPr>
                <p:grpSpPr>
                  <a:xfrm>
                    <a:off x="3042458" y="1944654"/>
                    <a:ext cx="5305223" cy="4218992"/>
                    <a:chOff x="3042458" y="1944654"/>
                    <a:chExt cx="5305223" cy="4218992"/>
                  </a:xfrm>
                </p:grpSpPr>
                <p:grpSp>
                  <p:nvGrpSpPr>
                    <p:cNvPr id="10" name="그룹 9">
                      <a:extLst>
                        <a:ext uri="{FF2B5EF4-FFF2-40B4-BE49-F238E27FC236}">
                          <a16:creationId xmlns:a16="http://schemas.microsoft.com/office/drawing/2014/main" id="{36C87B8F-526F-00BA-5B1B-A8D3DCCD1D5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042458" y="1945331"/>
                      <a:ext cx="3865418" cy="4218315"/>
                      <a:chOff x="3042458" y="1945331"/>
                      <a:chExt cx="3865418" cy="4218315"/>
                    </a:xfrm>
                  </p:grpSpPr>
                  <p:pic>
                    <p:nvPicPr>
                      <p:cNvPr id="8" name="그림 7">
                        <a:extLst>
                          <a:ext uri="{FF2B5EF4-FFF2-40B4-BE49-F238E27FC236}">
                            <a16:creationId xmlns:a16="http://schemas.microsoft.com/office/drawing/2014/main" id="{A98F9FFE-2C0D-8BA0-D772-E7C024A23C4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42812" y="1945331"/>
                        <a:ext cx="3823324" cy="3906829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9" name="TextBox 8">
                        <a:extLst>
                          <a:ext uri="{FF2B5EF4-FFF2-40B4-BE49-F238E27FC236}">
                            <a16:creationId xmlns:a16="http://schemas.microsoft.com/office/drawing/2014/main" id="{6AEBF312-A47E-79F0-F689-0D8E0DDEB68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042458" y="5902036"/>
                        <a:ext cx="3865418" cy="2616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altLang="ko-KR" sz="1100"/>
                          <a:t>45</a:t>
                        </a:r>
                        <a:r>
                          <a:rPr lang="ko-KR" altLang="en-US" sz="1100"/>
                          <a:t>라인 이후</a:t>
                        </a:r>
                        <a:r>
                          <a:rPr lang="en-US" altLang="ko-KR" sz="1100"/>
                          <a:t>. getter</a:t>
                        </a:r>
                        <a:r>
                          <a:rPr lang="ko-KR" altLang="en-US" sz="1100"/>
                          <a:t>와 </a:t>
                        </a:r>
                        <a:r>
                          <a:rPr lang="en-US" altLang="ko-KR" sz="1100"/>
                          <a:t>setter </a:t>
                        </a:r>
                        <a:r>
                          <a:rPr lang="ko-KR" altLang="en-US" sz="1100"/>
                          <a:t>추가</a:t>
                        </a:r>
                      </a:p>
                    </p:txBody>
                  </p:sp>
                </p:grpSp>
                <p:pic>
                  <p:nvPicPr>
                    <p:cNvPr id="14" name="그림 13">
                      <a:extLst>
                        <a:ext uri="{FF2B5EF4-FFF2-40B4-BE49-F238E27FC236}">
                          <a16:creationId xmlns:a16="http://schemas.microsoft.com/office/drawing/2014/main" id="{59E566F5-CDD8-5CB4-249D-58FFC6A2B50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4"/>
                    <a:stretch>
                      <a:fillRect/>
                    </a:stretch>
                  </p:blipFill>
                  <p:spPr>
                    <a:xfrm>
                      <a:off x="6964768" y="1944654"/>
                      <a:ext cx="1382913" cy="211641"/>
                    </a:xfrm>
                    <a:prstGeom prst="rect">
                      <a:avLst/>
                    </a:prstGeom>
                    <a:ln>
                      <a:solidFill>
                        <a:srgbClr val="FF0000"/>
                      </a:solidFill>
                    </a:ln>
                  </p:spPr>
                </p:pic>
                <p:sp>
                  <p:nvSpPr>
                    <p:cNvPr id="15" name="직사각형 14">
                      <a:extLst>
                        <a:ext uri="{FF2B5EF4-FFF2-40B4-BE49-F238E27FC236}">
                          <a16:creationId xmlns:a16="http://schemas.microsoft.com/office/drawing/2014/main" id="{D7BB102B-82F4-C89A-8544-C4CD0DCA79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50276" y="1977906"/>
                      <a:ext cx="1704109" cy="125215"/>
                    </a:xfrm>
                    <a:prstGeom prst="rect">
                      <a:avLst/>
                    </a:prstGeom>
                    <a:noFill/>
                    <a:ln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</p:grpSp>
              <p:sp>
                <p:nvSpPr>
                  <p:cNvPr id="25" name="직사각형 24">
                    <a:extLst>
                      <a:ext uri="{FF2B5EF4-FFF2-40B4-BE49-F238E27FC236}">
                        <a16:creationId xmlns:a16="http://schemas.microsoft.com/office/drawing/2014/main" id="{77967B8C-B1D2-0D8A-B03E-8F72E8FAE738}"/>
                      </a:ext>
                    </a:extLst>
                  </p:cNvPr>
                  <p:cNvSpPr/>
                  <p:nvPr/>
                </p:nvSpPr>
                <p:spPr>
                  <a:xfrm>
                    <a:off x="3241963" y="2092039"/>
                    <a:ext cx="2984269" cy="125216"/>
                  </a:xfrm>
                  <a:prstGeom prst="rect">
                    <a:avLst/>
                  </a:prstGeom>
                  <a:noFill/>
                  <a:ln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cxnSp>
                <p:nvCxnSpPr>
                  <p:cNvPr id="27" name="직선 화살표 연결선 26">
                    <a:extLst>
                      <a:ext uri="{FF2B5EF4-FFF2-40B4-BE49-F238E27FC236}">
                        <a16:creationId xmlns:a16="http://schemas.microsoft.com/office/drawing/2014/main" id="{BA0ECD28-6D29-8B2F-3F25-C23886AA5FC5}"/>
                      </a:ext>
                    </a:extLst>
                  </p:cNvPr>
                  <p:cNvCxnSpPr>
                    <a:cxnSpLocks/>
                    <a:stCxn id="25" idx="3"/>
                  </p:cNvCxnSpPr>
                  <p:nvPr/>
                </p:nvCxnSpPr>
                <p:spPr>
                  <a:xfrm>
                    <a:off x="6226232" y="2154647"/>
                    <a:ext cx="814648" cy="95486"/>
                  </a:xfrm>
                  <a:prstGeom prst="straightConnector1">
                    <a:avLst/>
                  </a:prstGeom>
                  <a:ln>
                    <a:solidFill>
                      <a:srgbClr val="00B0F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222A825D-801E-DF32-A7DF-CA61B9CD8D4C}"/>
                      </a:ext>
                    </a:extLst>
                  </p:cNvPr>
                  <p:cNvSpPr txBox="1"/>
                  <p:nvPr/>
                </p:nvSpPr>
                <p:spPr>
                  <a:xfrm>
                    <a:off x="7057505" y="2156295"/>
                    <a:ext cx="2091683" cy="230832"/>
                  </a:xfrm>
                  <a:prstGeom prst="rect">
                    <a:avLst/>
                  </a:prstGeom>
                  <a:noFill/>
                  <a:ln>
                    <a:solidFill>
                      <a:srgbClr val="00B0F0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ko-KR" altLang="en-US" sz="900"/>
                      <a:t>인덱스 </a:t>
                    </a:r>
                    <a:r>
                      <a:rPr lang="en-US" altLang="ko-KR" sz="900"/>
                      <a:t>setting </a:t>
                    </a:r>
                    <a:r>
                      <a:rPr lang="ko-KR" altLang="en-US" sz="900"/>
                      <a:t>정보가 정의되어있음</a:t>
                    </a:r>
                  </a:p>
                </p:txBody>
              </p:sp>
            </p:grpSp>
            <p:grpSp>
              <p:nvGrpSpPr>
                <p:cNvPr id="47" name="그룹 46">
                  <a:extLst>
                    <a:ext uri="{FF2B5EF4-FFF2-40B4-BE49-F238E27FC236}">
                      <a16:creationId xmlns:a16="http://schemas.microsoft.com/office/drawing/2014/main" id="{D0037DDA-446B-113D-51CB-D3C13E06A3FD}"/>
                    </a:ext>
                  </a:extLst>
                </p:cNvPr>
                <p:cNvGrpSpPr/>
                <p:nvPr/>
              </p:nvGrpSpPr>
              <p:grpSpPr>
                <a:xfrm>
                  <a:off x="3462251" y="2250355"/>
                  <a:ext cx="3295996" cy="415498"/>
                  <a:chOff x="3462251" y="2250355"/>
                  <a:chExt cx="3295996" cy="415498"/>
                </a:xfrm>
              </p:grpSpPr>
              <p:sp>
                <p:nvSpPr>
                  <p:cNvPr id="31" name="직사각형 30">
                    <a:extLst>
                      <a:ext uri="{FF2B5EF4-FFF2-40B4-BE49-F238E27FC236}">
                        <a16:creationId xmlns:a16="http://schemas.microsoft.com/office/drawing/2014/main" id="{BDBC8084-FB96-FCE9-CD2A-C49B5CC78BEA}"/>
                      </a:ext>
                    </a:extLst>
                  </p:cNvPr>
                  <p:cNvSpPr/>
                  <p:nvPr/>
                </p:nvSpPr>
                <p:spPr>
                  <a:xfrm>
                    <a:off x="3462251" y="2311092"/>
                    <a:ext cx="951808" cy="274166"/>
                  </a:xfrm>
                  <a:prstGeom prst="rect">
                    <a:avLst/>
                  </a:prstGeom>
                  <a:noFill/>
                  <a:ln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cxnSp>
                <p:nvCxnSpPr>
                  <p:cNvPr id="33" name="직선 화살표 연결선 32">
                    <a:extLst>
                      <a:ext uri="{FF2B5EF4-FFF2-40B4-BE49-F238E27FC236}">
                        <a16:creationId xmlns:a16="http://schemas.microsoft.com/office/drawing/2014/main" id="{CABD77A8-8C13-D0FA-89ED-5CBBB44E2D4D}"/>
                      </a:ext>
                    </a:extLst>
                  </p:cNvPr>
                  <p:cNvCxnSpPr>
                    <a:cxnSpLocks/>
                    <a:stCxn id="31" idx="3"/>
                    <a:endCxn id="36" idx="1"/>
                  </p:cNvCxnSpPr>
                  <p:nvPr/>
                </p:nvCxnSpPr>
                <p:spPr>
                  <a:xfrm>
                    <a:off x="4414059" y="2448175"/>
                    <a:ext cx="419439" cy="9929"/>
                  </a:xfrm>
                  <a:prstGeom prst="straightConnector1">
                    <a:avLst/>
                  </a:prstGeom>
                  <a:ln>
                    <a:solidFill>
                      <a:srgbClr val="FFC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E83B5703-4E97-60AD-2434-54D6FF368200}"/>
                      </a:ext>
                    </a:extLst>
                  </p:cNvPr>
                  <p:cNvSpPr txBox="1"/>
                  <p:nvPr/>
                </p:nvSpPr>
                <p:spPr>
                  <a:xfrm>
                    <a:off x="4833498" y="2250355"/>
                    <a:ext cx="1924749" cy="415498"/>
                  </a:xfrm>
                  <a:prstGeom prst="rect">
                    <a:avLst/>
                  </a:prstGeom>
                  <a:noFill/>
                  <a:ln>
                    <a:solidFill>
                      <a:srgbClr val="FFC000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000">
                        <a:solidFill>
                          <a:srgbClr val="FFFF00"/>
                        </a:solidFill>
                      </a:rPr>
                      <a:t>ElasticSearch</a:t>
                    </a:r>
                    <a:r>
                      <a:rPr lang="ko-KR" altLang="en-US" sz="1000">
                        <a:solidFill>
                          <a:srgbClr val="FFFF00"/>
                        </a:solidFill>
                      </a:rPr>
                      <a:t>에서 </a:t>
                    </a:r>
                    <a:r>
                      <a:rPr lang="en-US" altLang="ko-KR" sz="1000">
                        <a:solidFill>
                          <a:srgbClr val="FFFF00"/>
                        </a:solidFill>
                      </a:rPr>
                      <a:t>ID </a:t>
                    </a:r>
                    <a:r>
                      <a:rPr lang="ko-KR" altLang="en-US" sz="1000">
                        <a:solidFill>
                          <a:srgbClr val="FFFF00"/>
                        </a:solidFill>
                      </a:rPr>
                      <a:t>값은 기본적으로 문자열로 만들어짐</a:t>
                    </a:r>
                  </a:p>
                </p:txBody>
              </p:sp>
            </p:grpSp>
            <p:grpSp>
              <p:nvGrpSpPr>
                <p:cNvPr id="46" name="그룹 45">
                  <a:extLst>
                    <a:ext uri="{FF2B5EF4-FFF2-40B4-BE49-F238E27FC236}">
                      <a16:creationId xmlns:a16="http://schemas.microsoft.com/office/drawing/2014/main" id="{AE4724E4-C6F4-5ADD-06C3-84C7AB4FCFE6}"/>
                    </a:ext>
                  </a:extLst>
                </p:cNvPr>
                <p:cNvGrpSpPr/>
                <p:nvPr/>
              </p:nvGrpSpPr>
              <p:grpSpPr>
                <a:xfrm>
                  <a:off x="3462251" y="2665853"/>
                  <a:ext cx="7976062" cy="1070025"/>
                  <a:chOff x="3462251" y="2665853"/>
                  <a:chExt cx="7976062" cy="1070025"/>
                </a:xfrm>
              </p:grpSpPr>
              <p:sp>
                <p:nvSpPr>
                  <p:cNvPr id="42" name="직사각형 41">
                    <a:extLst>
                      <a:ext uri="{FF2B5EF4-FFF2-40B4-BE49-F238E27FC236}">
                        <a16:creationId xmlns:a16="http://schemas.microsoft.com/office/drawing/2014/main" id="{27B023A9-D044-E97A-CD6D-7D9D447734F1}"/>
                      </a:ext>
                    </a:extLst>
                  </p:cNvPr>
                  <p:cNvSpPr/>
                  <p:nvPr/>
                </p:nvSpPr>
                <p:spPr>
                  <a:xfrm>
                    <a:off x="3462251" y="2665853"/>
                    <a:ext cx="2880360" cy="1070025"/>
                  </a:xfrm>
                  <a:prstGeom prst="rect">
                    <a:avLst/>
                  </a:prstGeom>
                  <a:noFill/>
                  <a:ln>
                    <a:solidFill>
                      <a:srgbClr val="92D05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cxnSp>
                <p:nvCxnSpPr>
                  <p:cNvPr id="44" name="직선 화살표 연결선 43">
                    <a:extLst>
                      <a:ext uri="{FF2B5EF4-FFF2-40B4-BE49-F238E27FC236}">
                        <a16:creationId xmlns:a16="http://schemas.microsoft.com/office/drawing/2014/main" id="{7B5AAED0-8D1F-AEA3-0272-819C30809225}"/>
                      </a:ext>
                    </a:extLst>
                  </p:cNvPr>
                  <p:cNvCxnSpPr>
                    <a:cxnSpLocks/>
                    <a:stCxn id="42" idx="3"/>
                  </p:cNvCxnSpPr>
                  <p:nvPr/>
                </p:nvCxnSpPr>
                <p:spPr>
                  <a:xfrm flipV="1">
                    <a:off x="6342611" y="2959331"/>
                    <a:ext cx="714894" cy="241535"/>
                  </a:xfrm>
                  <a:prstGeom prst="straightConnector1">
                    <a:avLst/>
                  </a:prstGeom>
                  <a:ln>
                    <a:solidFill>
                      <a:srgbClr val="92D05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9E044316-E84F-A745-A7D1-00D4BA268A59}"/>
                      </a:ext>
                    </a:extLst>
                  </p:cNvPr>
                  <p:cNvSpPr txBox="1"/>
                  <p:nvPr/>
                </p:nvSpPr>
                <p:spPr>
                  <a:xfrm>
                    <a:off x="7057505" y="2836220"/>
                    <a:ext cx="4380808" cy="553998"/>
                  </a:xfrm>
                  <a:prstGeom prst="rect">
                    <a:avLst/>
                  </a:prstGeom>
                  <a:noFill/>
                  <a:ln>
                    <a:solidFill>
                      <a:srgbClr val="92D050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ko-KR" altLang="en-US" sz="1000"/>
                      <a:t>복수개의 자료형을 가질경우 </a:t>
                    </a:r>
                    <a:r>
                      <a:rPr lang="en-US" altLang="ko-KR" sz="1000"/>
                      <a:t>@MultiField</a:t>
                    </a:r>
                    <a:r>
                      <a:rPr lang="ko-KR" altLang="en-US" sz="1000"/>
                      <a:t>를 사용한다</a:t>
                    </a:r>
                    <a:r>
                      <a:rPr lang="en-US" altLang="ko-KR" sz="1000"/>
                      <a:t>.</a:t>
                    </a:r>
                  </a:p>
                  <a:p>
                    <a:r>
                      <a:rPr lang="en-US" altLang="ko-KR" sz="1000"/>
                      <a:t>@MultiField </a:t>
                    </a:r>
                    <a:r>
                      <a:rPr lang="ko-KR" altLang="en-US" sz="1000"/>
                      <a:t>애노테이션은 </a:t>
                    </a:r>
                    <a:r>
                      <a:rPr lang="en-US" altLang="ko-KR" sz="1000"/>
                      <a:t>mainField </a:t>
                    </a:r>
                    <a:r>
                      <a:rPr lang="ko-KR" altLang="en-US" sz="1000"/>
                      <a:t>속성을 통해 </a:t>
                    </a:r>
                    <a:br>
                      <a:rPr lang="en-US" altLang="ko-KR" sz="1000"/>
                    </a:br>
                    <a:r>
                      <a:rPr lang="ko-KR" altLang="en-US" sz="1000"/>
                      <a:t>메인 자료형을 지정하며</a:t>
                    </a:r>
                    <a:r>
                      <a:rPr lang="en-US" altLang="ko-KR" sz="1000"/>
                      <a:t>, otherField </a:t>
                    </a:r>
                    <a:r>
                      <a:rPr lang="ko-KR" altLang="en-US" sz="1000"/>
                      <a:t>속성을 통해 다른 자료형을 설정한다</a:t>
                    </a:r>
                    <a:r>
                      <a:rPr lang="en-US" altLang="ko-KR" sz="1000"/>
                      <a:t>.</a:t>
                    </a:r>
                    <a:endParaRPr lang="ko-KR" altLang="en-US" sz="1000"/>
                  </a:p>
                </p:txBody>
              </p:sp>
            </p:grpSp>
            <p:grpSp>
              <p:nvGrpSpPr>
                <p:cNvPr id="58" name="그룹 57">
                  <a:extLst>
                    <a:ext uri="{FF2B5EF4-FFF2-40B4-BE49-F238E27FC236}">
                      <a16:creationId xmlns:a16="http://schemas.microsoft.com/office/drawing/2014/main" id="{A9B23AED-C601-3399-3F25-399E972CB223}"/>
                    </a:ext>
                  </a:extLst>
                </p:cNvPr>
                <p:cNvGrpSpPr/>
                <p:nvPr/>
              </p:nvGrpSpPr>
              <p:grpSpPr>
                <a:xfrm>
                  <a:off x="3462251" y="4779818"/>
                  <a:ext cx="3798386" cy="1070025"/>
                  <a:chOff x="3462251" y="4779818"/>
                  <a:chExt cx="3798386" cy="1070025"/>
                </a:xfrm>
              </p:grpSpPr>
              <p:sp>
                <p:nvSpPr>
                  <p:cNvPr id="55" name="직사각형 54">
                    <a:extLst>
                      <a:ext uri="{FF2B5EF4-FFF2-40B4-BE49-F238E27FC236}">
                        <a16:creationId xmlns:a16="http://schemas.microsoft.com/office/drawing/2014/main" id="{4F2C15A4-B8E6-D1F8-E4A2-3E5F1E5E169A}"/>
                      </a:ext>
                    </a:extLst>
                  </p:cNvPr>
                  <p:cNvSpPr/>
                  <p:nvPr/>
                </p:nvSpPr>
                <p:spPr>
                  <a:xfrm>
                    <a:off x="3462251" y="4779818"/>
                    <a:ext cx="2880360" cy="1070025"/>
                  </a:xfrm>
                  <a:prstGeom prst="rect">
                    <a:avLst/>
                  </a:prstGeom>
                  <a:noFill/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cxnSp>
                <p:nvCxnSpPr>
                  <p:cNvPr id="57" name="직선 화살표 연결선 56">
                    <a:extLst>
                      <a:ext uri="{FF2B5EF4-FFF2-40B4-BE49-F238E27FC236}">
                        <a16:creationId xmlns:a16="http://schemas.microsoft.com/office/drawing/2014/main" id="{6C00C795-D77C-8512-705F-DE189D95C07F}"/>
                      </a:ext>
                    </a:extLst>
                  </p:cNvPr>
                  <p:cNvCxnSpPr>
                    <a:cxnSpLocks/>
                    <a:stCxn id="55" idx="3"/>
                    <a:endCxn id="62" idx="1"/>
                  </p:cNvCxnSpPr>
                  <p:nvPr/>
                </p:nvCxnSpPr>
                <p:spPr>
                  <a:xfrm>
                    <a:off x="6342611" y="5314831"/>
                    <a:ext cx="918026" cy="462359"/>
                  </a:xfrm>
                  <a:prstGeom prst="straightConnector1">
                    <a:avLst/>
                  </a:prstGeom>
                  <a:ln>
                    <a:solidFill>
                      <a:srgbClr val="7030A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62" name="그림 61">
                <a:extLst>
                  <a:ext uri="{FF2B5EF4-FFF2-40B4-BE49-F238E27FC236}">
                    <a16:creationId xmlns:a16="http://schemas.microsoft.com/office/drawing/2014/main" id="{44F459DB-5696-7EEF-B54A-01EB00C41A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t="3694"/>
              <a:stretch>
                <a:fillRect/>
              </a:stretch>
            </p:blipFill>
            <p:spPr>
              <a:xfrm>
                <a:off x="7260637" y="5070763"/>
                <a:ext cx="2886478" cy="1412854"/>
              </a:xfrm>
              <a:prstGeom prst="rect">
                <a:avLst/>
              </a:prstGeom>
              <a:ln>
                <a:solidFill>
                  <a:srgbClr val="7030A0"/>
                </a:solidFill>
              </a:ln>
            </p:spPr>
          </p:pic>
        </p:grpSp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26FEDDA2-BB14-AB75-C29F-1B9B20E64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035337" y="3390218"/>
              <a:ext cx="2025535" cy="1621616"/>
            </a:xfrm>
            <a:prstGeom prst="rect">
              <a:avLst/>
            </a:prstGeom>
            <a:ln>
              <a:solidFill>
                <a:srgbClr val="92D050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909814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88ADF5-1115-25A6-10AF-65479868D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elesticsearch/product-settings.json </a:t>
            </a:r>
            <a:r>
              <a:rPr lang="ko-KR" altLang="en-US" sz="3600"/>
              <a:t>파일 생성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4979114-F522-E577-BF79-DF3918EF121E}"/>
              </a:ext>
            </a:extLst>
          </p:cNvPr>
          <p:cNvGrpSpPr/>
          <p:nvPr/>
        </p:nvGrpSpPr>
        <p:grpSpPr>
          <a:xfrm>
            <a:off x="496273" y="1845475"/>
            <a:ext cx="2534004" cy="3000794"/>
            <a:chOff x="1097280" y="1845475"/>
            <a:chExt cx="2534004" cy="300079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B539C58-F41C-DEC9-CAB6-83B3BE54F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845475"/>
              <a:ext cx="2534004" cy="3000794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D24F71D-6995-B427-0244-BA937D872D11}"/>
                </a:ext>
              </a:extLst>
            </p:cNvPr>
            <p:cNvSpPr/>
            <p:nvPr/>
          </p:nvSpPr>
          <p:spPr>
            <a:xfrm>
              <a:off x="1421476" y="4580313"/>
              <a:ext cx="1512917" cy="26595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628A656-77D1-1790-30F0-02F93D541DC5}"/>
              </a:ext>
            </a:extLst>
          </p:cNvPr>
          <p:cNvSpPr txBox="1"/>
          <p:nvPr/>
        </p:nvSpPr>
        <p:spPr>
          <a:xfrm>
            <a:off x="3152823" y="1845475"/>
            <a:ext cx="81630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resources </a:t>
            </a:r>
            <a:r>
              <a:rPr lang="ko-KR" altLang="en-US" sz="1200"/>
              <a:t>하위에 </a:t>
            </a:r>
            <a:r>
              <a:rPr lang="en-US" altLang="ko-KR" sz="1200"/>
              <a:t>elasticsearch/product-settings.json </a:t>
            </a:r>
            <a:r>
              <a:rPr lang="ko-KR" altLang="en-US" sz="1200"/>
              <a:t>파일 생성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96616B2-A155-4C4C-2956-7F9807AC2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2823" y="2230589"/>
            <a:ext cx="4495075" cy="3588320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3637E6EF-9331-AA9D-6F97-8BC6A5BF353D}"/>
              </a:ext>
            </a:extLst>
          </p:cNvPr>
          <p:cNvGrpSpPr/>
          <p:nvPr/>
        </p:nvGrpSpPr>
        <p:grpSpPr>
          <a:xfrm>
            <a:off x="7735041" y="2230589"/>
            <a:ext cx="4301789" cy="3871536"/>
            <a:chOff x="7735041" y="2230589"/>
            <a:chExt cx="4301789" cy="3871536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A52C0AF6-540A-5CC2-B39B-8D132C89FD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35041" y="2230589"/>
              <a:ext cx="4301788" cy="3871536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BCEBA44-CB82-3D88-A7B9-9B34BA25971C}"/>
                </a:ext>
              </a:extLst>
            </p:cNvPr>
            <p:cNvSpPr/>
            <p:nvPr/>
          </p:nvSpPr>
          <p:spPr>
            <a:xfrm>
              <a:off x="8262852" y="2568633"/>
              <a:ext cx="3773978" cy="345809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B3C6563-91FB-DE22-8D72-B874F1191914}"/>
              </a:ext>
            </a:extLst>
          </p:cNvPr>
          <p:cNvSpPr txBox="1"/>
          <p:nvPr/>
        </p:nvSpPr>
        <p:spPr>
          <a:xfrm>
            <a:off x="9567949" y="2668385"/>
            <a:ext cx="24688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settings </a:t>
            </a:r>
            <a:r>
              <a:rPr lang="ko-KR" altLang="en-US" sz="1100"/>
              <a:t>내부의 코드가 곧 </a:t>
            </a:r>
            <a:br>
              <a:rPr lang="en-US" altLang="ko-KR" sz="1100"/>
            </a:br>
            <a:r>
              <a:rPr lang="en-US" altLang="ko-KR" sz="1100"/>
              <a:t>product-settings.json </a:t>
            </a:r>
            <a:r>
              <a:rPr lang="ko-KR" altLang="en-US" sz="1100"/>
              <a:t>내용이 된다</a:t>
            </a:r>
            <a:r>
              <a:rPr lang="en-US" altLang="ko-KR" sz="1100"/>
              <a:t>.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2024770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40F74E-5593-12E0-B565-7EC2F7489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/>
              <a:t>ElasticSearch </a:t>
            </a:r>
            <a:r>
              <a:rPr lang="ko-KR" altLang="en-US" sz="3200"/>
              <a:t>조작을 위한 </a:t>
            </a:r>
            <a:r>
              <a:rPr lang="en-US" altLang="ko-KR" sz="3200"/>
              <a:t>ProductDocumentRepository </a:t>
            </a:r>
            <a:r>
              <a:rPr lang="ko-KR" altLang="en-US" sz="3200"/>
              <a:t>작성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EDC173B-46F5-4083-39DB-732693864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136" y="1837775"/>
            <a:ext cx="8030696" cy="1686160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53CD13BD-1DBA-8F1A-9555-B2A1BB0E8A86}"/>
              </a:ext>
            </a:extLst>
          </p:cNvPr>
          <p:cNvGrpSpPr/>
          <p:nvPr/>
        </p:nvGrpSpPr>
        <p:grpSpPr>
          <a:xfrm>
            <a:off x="1097280" y="1837775"/>
            <a:ext cx="2553056" cy="2343477"/>
            <a:chOff x="1097280" y="1837775"/>
            <a:chExt cx="2553056" cy="234347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168C449-2464-917F-8039-545061F640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7280" y="1837775"/>
              <a:ext cx="2553056" cy="2343477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DD97F44-AF69-79A7-814C-42906AB96018}"/>
                </a:ext>
              </a:extLst>
            </p:cNvPr>
            <p:cNvSpPr/>
            <p:nvPr/>
          </p:nvSpPr>
          <p:spPr>
            <a:xfrm>
              <a:off x="1379913" y="3931920"/>
              <a:ext cx="2103120" cy="2493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82F30A9-628F-418B-B867-395C0FFDED71}"/>
              </a:ext>
            </a:extLst>
          </p:cNvPr>
          <p:cNvSpPr txBox="1"/>
          <p:nvPr/>
        </p:nvSpPr>
        <p:spPr>
          <a:xfrm>
            <a:off x="3768136" y="3599411"/>
            <a:ext cx="80306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JpaRepository</a:t>
            </a:r>
            <a:r>
              <a:rPr lang="ko-KR" altLang="en-US" sz="1100"/>
              <a:t>를 인터페이스에 상속받듯이 </a:t>
            </a:r>
            <a:r>
              <a:rPr lang="en-US" altLang="ko-KR" sz="1100"/>
              <a:t>ElasticSearch</a:t>
            </a:r>
            <a:r>
              <a:rPr lang="ko-KR" altLang="en-US" sz="1100"/>
              <a:t>도 동일하다</a:t>
            </a:r>
            <a:r>
              <a:rPr lang="en-US" altLang="ko-KR" sz="1100"/>
              <a:t>.</a:t>
            </a:r>
          </a:p>
          <a:p>
            <a:endParaRPr lang="en-US" altLang="ko-KR" sz="1100"/>
          </a:p>
          <a:p>
            <a:r>
              <a:rPr lang="en-US" altLang="ko-KR" sz="1100"/>
              <a:t>interface </a:t>
            </a:r>
            <a:r>
              <a:rPr lang="ko-KR" altLang="en-US" sz="1100"/>
              <a:t>클래스에 </a:t>
            </a:r>
            <a:r>
              <a:rPr lang="en-US" altLang="ko-KR" sz="1100"/>
              <a:t>ElasticsearchRepository</a:t>
            </a:r>
            <a:r>
              <a:rPr lang="ko-KR" altLang="en-US" sz="1100"/>
              <a:t>를 상속받는다</a:t>
            </a:r>
            <a:r>
              <a:rPr lang="en-US" altLang="ko-KR" sz="1100"/>
              <a:t>.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17788505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8F1917-1D49-0AF7-EF21-7C7A4B5B8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 err="1"/>
              <a:t>ProductService</a:t>
            </a:r>
            <a:r>
              <a:rPr lang="en-US" altLang="ko-KR" sz="3600"/>
              <a:t> </a:t>
            </a:r>
            <a:r>
              <a:rPr lang="ko-KR" altLang="en-US" sz="3600"/>
              <a:t>데이터 삽입</a:t>
            </a:r>
            <a:r>
              <a:rPr lang="en-US" altLang="ko-KR" sz="3600"/>
              <a:t>, </a:t>
            </a:r>
            <a:r>
              <a:rPr lang="ko-KR" altLang="en-US" sz="3600"/>
              <a:t>삭제 로직 수정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5F58845-1A81-04D9-249F-63B5E17EA61E}"/>
              </a:ext>
            </a:extLst>
          </p:cNvPr>
          <p:cNvGrpSpPr/>
          <p:nvPr/>
        </p:nvGrpSpPr>
        <p:grpSpPr>
          <a:xfrm>
            <a:off x="340125" y="1852575"/>
            <a:ext cx="2534004" cy="3019846"/>
            <a:chOff x="340125" y="1852575"/>
            <a:chExt cx="2534004" cy="301984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4BA0563-6410-868F-F315-2A1879FE4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0125" y="1852575"/>
              <a:ext cx="2534004" cy="3019846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46B4355-92FF-A0B7-C914-A4A2BA9BDE6D}"/>
                </a:ext>
              </a:extLst>
            </p:cNvPr>
            <p:cNvSpPr/>
            <p:nvPr/>
          </p:nvSpPr>
          <p:spPr>
            <a:xfrm>
              <a:off x="656705" y="4621876"/>
              <a:ext cx="1321724" cy="19119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A092DF30-2E37-5F37-DF0A-91AA8B66C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822" y="1852575"/>
            <a:ext cx="5390334" cy="200453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3617FDC-E97C-8D30-2451-2FF046AFF9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7822" y="3918534"/>
            <a:ext cx="4656444" cy="293946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D5A73F1-61BB-43A6-04F4-8E23508FC2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5407" y="3918534"/>
            <a:ext cx="4086468" cy="8240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03F524B-4471-46FA-D52B-9607564ADBD8}"/>
              </a:ext>
            </a:extLst>
          </p:cNvPr>
          <p:cNvSpPr txBox="1"/>
          <p:nvPr/>
        </p:nvSpPr>
        <p:spPr>
          <a:xfrm>
            <a:off x="8429105" y="1852575"/>
            <a:ext cx="342277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ElasticSearch Repository (ProductDocumentRepository Bean</a:t>
            </a:r>
            <a:r>
              <a:rPr lang="ko-KR" altLang="en-US" sz="1050"/>
              <a:t> 생성자주입 추가</a:t>
            </a:r>
            <a:r>
              <a:rPr lang="en-US" altLang="ko-KR" sz="1050"/>
              <a:t>)</a:t>
            </a:r>
          </a:p>
          <a:p>
            <a:endParaRPr lang="ko-KR" altLang="en-US" sz="10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B8C910-02B2-35F5-C4F6-B47679D8D7E0}"/>
              </a:ext>
            </a:extLst>
          </p:cNvPr>
          <p:cNvSpPr txBox="1"/>
          <p:nvPr/>
        </p:nvSpPr>
        <p:spPr>
          <a:xfrm>
            <a:off x="5006335" y="5547893"/>
            <a:ext cx="245849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>
                <a:solidFill>
                  <a:srgbClr val="FFFF00"/>
                </a:solidFill>
              </a:rPr>
              <a:t>JPA</a:t>
            </a:r>
            <a:r>
              <a:rPr lang="ko-KR" altLang="en-US" sz="1050">
                <a:solidFill>
                  <a:srgbClr val="FFFF00"/>
                </a:solidFill>
              </a:rPr>
              <a:t> 데이터 저장후 </a:t>
            </a:r>
            <a:r>
              <a:rPr lang="en-US" altLang="ko-KR" sz="1050">
                <a:solidFill>
                  <a:srgbClr val="FFFF00"/>
                </a:solidFill>
              </a:rPr>
              <a:t>ElasticSearch Document</a:t>
            </a:r>
            <a:r>
              <a:rPr lang="ko-KR" altLang="en-US" sz="1050">
                <a:solidFill>
                  <a:srgbClr val="FFFF00"/>
                </a:solidFill>
              </a:rPr>
              <a:t> 입력</a:t>
            </a:r>
            <a:r>
              <a:rPr lang="en-US" altLang="ko-KR" sz="1050">
                <a:solidFill>
                  <a:srgbClr val="FFFF00"/>
                </a:solidFill>
              </a:rPr>
              <a:t>(</a:t>
            </a:r>
            <a:r>
              <a:rPr lang="ko-KR" altLang="en-US" sz="1050">
                <a:solidFill>
                  <a:srgbClr val="FFFF00"/>
                </a:solidFill>
              </a:rPr>
              <a:t>저장</a:t>
            </a:r>
            <a:r>
              <a:rPr lang="en-US" altLang="ko-KR" sz="1050">
                <a:solidFill>
                  <a:srgbClr val="FFFF00"/>
                </a:solidFill>
              </a:rPr>
              <a:t>)</a:t>
            </a:r>
            <a:endParaRPr lang="ko-KR" altLang="en-US" sz="1050">
              <a:solidFill>
                <a:srgbClr val="FFFF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7427A3-B31E-E27A-E2D0-7C1B4BC741B0}"/>
              </a:ext>
            </a:extLst>
          </p:cNvPr>
          <p:cNvSpPr txBox="1"/>
          <p:nvPr/>
        </p:nvSpPr>
        <p:spPr>
          <a:xfrm>
            <a:off x="7765407" y="4803983"/>
            <a:ext cx="288798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JPA </a:t>
            </a:r>
            <a:r>
              <a:rPr lang="ko-KR" altLang="en-US" sz="1050"/>
              <a:t>데이터 삭제 후 </a:t>
            </a:r>
            <a:r>
              <a:rPr lang="en-US" altLang="ko-KR" sz="1050"/>
              <a:t>Elasticsearch </a:t>
            </a:r>
            <a:r>
              <a:rPr lang="ko-KR" altLang="en-US" sz="1050"/>
              <a:t>내 데이터 삭제</a:t>
            </a:r>
          </a:p>
        </p:txBody>
      </p:sp>
    </p:spTree>
    <p:extLst>
      <p:ext uri="{BB962C8B-B14F-4D97-AF65-F5344CB8AC3E}">
        <p14:creationId xmlns:p14="http://schemas.microsoft.com/office/powerpoint/2010/main" val="25878849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63307F-AEBA-8B10-71D9-BE2E8C812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자동 완성 </a:t>
            </a:r>
            <a:r>
              <a:rPr lang="en-US" altLang="ko-KR"/>
              <a:t>URL </a:t>
            </a:r>
            <a:r>
              <a:rPr lang="ko-KR" altLang="en-US"/>
              <a:t>작성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357E650-85F4-7FCD-5FCA-4B15FBD87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834" y="1886413"/>
            <a:ext cx="8011643" cy="1009791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299CC11E-A7AE-09DC-2D41-D3BC15A096BF}"/>
              </a:ext>
            </a:extLst>
          </p:cNvPr>
          <p:cNvGrpSpPr/>
          <p:nvPr/>
        </p:nvGrpSpPr>
        <p:grpSpPr>
          <a:xfrm>
            <a:off x="1212351" y="1886413"/>
            <a:ext cx="2162400" cy="4799820"/>
            <a:chOff x="1212351" y="1886413"/>
            <a:chExt cx="2162400" cy="4799820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7F9B26E6-E4EC-3CAF-A9A7-D5C667C987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12351" y="1886413"/>
              <a:ext cx="2162400" cy="4799820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D0923D2-4F9C-C4CE-45B7-655E916C57D9}"/>
                </a:ext>
              </a:extLst>
            </p:cNvPr>
            <p:cNvSpPr/>
            <p:nvPr/>
          </p:nvSpPr>
          <p:spPr>
            <a:xfrm>
              <a:off x="1489753" y="4736387"/>
              <a:ext cx="1202076" cy="21575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252364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FD6854-5087-B1D6-9B04-181017F6A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자동완성서비스 작성 </a:t>
            </a:r>
            <a:r>
              <a:rPr lang="en-US" altLang="ko-KR"/>
              <a:t>- ProductService</a:t>
            </a:r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31E186A-DD7A-8D40-17D5-2845B303AD00}"/>
              </a:ext>
            </a:extLst>
          </p:cNvPr>
          <p:cNvGrpSpPr/>
          <p:nvPr/>
        </p:nvGrpSpPr>
        <p:grpSpPr>
          <a:xfrm>
            <a:off x="450631" y="1884443"/>
            <a:ext cx="2886478" cy="4686954"/>
            <a:chOff x="450631" y="1884443"/>
            <a:chExt cx="2886478" cy="468695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14CD643-60AC-EA2F-0108-F0FDD64799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0631" y="1884443"/>
              <a:ext cx="2886478" cy="4686954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D9BE16D9-768B-716B-7B9A-3CC943BFDF5D}"/>
                </a:ext>
              </a:extLst>
            </p:cNvPr>
            <p:cNvSpPr/>
            <p:nvPr/>
          </p:nvSpPr>
          <p:spPr>
            <a:xfrm>
              <a:off x="780836" y="5876818"/>
              <a:ext cx="1387011" cy="28767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2B4A4F6E-0413-CBC0-4E8D-7686125BC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4601" y="1884443"/>
            <a:ext cx="4467598" cy="207698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4F54AF2-7640-41F3-F4E2-CCCE60ACBF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4601" y="4002520"/>
            <a:ext cx="6265574" cy="27771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B8FF748-1EEC-FD57-CC32-DBFDDC0F1D52}"/>
              </a:ext>
            </a:extLst>
          </p:cNvPr>
          <p:cNvSpPr txBox="1"/>
          <p:nvPr/>
        </p:nvSpPr>
        <p:spPr>
          <a:xfrm>
            <a:off x="8047973" y="1884443"/>
            <a:ext cx="39770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/>
              <a:t>※Elasticsearch</a:t>
            </a:r>
            <a:r>
              <a:rPr lang="ko-KR" altLang="en-US" sz="1000"/>
              <a:t>의 검색기능은 </a:t>
            </a:r>
            <a:r>
              <a:rPr lang="en-US" altLang="ko-KR" sz="1000"/>
              <a:t>ElasticsearchOperations </a:t>
            </a:r>
            <a:r>
              <a:rPr lang="ko-KR" altLang="en-US" sz="1000"/>
              <a:t>를 사용한다</a:t>
            </a:r>
            <a:r>
              <a:rPr lang="en-US" altLang="ko-KR" sz="1000"/>
              <a:t>.</a:t>
            </a:r>
          </a:p>
          <a:p>
            <a:endParaRPr lang="en-US" altLang="ko-KR" sz="1000"/>
          </a:p>
          <a:p>
            <a:pPr marL="228600" indent="-228600">
              <a:buAutoNum type="arabicPeriod"/>
            </a:pPr>
            <a:r>
              <a:rPr lang="en-US" altLang="ko-KR" sz="1000"/>
              <a:t>elasticsearch</a:t>
            </a:r>
            <a:r>
              <a:rPr lang="ko-KR" altLang="en-US" sz="1000"/>
              <a:t>의 검색 요청을 위한 </a:t>
            </a:r>
            <a:r>
              <a:rPr lang="en-US" altLang="ko-KR" sz="1000"/>
              <a:t>ElasticsearchOperations </a:t>
            </a:r>
            <a:br>
              <a:rPr lang="en-US" altLang="ko-KR" sz="1000"/>
            </a:br>
            <a:r>
              <a:rPr lang="en-US" altLang="ko-KR" sz="1000"/>
              <a:t>Bean </a:t>
            </a:r>
            <a:r>
              <a:rPr lang="ko-KR" altLang="en-US" sz="1000"/>
              <a:t>생성자 주입 </a:t>
            </a:r>
            <a:endParaRPr lang="en-US" altLang="ko-KR" sz="1000"/>
          </a:p>
          <a:p>
            <a:pPr marL="228600" indent="-228600">
              <a:buAutoNum type="arabicPeriod"/>
            </a:pPr>
            <a:endParaRPr lang="en-US" altLang="ko-KR" sz="1000"/>
          </a:p>
          <a:p>
            <a:pPr marL="228600" indent="-228600">
              <a:buAutoNum type="arabicPeriod"/>
            </a:pPr>
            <a:endParaRPr lang="ko-KR" altLang="en-US" sz="1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94FC3-BE22-6EA7-932A-C7AB2B762244}"/>
              </a:ext>
            </a:extLst>
          </p:cNvPr>
          <p:cNvSpPr txBox="1"/>
          <p:nvPr/>
        </p:nvSpPr>
        <p:spPr>
          <a:xfrm>
            <a:off x="9750175" y="3867576"/>
            <a:ext cx="244182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/>
              <a:t>2. </a:t>
            </a:r>
            <a:r>
              <a:rPr lang="ko-KR" altLang="en-US" sz="800"/>
              <a:t>검색을 위한 </a:t>
            </a:r>
            <a:r>
              <a:rPr lang="en-US" altLang="ko-KR" sz="800"/>
              <a:t>Query</a:t>
            </a:r>
            <a:r>
              <a:rPr lang="ko-KR" altLang="en-US" sz="800"/>
              <a:t>를 작성한다</a:t>
            </a:r>
            <a:r>
              <a:rPr lang="en-US" altLang="ko-KR" sz="800"/>
              <a:t>.</a:t>
            </a:r>
            <a:br>
              <a:rPr lang="en-US" altLang="ko-KR" sz="800"/>
            </a:br>
            <a:r>
              <a:rPr lang="en-US" altLang="ko-KR" sz="800"/>
              <a:t>     </a:t>
            </a:r>
            <a:r>
              <a:rPr lang="ko-KR" altLang="en-US" sz="800"/>
              <a:t>멀티 검색조건 </a:t>
            </a:r>
            <a:r>
              <a:rPr lang="en-US" altLang="ko-KR" sz="800"/>
              <a:t>MultiMatchQuery</a:t>
            </a:r>
            <a:r>
              <a:rPr lang="ko-KR" altLang="en-US" sz="800"/>
              <a:t>작성</a:t>
            </a:r>
            <a:endParaRPr lang="en-US" altLang="ko-KR" sz="800"/>
          </a:p>
          <a:p>
            <a:r>
              <a:rPr lang="en-US" altLang="ko-KR" sz="800"/>
              <a:t>     (Query</a:t>
            </a:r>
            <a:r>
              <a:rPr lang="ko-KR" altLang="en-US" sz="800"/>
              <a:t>는 </a:t>
            </a:r>
            <a:r>
              <a:rPr lang="en-US" altLang="ko-KR" sz="800"/>
              <a:t>MultiMatchQuery, BoolQuery, </a:t>
            </a:r>
            <a:br>
              <a:rPr lang="en-US" altLang="ko-KR" sz="800"/>
            </a:br>
            <a:r>
              <a:rPr lang="en-US" altLang="ko-KR" sz="800"/>
              <a:t>      TermQuery </a:t>
            </a:r>
            <a:r>
              <a:rPr lang="ko-KR" altLang="en-US" sz="800"/>
              <a:t>등을 포괄하여 </a:t>
            </a:r>
            <a:br>
              <a:rPr lang="en-US" altLang="ko-KR" sz="800"/>
            </a:br>
            <a:r>
              <a:rPr lang="en-US" altLang="ko-KR" sz="800"/>
              <a:t>      </a:t>
            </a:r>
            <a:r>
              <a:rPr lang="ko-KR" altLang="en-US" sz="800"/>
              <a:t>받을수 있는 부모 클래스이다</a:t>
            </a:r>
            <a:r>
              <a:rPr lang="en-US" altLang="ko-KR" sz="800"/>
              <a:t>.)</a:t>
            </a:r>
          </a:p>
          <a:p>
            <a:endParaRPr lang="en-US" altLang="ko-KR" sz="800"/>
          </a:p>
          <a:p>
            <a:r>
              <a:rPr lang="en-US" altLang="ko-KR" sz="800"/>
              <a:t>3. MultiMatchQuery</a:t>
            </a:r>
            <a:r>
              <a:rPr lang="ko-KR" altLang="en-US" sz="800"/>
              <a:t>의 </a:t>
            </a:r>
            <a:r>
              <a:rPr lang="en-US" altLang="ko-KR" sz="800"/>
              <a:t>of </a:t>
            </a:r>
            <a:r>
              <a:rPr lang="ko-KR" altLang="en-US" sz="800"/>
              <a:t>의 </a:t>
            </a:r>
            <a:r>
              <a:rPr lang="en-US" altLang="ko-KR" sz="800"/>
              <a:t>m </a:t>
            </a:r>
            <a:r>
              <a:rPr lang="ko-KR" altLang="en-US" sz="800"/>
              <a:t>은 </a:t>
            </a:r>
            <a:br>
              <a:rPr lang="en-US" altLang="ko-KR" sz="800"/>
            </a:br>
            <a:r>
              <a:rPr lang="en-US" altLang="ko-KR" sz="800"/>
              <a:t>    </a:t>
            </a:r>
            <a:r>
              <a:rPr lang="ko-KR" altLang="en-US" sz="800"/>
              <a:t>조회 쿼리에서 </a:t>
            </a:r>
            <a:r>
              <a:rPr lang="en-US" altLang="ko-KR" sz="800"/>
              <a:t>multi_match</a:t>
            </a:r>
            <a:r>
              <a:rPr lang="ko-KR" altLang="en-US" sz="800"/>
              <a:t> 를 의미하며</a:t>
            </a:r>
            <a:r>
              <a:rPr lang="en-US" altLang="ko-KR" sz="800"/>
              <a:t>,</a:t>
            </a:r>
            <a:br>
              <a:rPr lang="en-US" altLang="ko-KR" sz="800"/>
            </a:br>
            <a:r>
              <a:rPr lang="en-US" altLang="ko-KR" sz="800"/>
              <a:t>    query / type / fields </a:t>
            </a:r>
            <a:r>
              <a:rPr lang="ko-KR" altLang="en-US" sz="800"/>
              <a:t>를 동일한 이름의 </a:t>
            </a:r>
            <a:br>
              <a:rPr lang="en-US" altLang="ko-KR" sz="800"/>
            </a:br>
            <a:r>
              <a:rPr lang="en-US" altLang="ko-KR" sz="800"/>
              <a:t>    </a:t>
            </a:r>
            <a:r>
              <a:rPr lang="ko-KR" altLang="en-US" sz="800"/>
              <a:t>메소드로 정의한다</a:t>
            </a:r>
            <a:r>
              <a:rPr lang="en-US" altLang="ko-KR" sz="800"/>
              <a:t>.</a:t>
            </a:r>
          </a:p>
          <a:p>
            <a:endParaRPr lang="en-US" altLang="ko-KR" sz="800"/>
          </a:p>
          <a:p>
            <a:r>
              <a:rPr lang="en-US" altLang="ko-KR" sz="800"/>
              <a:t>4. NativeQuery </a:t>
            </a:r>
            <a:r>
              <a:rPr lang="ko-KR" altLang="en-US" sz="800"/>
              <a:t>는 조회쿼리에서 </a:t>
            </a:r>
            <a:r>
              <a:rPr lang="en-US" altLang="ko-KR" sz="800"/>
              <a:t>query</a:t>
            </a:r>
            <a:r>
              <a:rPr lang="ko-KR" altLang="en-US" sz="800"/>
              <a:t>에 </a:t>
            </a:r>
            <a:br>
              <a:rPr lang="en-US" altLang="ko-KR" sz="800"/>
            </a:br>
            <a:r>
              <a:rPr lang="en-US" altLang="ko-KR" sz="800"/>
              <a:t>    </a:t>
            </a:r>
            <a:r>
              <a:rPr lang="ko-KR" altLang="en-US" sz="800"/>
              <a:t>해당한다 </a:t>
            </a:r>
            <a:r>
              <a:rPr lang="en-US" altLang="ko-KR" sz="800"/>
              <a:t>. </a:t>
            </a:r>
            <a:r>
              <a:rPr lang="ko-KR" altLang="en-US" sz="800"/>
              <a:t>정의한 </a:t>
            </a:r>
            <a:r>
              <a:rPr lang="en-US" altLang="ko-KR" sz="800"/>
              <a:t>MultiMatchQuery</a:t>
            </a:r>
            <a:r>
              <a:rPr lang="ko-KR" altLang="en-US" sz="800"/>
              <a:t>를 </a:t>
            </a:r>
            <a:br>
              <a:rPr lang="en-US" altLang="ko-KR" sz="800"/>
            </a:br>
            <a:r>
              <a:rPr lang="en-US" altLang="ko-KR" sz="800"/>
              <a:t>    </a:t>
            </a:r>
            <a:r>
              <a:rPr lang="ko-KR" altLang="en-US" sz="800"/>
              <a:t>셋팅</a:t>
            </a:r>
            <a:r>
              <a:rPr lang="en-US" altLang="ko-KR" sz="800"/>
              <a:t>(= .withQuery )</a:t>
            </a:r>
            <a:r>
              <a:rPr lang="ko-KR" altLang="en-US" sz="800"/>
              <a:t>하고 </a:t>
            </a:r>
            <a:br>
              <a:rPr lang="en-US" altLang="ko-KR" sz="800"/>
            </a:br>
            <a:r>
              <a:rPr lang="en-US" altLang="ko-KR" sz="800"/>
              <a:t>    </a:t>
            </a:r>
            <a:r>
              <a:rPr lang="ko-KR" altLang="en-US" sz="800"/>
              <a:t>결과를 </a:t>
            </a:r>
            <a:r>
              <a:rPr lang="en-US" altLang="ko-KR" sz="800"/>
              <a:t>5</a:t>
            </a:r>
            <a:r>
              <a:rPr lang="ko-KR" altLang="en-US" sz="800"/>
              <a:t>개만 반환하기 위해 </a:t>
            </a:r>
            <a:br>
              <a:rPr lang="en-US" altLang="ko-KR" sz="800"/>
            </a:br>
            <a:r>
              <a:rPr lang="en-US" altLang="ko-KR" sz="800"/>
              <a:t>     page</a:t>
            </a:r>
            <a:r>
              <a:rPr lang="ko-KR" altLang="en-US" sz="800"/>
              <a:t>처리</a:t>
            </a:r>
            <a:r>
              <a:rPr lang="en-US" altLang="ko-KR" sz="800"/>
              <a:t>(=.withPageable())</a:t>
            </a:r>
            <a:r>
              <a:rPr lang="ko-KR" altLang="en-US" sz="800"/>
              <a:t>를 한다</a:t>
            </a:r>
            <a:r>
              <a:rPr lang="en-US" altLang="ko-KR" sz="800"/>
              <a:t>.</a:t>
            </a:r>
          </a:p>
          <a:p>
            <a:endParaRPr lang="en-US" altLang="ko-KR" sz="800"/>
          </a:p>
          <a:p>
            <a:r>
              <a:rPr lang="en-US" altLang="ko-KR" sz="800"/>
              <a:t>5. searchHits.getSearchHits()</a:t>
            </a:r>
            <a:r>
              <a:rPr lang="ko-KR" altLang="en-US" sz="800"/>
              <a:t>는 검색조건에 </a:t>
            </a:r>
            <a:br>
              <a:rPr lang="en-US" altLang="ko-KR" sz="800"/>
            </a:br>
            <a:r>
              <a:rPr lang="en-US" altLang="ko-KR" sz="800"/>
              <a:t>    </a:t>
            </a:r>
            <a:r>
              <a:rPr lang="ko-KR" altLang="en-US" sz="800"/>
              <a:t>맞는 정보를 가져오는 행위이며</a:t>
            </a:r>
            <a:r>
              <a:rPr lang="en-US" altLang="ko-KR" sz="800"/>
              <a:t>, </a:t>
            </a:r>
            <a:r>
              <a:rPr lang="ko-KR" altLang="en-US" sz="800"/>
              <a:t>정의한 </a:t>
            </a:r>
            <a:br>
              <a:rPr lang="en-US" altLang="ko-KR" sz="800"/>
            </a:br>
            <a:r>
              <a:rPr lang="en-US" altLang="ko-KR" sz="800"/>
              <a:t>    Document  </a:t>
            </a:r>
            <a:r>
              <a:rPr lang="ko-KR" altLang="en-US" sz="800"/>
              <a:t>맵핑을 위해 </a:t>
            </a:r>
            <a:r>
              <a:rPr lang="en-US" altLang="ko-KR" sz="800"/>
              <a:t>.steam().map() </a:t>
            </a:r>
            <a:br>
              <a:rPr lang="en-US" altLang="ko-KR" sz="800"/>
            </a:br>
            <a:r>
              <a:rPr lang="en-US" altLang="ko-KR" sz="800"/>
              <a:t>    </a:t>
            </a:r>
            <a:r>
              <a:rPr lang="ko-KR" altLang="en-US" sz="800"/>
              <a:t>모든 </a:t>
            </a:r>
            <a:r>
              <a:rPr lang="en-US" altLang="ko-KR" sz="800"/>
              <a:t>Document </a:t>
            </a:r>
            <a:r>
              <a:rPr lang="ko-KR" altLang="en-US" sz="800"/>
              <a:t>요소들의 상품명 만을 </a:t>
            </a:r>
            <a:br>
              <a:rPr lang="en-US" altLang="ko-KR" sz="800"/>
            </a:br>
            <a:r>
              <a:rPr lang="en-US" altLang="ko-KR" sz="800"/>
              <a:t>    </a:t>
            </a:r>
            <a:r>
              <a:rPr lang="ko-KR" altLang="en-US" sz="800"/>
              <a:t>뽑기 위해 </a:t>
            </a:r>
            <a:r>
              <a:rPr lang="en-US" altLang="ko-KR" sz="800"/>
              <a:t>.getContent().getName()</a:t>
            </a:r>
            <a:br>
              <a:rPr lang="en-US" altLang="ko-KR" sz="800"/>
            </a:br>
            <a:r>
              <a:rPr lang="en-US" altLang="ko-KR" sz="800"/>
              <a:t> </a:t>
            </a:r>
            <a:r>
              <a:rPr lang="ko-KR" altLang="en-US" sz="800"/>
              <a:t>   리스트로 의 반환을 위해 </a:t>
            </a:r>
            <a:r>
              <a:rPr lang="en-US" altLang="ko-KR" sz="800"/>
              <a:t>.toList()</a:t>
            </a:r>
            <a:r>
              <a:rPr lang="ko-KR" altLang="en-US" sz="800"/>
              <a:t>를 사용한다</a:t>
            </a:r>
            <a:r>
              <a:rPr lang="en-US" altLang="ko-KR" sz="800"/>
              <a:t>.</a:t>
            </a:r>
            <a:br>
              <a:rPr lang="en-US" altLang="ko-KR" sz="800"/>
            </a:br>
            <a:r>
              <a:rPr lang="en-US" altLang="ko-KR" sz="800"/>
              <a:t>    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E5A1B6B-D3CD-F75C-0ADB-589A948F80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9692" y="2760231"/>
            <a:ext cx="3818824" cy="1057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924694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854</TotalTime>
  <Words>809</Words>
  <Application>Microsoft Office PowerPoint</Application>
  <PresentationFormat>와이드스크린</PresentationFormat>
  <Paragraphs>80</Paragraphs>
  <Slides>20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맑은 고딕</vt:lpstr>
      <vt:lpstr>Calibri</vt:lpstr>
      <vt:lpstr>Calibri Light</vt:lpstr>
      <vt:lpstr>Wingdings</vt:lpstr>
      <vt:lpstr>추억</vt:lpstr>
      <vt:lpstr>SpringBoot - ElasticSearch 도입</vt:lpstr>
      <vt:lpstr>인프라 구성</vt:lpstr>
      <vt:lpstr>실습 인프라 구성</vt:lpstr>
      <vt:lpstr>DB docker container 생성</vt:lpstr>
      <vt:lpstr>application.yml 에 DB 연결정보 수정</vt:lpstr>
      <vt:lpstr>요구 사항</vt:lpstr>
      <vt:lpstr>요구 사항에 맞는 Kibana 쿼리 작성 -1</vt:lpstr>
      <vt:lpstr>요구 사항에 맞는 Kibana 쿼리 작성 -2</vt:lpstr>
      <vt:lpstr>요구 사항에 맞는 Kibana 쿼리 작성 -2</vt:lpstr>
      <vt:lpstr>요구 사항에 맞는 Kibana 쿼리 작성 -3</vt:lpstr>
      <vt:lpstr>요구 사항에 맞는 Kibana 쿼리 작성 -4</vt:lpstr>
      <vt:lpstr>요구 사항에 맞는 Kibana 쿼리 작성 -5</vt:lpstr>
      <vt:lpstr>Gradle 의존성 추가하기</vt:lpstr>
      <vt:lpstr>application.yml 수정</vt:lpstr>
      <vt:lpstr>ElasticSearch의 index - mapping 작성</vt:lpstr>
      <vt:lpstr>elesticsearch/product-settings.json 파일 생성</vt:lpstr>
      <vt:lpstr>ElasticSearch 조작을 위한 ProductDocumentRepository 작성</vt:lpstr>
      <vt:lpstr>ProductService 데이터 삽입, 삭제 로직 수정</vt:lpstr>
      <vt:lpstr>자동 완성 URL 작성</vt:lpstr>
      <vt:lpstr>자동완성서비스 작성 - ProductService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27</cp:revision>
  <dcterms:created xsi:type="dcterms:W3CDTF">2026-09-05T06:13:35Z</dcterms:created>
  <dcterms:modified xsi:type="dcterms:W3CDTF">2026-09-06T11:09:40Z</dcterms:modified>
</cp:coreProperties>
</file>