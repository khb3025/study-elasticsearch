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8" r:id="rId3"/>
    <p:sldId id="259" r:id="rId4"/>
    <p:sldId id="262" r:id="rId5"/>
    <p:sldId id="263" r:id="rId6"/>
    <p:sldId id="260" r:id="rId7"/>
    <p:sldId id="261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2F98E64-5795-462E-9CF1-B84C17EF0C6F}">
          <p14:sldIdLst>
            <p14:sldId id="256"/>
          </p14:sldIdLst>
        </p14:section>
        <p14:section name="일반적인 인프라 구성" id="{C0604478-057F-4822-B67A-D8C63173EE59}">
          <p14:sldIdLst>
            <p14:sldId id="258"/>
          </p14:sldIdLst>
        </p14:section>
        <p14:section name="실습 인프라 구성" id="{4ED9A934-FE31-43AA-9C4F-3446672443D3}">
          <p14:sldIdLst>
            <p14:sldId id="259"/>
          </p14:sldIdLst>
        </p14:section>
        <p14:section name="애플리케이션 실행 확인" id="{22B18B2B-1CD5-4A38-B3FB-ACACAD1F6F67}">
          <p14:sldIdLst>
            <p14:sldId id="262"/>
            <p14:sldId id="263"/>
          </p14:sldIdLst>
        </p14:section>
        <p14:section name="요구사항 정리" id="{88D32668-7964-46F3-901E-6C38E37B159B}">
          <p14:sldIdLst>
            <p14:sldId id="260"/>
            <p14:sldId id="261"/>
            <p14:sldId id="264"/>
            <p14:sldId id="265"/>
            <p14:sldId id="266"/>
            <p14:sldId id="267"/>
            <p14:sldId id="26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2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B39729-CD21-4644-AA86-B8B07B68A2D4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921DC-1A52-44B0-8895-6C68862008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10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921DC-1A52-44B0-8895-6C688620082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2436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850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2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2056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53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37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3891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446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623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62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042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78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C052116-9884-49CF-B26E-269C3EFC009F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3DB3A6E-3842-47E4-B4AB-F77B25ADFB2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558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903F60-778D-F747-9BD4-AC16C92E7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000"/>
              <a:t>SpringBoot - ElasticSearch </a:t>
            </a:r>
            <a:r>
              <a:rPr lang="ko-KR" altLang="en-US" sz="6000"/>
              <a:t>도입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384DC03-7ADA-037D-CFBA-D624EE40A4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02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C2E94-5341-3ACB-7E5A-A7B6B90AE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인프라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633C04-AAEA-502B-3042-A64085423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282" y="1851434"/>
            <a:ext cx="5846853" cy="49151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EC8C6B-9C53-290C-D5DA-86BB1F3102AD}"/>
              </a:ext>
            </a:extLst>
          </p:cNvPr>
          <p:cNvSpPr txBox="1"/>
          <p:nvPr/>
        </p:nvSpPr>
        <p:spPr>
          <a:xfrm>
            <a:off x="7398327" y="1851434"/>
            <a:ext cx="3682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일라스틱서치 도입시 </a:t>
            </a:r>
            <a:r>
              <a:rPr lang="en-US" altLang="ko-KR" sz="1200"/>
              <a:t>DB</a:t>
            </a:r>
            <a:r>
              <a:rPr lang="ko-KR" altLang="en-US" sz="1200"/>
              <a:t>와 일라스틱서치에 등록된 데이터의 동기화 필요</a:t>
            </a:r>
            <a:r>
              <a:rPr lang="en-US" altLang="ko-KR" sz="1200"/>
              <a:t>. </a:t>
            </a:r>
            <a:r>
              <a:rPr lang="ko-KR" altLang="en-US" sz="120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99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79FE0-6C0C-F3B5-98E4-3DA7076DB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인프라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690660-159A-FFE6-C0CC-6426F9BC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" y="2066065"/>
            <a:ext cx="5837280" cy="45053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12C8B7-D21B-EEE8-5C13-9555EBE8D39E}"/>
              </a:ext>
            </a:extLst>
          </p:cNvPr>
          <p:cNvSpPr txBox="1"/>
          <p:nvPr/>
        </p:nvSpPr>
        <p:spPr>
          <a:xfrm>
            <a:off x="6354862" y="4576508"/>
            <a:ext cx="557390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실습 인프라 구성도 실제 서비스에 도입 가능</a:t>
            </a:r>
            <a:r>
              <a:rPr lang="en-US" altLang="ko-KR" sz="1200"/>
              <a:t>.</a:t>
            </a:r>
            <a:br>
              <a:rPr lang="en-US" altLang="ko-KR" sz="1200"/>
            </a:br>
            <a:endParaRPr lang="en-US" altLang="ko-KR" sz="1200"/>
          </a:p>
          <a:p>
            <a:r>
              <a:rPr lang="en-US" altLang="ko-KR" sz="1200"/>
              <a:t>Trade Off</a:t>
            </a:r>
            <a:br>
              <a:rPr lang="en-US" altLang="ko-KR" sz="1200"/>
            </a:br>
            <a:r>
              <a:rPr lang="ko-KR" altLang="en-US" sz="1200"/>
              <a:t>장점 </a:t>
            </a:r>
            <a:r>
              <a:rPr lang="en-US" altLang="ko-KR" sz="1200"/>
              <a:t>: Kafka </a:t>
            </a:r>
            <a:r>
              <a:rPr lang="ko-KR" altLang="en-US" sz="1200"/>
              <a:t>서버 비용을 아낄수 있음</a:t>
            </a:r>
            <a:r>
              <a:rPr lang="en-US" altLang="ko-KR" sz="1200"/>
              <a:t>.</a:t>
            </a:r>
          </a:p>
          <a:p>
            <a:r>
              <a:rPr lang="ko-KR" altLang="en-US" sz="1200"/>
              <a:t>단점 </a:t>
            </a:r>
            <a:r>
              <a:rPr lang="en-US" altLang="ko-KR" sz="1200"/>
              <a:t>: - Transaction</a:t>
            </a:r>
            <a:r>
              <a:rPr lang="ko-KR" altLang="en-US" sz="1200"/>
              <a:t>의 관리 범위는 </a:t>
            </a:r>
            <a:r>
              <a:rPr lang="en-US" altLang="ko-KR" sz="1200"/>
              <a:t>DB</a:t>
            </a:r>
            <a:r>
              <a:rPr lang="ko-KR" altLang="en-US" sz="1200"/>
              <a:t>까지며</a:t>
            </a:r>
            <a:r>
              <a:rPr lang="en-US" altLang="ko-KR" sz="1200"/>
              <a:t>, ElasticSearch</a:t>
            </a:r>
            <a:r>
              <a:rPr lang="ko-KR" altLang="en-US" sz="1200"/>
              <a:t>의 </a:t>
            </a:r>
            <a:r>
              <a:rPr lang="en-US" altLang="ko-KR" sz="1200"/>
              <a:t>Rollback</a:t>
            </a:r>
            <a:r>
              <a:rPr lang="ko-KR" altLang="en-US" sz="1200"/>
              <a:t>은 불가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       </a:t>
            </a:r>
            <a:r>
              <a:rPr lang="ko-KR" altLang="en-US" sz="1200"/>
              <a:t>장애시</a:t>
            </a:r>
            <a:r>
              <a:rPr lang="en-US" altLang="ko-KR" sz="1200"/>
              <a:t>, DB Rollback</a:t>
            </a:r>
            <a:r>
              <a:rPr lang="ko-KR" altLang="en-US" sz="1200"/>
              <a:t>과 함께 </a:t>
            </a:r>
            <a:r>
              <a:rPr lang="en-US" altLang="ko-KR" sz="1200"/>
              <a:t>ElasticSearch</a:t>
            </a:r>
            <a:r>
              <a:rPr lang="ko-KR" altLang="en-US" sz="1200"/>
              <a:t>의 처리를 고려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        - Kafka</a:t>
            </a:r>
            <a:r>
              <a:rPr lang="ko-KR" altLang="en-US" sz="1200"/>
              <a:t>는 장애시 </a:t>
            </a:r>
            <a:r>
              <a:rPr lang="en-US" altLang="ko-KR" sz="1200"/>
              <a:t>dlt</a:t>
            </a:r>
            <a:r>
              <a:rPr lang="ko-KR" altLang="en-US" sz="1200"/>
              <a:t>에 의해 재처리 시도 및 기록에 남아 수동처리가 가능</a:t>
            </a:r>
            <a:br>
              <a:rPr lang="en-US" altLang="ko-KR" sz="1200"/>
            </a:br>
            <a:r>
              <a:rPr lang="en-US" altLang="ko-KR" sz="1200"/>
              <a:t>            - ElasticSearch</a:t>
            </a:r>
            <a:r>
              <a:rPr lang="ko-KR" altLang="en-US" sz="1200"/>
              <a:t>와 </a:t>
            </a:r>
            <a:r>
              <a:rPr lang="en-US" altLang="ko-KR" sz="1200"/>
              <a:t>DB </a:t>
            </a:r>
            <a:r>
              <a:rPr lang="ko-KR" altLang="en-US" sz="1200"/>
              <a:t>동기화 부분은 사용자가 알필요가 없는 부분으로 </a:t>
            </a:r>
            <a:r>
              <a:rPr lang="en-US" altLang="ko-KR" sz="1200"/>
              <a:t>Kafka </a:t>
            </a:r>
            <a:br>
              <a:rPr lang="en-US" altLang="ko-KR" sz="1200"/>
            </a:br>
            <a:r>
              <a:rPr lang="en-US" altLang="ko-KR" sz="1200"/>
              <a:t>           </a:t>
            </a:r>
            <a:r>
              <a:rPr lang="ko-KR" altLang="en-US" sz="1200"/>
              <a:t>도입을 안할 시 동기화 자원을 포함하게 되어 </a:t>
            </a:r>
            <a:r>
              <a:rPr lang="en-US" altLang="ko-KR" sz="1200"/>
              <a:t>API</a:t>
            </a:r>
            <a:r>
              <a:rPr lang="ko-KR" altLang="en-US" sz="1200"/>
              <a:t>의 응답속도가 느려짐</a:t>
            </a:r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E36C16-FBED-726A-D1D0-89AD3B877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62" y="2066065"/>
            <a:ext cx="3130509" cy="235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147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C03418-1ED7-1CA5-A370-D6E97C455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docker container </a:t>
            </a:r>
            <a:r>
              <a:rPr lang="ko-KR" altLang="en-US"/>
              <a:t>생성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AAB710-815C-E236-9487-1E66F09E5820}"/>
              </a:ext>
            </a:extLst>
          </p:cNvPr>
          <p:cNvSpPr txBox="1"/>
          <p:nvPr/>
        </p:nvSpPr>
        <p:spPr>
          <a:xfrm>
            <a:off x="1028701" y="1953459"/>
            <a:ext cx="60973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docker run -d \</a:t>
            </a:r>
          </a:p>
          <a:p>
            <a:r>
              <a:rPr lang="ko-KR" altLang="en-US"/>
              <a:t>  --name </a:t>
            </a:r>
            <a:r>
              <a:rPr lang="en-US" altLang="ko-KR"/>
              <a:t>elasticsearch_db </a:t>
            </a:r>
            <a:r>
              <a:rPr lang="ko-KR" altLang="en-US"/>
              <a:t>\</a:t>
            </a:r>
          </a:p>
          <a:p>
            <a:r>
              <a:rPr lang="ko-KR" altLang="en-US"/>
              <a:t>  -e MYSQL_ROOT_PASSWORD=password \</a:t>
            </a:r>
          </a:p>
          <a:p>
            <a:r>
              <a:rPr lang="ko-KR" altLang="en-US"/>
              <a:t>  -e MYSQL_DATABASE=</a:t>
            </a:r>
            <a:r>
              <a:rPr lang="en-US" altLang="ko-KR"/>
              <a:t>coupang</a:t>
            </a:r>
            <a:r>
              <a:rPr lang="ko-KR" altLang="en-US"/>
              <a:t> \</a:t>
            </a:r>
          </a:p>
          <a:p>
            <a:r>
              <a:rPr lang="ko-KR" altLang="en-US"/>
              <a:t>  -e MYSQL_USER=</a:t>
            </a:r>
            <a:r>
              <a:rPr lang="en-US" altLang="ko-KR"/>
              <a:t>elastic</a:t>
            </a:r>
            <a:r>
              <a:rPr lang="ko-KR" altLang="en-US"/>
              <a:t> \</a:t>
            </a:r>
          </a:p>
          <a:p>
            <a:r>
              <a:rPr lang="ko-KR" altLang="en-US"/>
              <a:t>  -e MYSQL_PASSWORD=password \</a:t>
            </a:r>
          </a:p>
          <a:p>
            <a:r>
              <a:rPr lang="ko-KR" altLang="en-US"/>
              <a:t>  -p 33</a:t>
            </a:r>
            <a:r>
              <a:rPr lang="en-US" altLang="ko-KR"/>
              <a:t>25</a:t>
            </a:r>
            <a:r>
              <a:rPr lang="ko-KR" altLang="en-US"/>
              <a:t>:3306 mysql:</a:t>
            </a:r>
            <a:r>
              <a:rPr lang="en-US" altLang="ko-KR"/>
              <a:t>latest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96227C-E172-2F7F-D0C3-8D3C924B355E}"/>
              </a:ext>
            </a:extLst>
          </p:cNvPr>
          <p:cNvSpPr txBox="1"/>
          <p:nvPr/>
        </p:nvSpPr>
        <p:spPr>
          <a:xfrm>
            <a:off x="5683828" y="1953459"/>
            <a:ext cx="53804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docker run -d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--name </a:t>
            </a:r>
            <a:r>
              <a:rPr lang="en-US" altLang="ko-KR"/>
              <a:t>elasticsearch_db ^</a:t>
            </a:r>
            <a:endParaRPr lang="ko-KR" altLang="en-US"/>
          </a:p>
          <a:p>
            <a:r>
              <a:rPr lang="ko-KR" altLang="en-US"/>
              <a:t>  -e MYSQL_ROOT_PASSWORD=password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MYSQL_DATABASE=</a:t>
            </a:r>
            <a:r>
              <a:rPr lang="en-US" altLang="ko-KR"/>
              <a:t>coupang</a:t>
            </a:r>
            <a:r>
              <a:rPr lang="ko-KR" altLang="en-US"/>
              <a:t>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MYSQL_USER=</a:t>
            </a:r>
            <a:r>
              <a:rPr lang="en-US" altLang="ko-KR"/>
              <a:t>elastic</a:t>
            </a:r>
            <a:r>
              <a:rPr lang="ko-KR" altLang="en-US"/>
              <a:t>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-e MYSQL_PASSWORD=password </a:t>
            </a:r>
            <a:r>
              <a:rPr lang="en-US" altLang="ko-KR"/>
              <a:t>^</a:t>
            </a:r>
            <a:endParaRPr lang="ko-KR" altLang="en-US"/>
          </a:p>
          <a:p>
            <a:r>
              <a:rPr lang="ko-KR" altLang="en-US"/>
              <a:t>  -p 33</a:t>
            </a:r>
            <a:r>
              <a:rPr lang="en-US" altLang="ko-KR"/>
              <a:t>25</a:t>
            </a:r>
            <a:r>
              <a:rPr lang="ko-KR" altLang="en-US"/>
              <a:t>:3306 mysql:</a:t>
            </a:r>
            <a:r>
              <a:rPr lang="en-US" altLang="ko-KR"/>
              <a:t>latest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399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383610-5647-6B60-6F1F-DCD8B38D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에 </a:t>
            </a:r>
            <a:r>
              <a:rPr lang="en-US" altLang="ko-KR"/>
              <a:t>DB </a:t>
            </a:r>
            <a:r>
              <a:rPr lang="ko-KR" altLang="en-US"/>
              <a:t>연결정보 수정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4881D-8497-4BBA-DDF1-A1E77BCA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20" y="2478332"/>
            <a:ext cx="4334480" cy="217200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3DA6BCA-EB69-A148-5750-CF88E995B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20" y="1898267"/>
            <a:ext cx="8916644" cy="419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08603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57870-131A-4E3F-3AE2-03D648A6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4D0115-6256-4279-61FA-5056D7B34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77" y="1891318"/>
            <a:ext cx="5853123" cy="420191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B87653D-ABFD-9984-15A4-6CDB079ED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27" y="1806266"/>
            <a:ext cx="5745840" cy="324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93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8FB29B-EF38-29B1-C783-3F387150C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-1</a:t>
            </a:r>
            <a:endParaRPr lang="ko-KR" altLang="en-US" sz="3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57285-952E-56C5-D46D-ACA5F4F43A42}"/>
              </a:ext>
            </a:extLst>
          </p:cNvPr>
          <p:cNvSpPr txBox="1"/>
          <p:nvPr/>
        </p:nvSpPr>
        <p:spPr>
          <a:xfrm>
            <a:off x="1180407" y="1862051"/>
            <a:ext cx="50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 </a:t>
            </a:r>
            <a:r>
              <a:rPr lang="ko-KR" altLang="en-US"/>
              <a:t>엔티티에 </a:t>
            </a:r>
            <a:r>
              <a:rPr lang="en-US" altLang="ko-KR"/>
              <a:t>Product</a:t>
            </a:r>
            <a:r>
              <a:rPr lang="ko-KR" altLang="en-US"/>
              <a:t> 에 맞는 </a:t>
            </a:r>
            <a:r>
              <a:rPr lang="en-US" altLang="ko-KR"/>
              <a:t>mapping </a:t>
            </a:r>
            <a:r>
              <a:rPr lang="ko-KR" altLang="en-US"/>
              <a:t>작성하기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EC12CE8-80C9-93F6-89B5-51B2A005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199" y="2356074"/>
            <a:ext cx="4204028" cy="3029373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A25378BB-B6C1-0A26-B867-0E1E60DAD407}"/>
              </a:ext>
            </a:extLst>
          </p:cNvPr>
          <p:cNvGrpSpPr/>
          <p:nvPr/>
        </p:nvGrpSpPr>
        <p:grpSpPr>
          <a:xfrm>
            <a:off x="254571" y="2356074"/>
            <a:ext cx="2572109" cy="3029373"/>
            <a:chOff x="254571" y="2356074"/>
            <a:chExt cx="2572109" cy="302937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8C1B875-9CBE-79BC-4C5F-7AD69F206E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571" y="2356074"/>
              <a:ext cx="2572109" cy="3029373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F0B6E15-081F-D18A-C50F-948D74DAB20D}"/>
                </a:ext>
              </a:extLst>
            </p:cNvPr>
            <p:cNvSpPr/>
            <p:nvPr/>
          </p:nvSpPr>
          <p:spPr>
            <a:xfrm>
              <a:off x="673331" y="5128953"/>
              <a:ext cx="1014153" cy="2564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E9D85BBD-1393-FA0F-22D9-4EE2EB56A4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248" y="2356074"/>
            <a:ext cx="2867425" cy="36104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2122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AFAFC-B9C7-44C5-FDD9-2BD83D9C7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81B13-A50A-BB70-FDAA-5696D4D4F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-2</a:t>
            </a:r>
            <a:endParaRPr lang="ko-KR" altLang="en-US" sz="3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E63845-EF44-7155-0EF4-F5506976951D}"/>
              </a:ext>
            </a:extLst>
          </p:cNvPr>
          <p:cNvSpPr txBox="1"/>
          <p:nvPr/>
        </p:nvSpPr>
        <p:spPr>
          <a:xfrm>
            <a:off x="523702" y="1837113"/>
            <a:ext cx="48130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요구사항에 맞게 </a:t>
            </a:r>
            <a:r>
              <a:rPr lang="en-US" altLang="ko-KR" sz="1200"/>
              <a:t>elasticsearch</a:t>
            </a:r>
            <a:r>
              <a:rPr lang="ko-KR" altLang="en-US" sz="1200"/>
              <a:t>쿼리 작성하기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05E932C-2DF1-F881-E148-63737ADB5C0D}"/>
              </a:ext>
            </a:extLst>
          </p:cNvPr>
          <p:cNvGrpSpPr/>
          <p:nvPr/>
        </p:nvGrpSpPr>
        <p:grpSpPr>
          <a:xfrm>
            <a:off x="529666" y="2114112"/>
            <a:ext cx="8356639" cy="1996885"/>
            <a:chOff x="529666" y="2114112"/>
            <a:chExt cx="8356639" cy="1996885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3CBB843-7B65-1658-5A95-AFFFFFA52538}"/>
                </a:ext>
              </a:extLst>
            </p:cNvPr>
            <p:cNvGrpSpPr/>
            <p:nvPr/>
          </p:nvGrpSpPr>
          <p:grpSpPr>
            <a:xfrm>
              <a:off x="529666" y="2114112"/>
              <a:ext cx="8356639" cy="1996885"/>
              <a:chOff x="529666" y="2114112"/>
              <a:chExt cx="8356639" cy="1996885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A5383163-55F2-189D-18A7-27F3AFA5E2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29666" y="2114112"/>
                <a:ext cx="4801175" cy="19968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BB227BAE-416D-00BC-8A3E-D6FB073903F5}"/>
                  </a:ext>
                </a:extLst>
              </p:cNvPr>
              <p:cNvGrpSpPr/>
              <p:nvPr/>
            </p:nvGrpSpPr>
            <p:grpSpPr>
              <a:xfrm>
                <a:off x="739833" y="2474192"/>
                <a:ext cx="8146472" cy="576579"/>
                <a:chOff x="739833" y="2474192"/>
                <a:chExt cx="8146472" cy="576579"/>
              </a:xfrm>
            </p:grpSpPr>
            <p:cxnSp>
              <p:nvCxnSpPr>
                <p:cNvPr id="5" name="직선 화살표 연결선 4">
                  <a:extLst>
                    <a:ext uri="{FF2B5EF4-FFF2-40B4-BE49-F238E27FC236}">
                      <a16:creationId xmlns:a16="http://schemas.microsoft.com/office/drawing/2014/main" id="{397B8FB1-68A6-340A-5E46-8ABEB94575F6}"/>
                    </a:ext>
                  </a:extLst>
                </p:cNvPr>
                <p:cNvCxnSpPr>
                  <a:cxnSpLocks/>
                  <a:stCxn id="10" idx="3"/>
                  <a:endCxn id="6" idx="1"/>
                </p:cNvCxnSpPr>
                <p:nvPr/>
              </p:nvCxnSpPr>
              <p:spPr>
                <a:xfrm flipV="1">
                  <a:off x="4613564" y="2604997"/>
                  <a:ext cx="1088967" cy="208861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FD1E6D7-C22E-BC1D-9E51-20B333F405FF}"/>
                    </a:ext>
                  </a:extLst>
                </p:cNvPr>
                <p:cNvSpPr txBox="1"/>
                <p:nvPr/>
              </p:nvSpPr>
              <p:spPr>
                <a:xfrm>
                  <a:off x="5702531" y="2474192"/>
                  <a:ext cx="3183774" cy="2616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50"/>
                    <a:t>multi_search </a:t>
                  </a:r>
                  <a:r>
                    <a:rPr lang="ko-KR" altLang="en-US" sz="1050"/>
                    <a:t>쿼리 작성</a:t>
                  </a:r>
                  <a:r>
                    <a:rPr lang="en-US" altLang="ko-KR" sz="1050"/>
                    <a:t> (</a:t>
                  </a:r>
                  <a:r>
                    <a:rPr lang="ko-KR" altLang="en-US" sz="1050"/>
                    <a:t>필드별 가중치 적용</a:t>
                  </a:r>
                  <a:r>
                    <a:rPr lang="en-US" altLang="ko-KR" sz="1050"/>
                    <a:t>)</a:t>
                  </a:r>
                  <a:endParaRPr lang="ko-KR" altLang="en-US" sz="1050"/>
                </a:p>
              </p:txBody>
            </p: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A19BDCFD-1CEB-2A60-C1B6-FD886C9846AE}"/>
                    </a:ext>
                  </a:extLst>
                </p:cNvPr>
                <p:cNvSpPr/>
                <p:nvPr/>
              </p:nvSpPr>
              <p:spPr>
                <a:xfrm>
                  <a:off x="739833" y="2576945"/>
                  <a:ext cx="3873731" cy="47382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592561C-7EA9-ABF3-9F83-3F2FE935BCF5}"/>
                </a:ext>
              </a:extLst>
            </p:cNvPr>
            <p:cNvSpPr/>
            <p:nvPr/>
          </p:nvSpPr>
          <p:spPr>
            <a:xfrm>
              <a:off x="739833" y="3050771"/>
              <a:ext cx="4591008" cy="20886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4A9FBDBF-375D-12AD-1C44-44DCEFE08DA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5330841" y="3470564"/>
              <a:ext cx="693116" cy="311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92D5B2F-DB7C-E594-B352-D28E9E0BEE6E}"/>
              </a:ext>
            </a:extLst>
          </p:cNvPr>
          <p:cNvSpPr txBox="1"/>
          <p:nvPr/>
        </p:nvSpPr>
        <p:spPr>
          <a:xfrm>
            <a:off x="6023957" y="3342876"/>
            <a:ext cx="2685011" cy="2616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text </a:t>
            </a:r>
            <a:r>
              <a:rPr lang="ko-KR" altLang="en-US" sz="1050"/>
              <a:t>자료형으로 유연한 검색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C9DABAC-1266-F6FD-1E86-E27FE5AAD1D9}"/>
              </a:ext>
            </a:extLst>
          </p:cNvPr>
          <p:cNvSpPr/>
          <p:nvPr/>
        </p:nvSpPr>
        <p:spPr>
          <a:xfrm>
            <a:off x="739833" y="3259632"/>
            <a:ext cx="4591008" cy="421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7CAED3-36DF-0728-5AE0-4D3FE6F27CA2}"/>
              </a:ext>
            </a:extLst>
          </p:cNvPr>
          <p:cNvSpPr txBox="1"/>
          <p:nvPr/>
        </p:nvSpPr>
        <p:spPr>
          <a:xfrm>
            <a:off x="6023957" y="2962002"/>
            <a:ext cx="4125883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analyzer </a:t>
            </a:r>
            <a:r>
              <a:rPr lang="ko-KR" altLang="en-US" sz="1050"/>
              <a:t>내 토큰 필터에 </a:t>
            </a:r>
            <a:r>
              <a:rPr lang="en-US" altLang="ko-KR" sz="1050"/>
              <a:t>lowercase </a:t>
            </a:r>
            <a:r>
              <a:rPr lang="ko-KR" altLang="en-US" sz="1050"/>
              <a:t>필터 적용 </a:t>
            </a:r>
            <a:r>
              <a:rPr lang="en-US" altLang="ko-KR" sz="1050"/>
              <a:t>- default</a:t>
            </a:r>
            <a:endParaRPr lang="ko-KR" altLang="en-US" sz="1050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01153E5-A149-6C87-79DB-1CF2178B7A6F}"/>
              </a:ext>
            </a:extLst>
          </p:cNvPr>
          <p:cNvCxnSpPr>
            <a:cxnSpLocks/>
            <a:stCxn id="14" idx="3"/>
            <a:endCxn id="37" idx="1"/>
          </p:cNvCxnSpPr>
          <p:nvPr/>
        </p:nvCxnSpPr>
        <p:spPr>
          <a:xfrm flipV="1">
            <a:off x="5330841" y="3088960"/>
            <a:ext cx="693116" cy="662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086284B-5D87-EC0E-A980-55FD6E2949D4}"/>
              </a:ext>
            </a:extLst>
          </p:cNvPr>
          <p:cNvSpPr txBox="1"/>
          <p:nvPr/>
        </p:nvSpPr>
        <p:spPr>
          <a:xfrm>
            <a:off x="6023956" y="3789043"/>
            <a:ext cx="2862349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analyzer </a:t>
            </a:r>
            <a:r>
              <a:rPr lang="ko-KR" altLang="en-US" sz="1050"/>
              <a:t>내 </a:t>
            </a:r>
            <a:r>
              <a:rPr lang="en-US" altLang="ko-KR" sz="1050"/>
              <a:t>char_filter</a:t>
            </a:r>
            <a:r>
              <a:rPr lang="ko-KR" altLang="en-US" sz="1050"/>
              <a:t>에 </a:t>
            </a:r>
            <a:r>
              <a:rPr lang="en-US" altLang="ko-KR" sz="1050"/>
              <a:t>html_strip </a:t>
            </a:r>
            <a:r>
              <a:rPr lang="ko-KR" altLang="en-US" sz="1050"/>
              <a:t>필터 적용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D0411BC-810D-9014-4600-F4BF956C864D}"/>
              </a:ext>
            </a:extLst>
          </p:cNvPr>
          <p:cNvCxnSpPr>
            <a:cxnSpLocks/>
            <a:stCxn id="46" idx="3"/>
            <a:endCxn id="41" idx="1"/>
          </p:cNvCxnSpPr>
          <p:nvPr/>
        </p:nvCxnSpPr>
        <p:spPr>
          <a:xfrm>
            <a:off x="5330841" y="3810647"/>
            <a:ext cx="693115" cy="1053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201C265-F0E7-35B7-9911-268755AD6AD0}"/>
              </a:ext>
            </a:extLst>
          </p:cNvPr>
          <p:cNvSpPr/>
          <p:nvPr/>
        </p:nvSpPr>
        <p:spPr>
          <a:xfrm>
            <a:off x="739833" y="3702885"/>
            <a:ext cx="4591008" cy="2155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B5E32BC-C262-6153-2DEA-1DC0F30EAE47}"/>
              </a:ext>
            </a:extLst>
          </p:cNvPr>
          <p:cNvSpPr/>
          <p:nvPr/>
        </p:nvSpPr>
        <p:spPr>
          <a:xfrm>
            <a:off x="739833" y="3911080"/>
            <a:ext cx="4591008" cy="2155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C68C7C-9FE3-806C-5002-C34D65C28B56}"/>
              </a:ext>
            </a:extLst>
          </p:cNvPr>
          <p:cNvSpPr txBox="1"/>
          <p:nvPr/>
        </p:nvSpPr>
        <p:spPr>
          <a:xfrm>
            <a:off x="6023956" y="4084089"/>
            <a:ext cx="4699462" cy="253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50"/>
              <a:t>nori </a:t>
            </a:r>
            <a:r>
              <a:rPr lang="ko-KR" altLang="en-US" sz="1050"/>
              <a:t>애널라이저 설정 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418BC-5F04-3B60-A606-596435BE9791}"/>
              </a:ext>
            </a:extLst>
          </p:cNvPr>
          <p:cNvCxnSpPr>
            <a:stCxn id="47" idx="3"/>
            <a:endCxn id="52" idx="1"/>
          </p:cNvCxnSpPr>
          <p:nvPr/>
        </p:nvCxnSpPr>
        <p:spPr>
          <a:xfrm>
            <a:off x="5330841" y="4018842"/>
            <a:ext cx="693115" cy="1922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1A165C4-8A52-5031-E530-AEFD766E4550}"/>
              </a:ext>
            </a:extLst>
          </p:cNvPr>
          <p:cNvGrpSpPr/>
          <p:nvPr/>
        </p:nvGrpSpPr>
        <p:grpSpPr>
          <a:xfrm>
            <a:off x="523702" y="4387996"/>
            <a:ext cx="4344006" cy="1887753"/>
            <a:chOff x="407713" y="4400588"/>
            <a:chExt cx="4344006" cy="1887753"/>
          </a:xfrm>
        </p:grpSpPr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0EC761A4-C34D-8EA2-0EBC-5CEC129A4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7713" y="4726023"/>
              <a:ext cx="4344006" cy="1562318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2E15765-9534-9BB9-26E1-8EA2BDEC5399}"/>
                </a:ext>
              </a:extLst>
            </p:cNvPr>
            <p:cNvSpPr txBox="1"/>
            <p:nvPr/>
          </p:nvSpPr>
          <p:spPr>
            <a:xfrm>
              <a:off x="407713" y="4400588"/>
              <a:ext cx="37735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★ 가중치 쿼리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493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A6F39-F5E8-D8CB-0452-D18B13838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-2</a:t>
            </a:r>
            <a:endParaRPr lang="ko-KR" altLang="en-US" sz="36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61B73-9034-F7DA-16EC-2B3272055F52}"/>
              </a:ext>
            </a:extLst>
          </p:cNvPr>
          <p:cNvSpPr txBox="1"/>
          <p:nvPr/>
        </p:nvSpPr>
        <p:spPr>
          <a:xfrm>
            <a:off x="1186642" y="1814545"/>
            <a:ext cx="60973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★ 요구사항 검색을 위한 인덱스 자료 수정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158764-0355-DC0D-5688-27CB06F67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52" y="2153341"/>
            <a:ext cx="3842645" cy="47046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9501F1-C175-1320-1ED9-C0F05D6D00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40"/>
          <a:stretch>
            <a:fillRect/>
          </a:stretch>
        </p:blipFill>
        <p:spPr>
          <a:xfrm>
            <a:off x="5250938" y="2153340"/>
            <a:ext cx="538935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778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DA06-C4DA-C107-91D9-D31B59D4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D95E2-5B35-D377-E7B5-92CC2CDE6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요구 사항에 맞는 </a:t>
            </a:r>
            <a:r>
              <a:rPr lang="en-US" altLang="ko-KR" sz="3600"/>
              <a:t>Kibana</a:t>
            </a:r>
            <a:r>
              <a:rPr lang="ko-KR" altLang="en-US" sz="3600"/>
              <a:t> 쿼리 작성 </a:t>
            </a:r>
            <a:r>
              <a:rPr lang="en-US" altLang="ko-KR" sz="3600"/>
              <a:t>-3</a:t>
            </a:r>
            <a:endParaRPr lang="ko-KR" altLang="en-US" sz="36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ECF45605-A2E8-4742-7212-6A811434A773}"/>
              </a:ext>
            </a:extLst>
          </p:cNvPr>
          <p:cNvGrpSpPr/>
          <p:nvPr/>
        </p:nvGrpSpPr>
        <p:grpSpPr>
          <a:xfrm>
            <a:off x="199417" y="1884585"/>
            <a:ext cx="4779907" cy="2047335"/>
            <a:chOff x="751409" y="1884585"/>
            <a:chExt cx="6582694" cy="2872942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0E0D265-38C6-7E39-DA96-EABDC3631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409" y="1884585"/>
              <a:ext cx="6582694" cy="2191056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4CC8847-6EB2-7181-E7CA-00AB03849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67106"/>
            <a:stretch>
              <a:fillRect/>
            </a:stretch>
          </p:blipFill>
          <p:spPr>
            <a:xfrm>
              <a:off x="823314" y="4075640"/>
              <a:ext cx="5336418" cy="681887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6B60E8-259C-B51F-F47F-349B6985B375}"/>
              </a:ext>
            </a:extLst>
          </p:cNvPr>
          <p:cNvGrpSpPr/>
          <p:nvPr/>
        </p:nvGrpSpPr>
        <p:grpSpPr>
          <a:xfrm>
            <a:off x="251630" y="1884584"/>
            <a:ext cx="10780744" cy="4079778"/>
            <a:chOff x="251630" y="1884584"/>
            <a:chExt cx="10780744" cy="407977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A6ABD3B-4BFA-85BA-2341-E18E4033D320}"/>
                </a:ext>
              </a:extLst>
            </p:cNvPr>
            <p:cNvGrpSpPr/>
            <p:nvPr/>
          </p:nvGrpSpPr>
          <p:grpSpPr>
            <a:xfrm>
              <a:off x="6126480" y="1899478"/>
              <a:ext cx="4905894" cy="4064884"/>
              <a:chOff x="4979324" y="1884585"/>
              <a:chExt cx="4905894" cy="4064884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DE8D455-1D6E-73C2-5E64-41BA8A725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79324" y="1884585"/>
                <a:ext cx="4905894" cy="4064884"/>
              </a:xfrm>
              <a:prstGeom prst="rect">
                <a:avLst/>
              </a:prstGeom>
            </p:spPr>
          </p:pic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9066B024-F6CF-7E39-DD9A-8AB884A88ECF}"/>
                  </a:ext>
                </a:extLst>
              </p:cNvPr>
              <p:cNvSpPr/>
              <p:nvPr/>
            </p:nvSpPr>
            <p:spPr>
              <a:xfrm>
                <a:off x="5769033" y="2327564"/>
                <a:ext cx="4116185" cy="14879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A65DF065-682D-D273-EED5-043154427F1F}"/>
                  </a:ext>
                </a:extLst>
              </p:cNvPr>
              <p:cNvSpPr/>
              <p:nvPr/>
            </p:nvSpPr>
            <p:spPr>
              <a:xfrm>
                <a:off x="9069185" y="4197927"/>
                <a:ext cx="816033" cy="2350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98502C1-FA5F-A826-3B0A-0E7A21C0C4E2}"/>
                </a:ext>
              </a:extLst>
            </p:cNvPr>
            <p:cNvSpPr/>
            <p:nvPr/>
          </p:nvSpPr>
          <p:spPr>
            <a:xfrm>
              <a:off x="251630" y="1884584"/>
              <a:ext cx="4727694" cy="13437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0000"/>
                </a:solidFill>
              </a:endParaRPr>
            </a:p>
          </p:txBody>
        </p: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694F513C-F7DF-4BD8-6CF9-4B7ECECCF89A}"/>
                </a:ext>
              </a:extLst>
            </p:cNvPr>
            <p:cNvCxnSpPr>
              <a:stCxn id="17" idx="3"/>
              <a:endCxn id="14" idx="1"/>
            </p:cNvCxnSpPr>
            <p:nvPr/>
          </p:nvCxnSpPr>
          <p:spPr>
            <a:xfrm>
              <a:off x="4979324" y="2556438"/>
              <a:ext cx="1936865" cy="5358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2460C8F-E113-4D09-F4D8-73A69D5B3239}"/>
              </a:ext>
            </a:extLst>
          </p:cNvPr>
          <p:cNvGrpSpPr/>
          <p:nvPr/>
        </p:nvGrpSpPr>
        <p:grpSpPr>
          <a:xfrm>
            <a:off x="251630" y="3228291"/>
            <a:ext cx="5735956" cy="3554894"/>
            <a:chOff x="251630" y="3228291"/>
            <a:chExt cx="5735956" cy="3554894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B3860A1-AC51-D497-CBDB-EA6E5E990B54}"/>
                </a:ext>
              </a:extLst>
            </p:cNvPr>
            <p:cNvSpPr/>
            <p:nvPr/>
          </p:nvSpPr>
          <p:spPr>
            <a:xfrm>
              <a:off x="251630" y="3228291"/>
              <a:ext cx="2425068" cy="7784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DA2CCE4-E2B9-1BF4-2ECE-8A8C699AF055}"/>
                </a:ext>
              </a:extLst>
            </p:cNvPr>
            <p:cNvGrpSpPr/>
            <p:nvPr/>
          </p:nvGrpSpPr>
          <p:grpSpPr>
            <a:xfrm>
              <a:off x="251630" y="4106486"/>
              <a:ext cx="2001119" cy="2676699"/>
              <a:chOff x="3299308" y="3330998"/>
              <a:chExt cx="2106390" cy="2986673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1D864A16-866C-5526-7782-F814FEC7B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9308" y="3330998"/>
                <a:ext cx="2106390" cy="2986673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</p:pic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EC5D0335-E5E0-7ED0-5FB0-EF1D78853442}"/>
                  </a:ext>
                </a:extLst>
              </p:cNvPr>
              <p:cNvSpPr/>
              <p:nvPr/>
            </p:nvSpPr>
            <p:spPr>
              <a:xfrm>
                <a:off x="4036691" y="5143578"/>
                <a:ext cx="1308393" cy="82078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A891F444-DA13-CBD3-75EC-B952109C8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7603" y="3306316"/>
              <a:ext cx="3229983" cy="3359182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07D88DE-3E8C-C87D-0913-9C1238878412}"/>
                </a:ext>
              </a:extLst>
            </p:cNvPr>
            <p:cNvSpPr/>
            <p:nvPr/>
          </p:nvSpPr>
          <p:spPr>
            <a:xfrm>
              <a:off x="3505074" y="4447834"/>
              <a:ext cx="1474250" cy="181164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9E3F22F-7AD4-324F-B4AF-87C47419A247}"/>
                </a:ext>
              </a:extLst>
            </p:cNvPr>
            <p:cNvSpPr/>
            <p:nvPr/>
          </p:nvSpPr>
          <p:spPr>
            <a:xfrm>
              <a:off x="3349840" y="3582784"/>
              <a:ext cx="282823" cy="14479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64451D2-C2B6-C8EE-7F85-E2574D1F93FC}"/>
              </a:ext>
            </a:extLst>
          </p:cNvPr>
          <p:cNvSpPr/>
          <p:nvPr/>
        </p:nvSpPr>
        <p:spPr>
          <a:xfrm>
            <a:off x="6317673" y="4588624"/>
            <a:ext cx="5519651" cy="20768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동의어 적용을 위해 </a:t>
            </a:r>
            <a:r>
              <a:rPr lang="en-US" altLang="ko-KR" sz="1050">
                <a:solidFill>
                  <a:schemeClr val="tx1"/>
                </a:solidFill>
              </a:rPr>
              <a:t>Analyzer </a:t>
            </a:r>
            <a:r>
              <a:rPr lang="ko-KR" altLang="en-US" sz="1050">
                <a:solidFill>
                  <a:schemeClr val="tx1"/>
                </a:solidFill>
              </a:rPr>
              <a:t>동일 레벨에 </a:t>
            </a:r>
            <a:r>
              <a:rPr lang="en-US" altLang="ko-KR" sz="1050">
                <a:solidFill>
                  <a:schemeClr val="tx1"/>
                </a:solidFill>
              </a:rPr>
              <a:t>filter </a:t>
            </a:r>
            <a:r>
              <a:rPr lang="ko-KR" altLang="en-US" sz="1050">
                <a:solidFill>
                  <a:schemeClr val="tx1"/>
                </a:solidFill>
              </a:rPr>
              <a:t>선언 </a:t>
            </a:r>
            <a:r>
              <a:rPr lang="en-US" altLang="ko-KR" sz="1050">
                <a:solidFill>
                  <a:schemeClr val="tx1"/>
                </a:solidFill>
              </a:rPr>
              <a:t>synonym_filter </a:t>
            </a:r>
            <a:r>
              <a:rPr lang="ko-KR" altLang="en-US" sz="1050">
                <a:solidFill>
                  <a:schemeClr val="tx1"/>
                </a:solidFill>
              </a:rPr>
              <a:t>정의 및 </a:t>
            </a:r>
            <a:r>
              <a:rPr lang="en-US" altLang="ko-KR" sz="1050">
                <a:solidFill>
                  <a:schemeClr val="tx1"/>
                </a:solidFill>
              </a:rPr>
              <a:t>name</a:t>
            </a:r>
            <a:r>
              <a:rPr lang="ko-KR" altLang="en-US" sz="1050">
                <a:solidFill>
                  <a:schemeClr val="tx1"/>
                </a:solidFill>
              </a:rPr>
              <a:t>필드 </a:t>
            </a:r>
            <a:r>
              <a:rPr lang="en-US" altLang="ko-KR" sz="1050">
                <a:solidFill>
                  <a:schemeClr val="tx1"/>
                </a:solidFill>
              </a:rPr>
              <a:t>analynzer</a:t>
            </a:r>
            <a:r>
              <a:rPr lang="ko-KR" altLang="en-US" sz="1050">
                <a:solidFill>
                  <a:schemeClr val="tx1"/>
                </a:solidFill>
              </a:rPr>
              <a:t>에 </a:t>
            </a:r>
            <a:r>
              <a:rPr lang="en-US" altLang="ko-KR" sz="1050">
                <a:solidFill>
                  <a:schemeClr val="tx1"/>
                </a:solidFill>
              </a:rPr>
              <a:t>synonym_filter </a:t>
            </a:r>
            <a:r>
              <a:rPr lang="ko-KR" altLang="en-US" sz="1050">
                <a:solidFill>
                  <a:schemeClr val="tx1"/>
                </a:solidFill>
              </a:rPr>
              <a:t>추가</a:t>
            </a:r>
            <a:endParaRPr lang="en-US" altLang="ko-KR" sz="1050">
              <a:solidFill>
                <a:schemeClr val="tx1"/>
              </a:solidFill>
            </a:endParaRPr>
          </a:p>
          <a:p>
            <a:pPr algn="ctr"/>
            <a:endParaRPr lang="en-US" altLang="ko-KR" sz="105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</a:rPr>
              <a:t>55~61 Line : </a:t>
            </a:r>
            <a:r>
              <a:rPr lang="ko-KR" altLang="en-US" sz="1050">
                <a:solidFill>
                  <a:srgbClr val="FF0000"/>
                </a:solidFill>
              </a:rPr>
              <a:t>특정 카테고리 내에서만 검색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 (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정확한 검색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=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키워드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)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multi_type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으로 카테고리에서만 검색할 수 있도록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자료형 추가</a:t>
            </a:r>
            <a:endParaRPr lang="en-US" altLang="ko-KR" sz="105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algn="ctr"/>
            <a:endParaRPr lang="en-US" altLang="ko-KR" sz="105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</a:rPr>
              <a:t>67~100Line : </a:t>
            </a:r>
            <a:r>
              <a:rPr lang="ko-KR" altLang="en-US" sz="1050">
                <a:solidFill>
                  <a:srgbClr val="FF0000"/>
                </a:solidFill>
              </a:rPr>
              <a:t>특정 카테고리 및 특정 가격 범위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두 개 이상의 조건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(= bool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검색 조건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)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기존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score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형 멀티 타입 검색은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bool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내부로 들어가게 된다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b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와 범위검색은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score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형 조건이 아님으로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filter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내 정의</a:t>
            </a:r>
            <a:endParaRPr lang="en-US" altLang="ko-KR" sz="105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keyword 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검색 특화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term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으로 카테고리를 범위 검색 조건인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range</a:t>
            </a:r>
            <a:r>
              <a:rPr lang="ko-KR" altLang="en-US" sz="1050">
                <a:solidFill>
                  <a:srgbClr val="FF0000"/>
                </a:solidFill>
                <a:sym typeface="Wingdings" panose="05000000000000000000" pitchFamily="2" charset="2"/>
              </a:rPr>
              <a:t>를 사용하여 특정 범위 검색을 정의한다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endParaRPr lang="ko-KR" altLang="en-US" sz="105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460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A334B-28C6-60F2-4254-670F578E4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사항에 맞는 </a:t>
            </a:r>
            <a:r>
              <a:rPr lang="en-US" altLang="ko-KR"/>
              <a:t>Kibana</a:t>
            </a:r>
            <a:r>
              <a:rPr lang="ko-KR" altLang="en-US"/>
              <a:t> 쿼리 작성 </a:t>
            </a:r>
            <a:r>
              <a:rPr lang="en-US" altLang="ko-KR"/>
              <a:t>-4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32FE9F-BD3D-BE89-A206-931F0E488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15" y="1979273"/>
            <a:ext cx="5161966" cy="13208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B0DDA1-5225-92E0-52B1-9842CE71F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406" y="1805314"/>
            <a:ext cx="3155274" cy="4969557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4CFA6DD-26C8-D0B4-74DA-E8B6EF33EC5E}"/>
              </a:ext>
            </a:extLst>
          </p:cNvPr>
          <p:cNvGrpSpPr/>
          <p:nvPr/>
        </p:nvGrpSpPr>
        <p:grpSpPr>
          <a:xfrm>
            <a:off x="351915" y="1979273"/>
            <a:ext cx="9415540" cy="3631818"/>
            <a:chOff x="351915" y="1979273"/>
            <a:chExt cx="9415540" cy="363181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F67F9D-EA18-7E77-1DD8-4762F7791356}"/>
                </a:ext>
              </a:extLst>
            </p:cNvPr>
            <p:cNvSpPr/>
            <p:nvPr/>
          </p:nvSpPr>
          <p:spPr>
            <a:xfrm>
              <a:off x="351915" y="1979273"/>
              <a:ext cx="4893416" cy="223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176E70BD-DD27-E317-AD11-EA6E8778E3D1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5261956" y="2086495"/>
              <a:ext cx="3374968" cy="308402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BAD745A-0673-9062-6203-86697F06B947}"/>
                </a:ext>
              </a:extLst>
            </p:cNvPr>
            <p:cNvSpPr/>
            <p:nvPr/>
          </p:nvSpPr>
          <p:spPr>
            <a:xfrm>
              <a:off x="8636924" y="4729942"/>
              <a:ext cx="1130531" cy="88114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D86BEA32-C574-21C5-88FA-C3142A58F4DC}"/>
              </a:ext>
            </a:extLst>
          </p:cNvPr>
          <p:cNvGrpSpPr/>
          <p:nvPr/>
        </p:nvGrpSpPr>
        <p:grpSpPr>
          <a:xfrm>
            <a:off x="351914" y="2243473"/>
            <a:ext cx="9606734" cy="541292"/>
            <a:chOff x="351914" y="2243473"/>
            <a:chExt cx="9606734" cy="54129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34A0C8-B298-8723-1DFB-31C0D7ABE347}"/>
                </a:ext>
              </a:extLst>
            </p:cNvPr>
            <p:cNvSpPr/>
            <p:nvPr/>
          </p:nvSpPr>
          <p:spPr>
            <a:xfrm>
              <a:off x="351914" y="2243473"/>
              <a:ext cx="5178591" cy="54129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7BB5E200-C9D9-1A8A-7840-08CDB8F8DA6C}"/>
                </a:ext>
              </a:extLst>
            </p:cNvPr>
            <p:cNvCxnSpPr>
              <a:cxnSpLocks/>
              <a:stCxn id="8" idx="3"/>
              <a:endCxn id="18" idx="1"/>
            </p:cNvCxnSpPr>
            <p:nvPr/>
          </p:nvCxnSpPr>
          <p:spPr>
            <a:xfrm>
              <a:off x="5530505" y="2514119"/>
              <a:ext cx="3580245" cy="212456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93986C6-E23D-3925-4D11-29A0880859AF}"/>
                </a:ext>
              </a:extLst>
            </p:cNvPr>
            <p:cNvSpPr/>
            <p:nvPr/>
          </p:nvSpPr>
          <p:spPr>
            <a:xfrm>
              <a:off x="9110750" y="2668385"/>
              <a:ext cx="847898" cy="11638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CF3990F-4165-5DD5-050D-438D6869A7DE}"/>
              </a:ext>
            </a:extLst>
          </p:cNvPr>
          <p:cNvGrpSpPr/>
          <p:nvPr/>
        </p:nvGrpSpPr>
        <p:grpSpPr>
          <a:xfrm>
            <a:off x="351915" y="2805065"/>
            <a:ext cx="9415540" cy="3695488"/>
            <a:chOff x="351915" y="2805065"/>
            <a:chExt cx="9415540" cy="3695488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19FF8B7-CCEC-AFCF-8B53-B7EEEE82CD67}"/>
                </a:ext>
              </a:extLst>
            </p:cNvPr>
            <p:cNvSpPr/>
            <p:nvPr/>
          </p:nvSpPr>
          <p:spPr>
            <a:xfrm>
              <a:off x="351915" y="2805065"/>
              <a:ext cx="4727161" cy="27431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6DEE96E2-BFC0-544E-A279-8D4AE306914B}"/>
                </a:ext>
              </a:extLst>
            </p:cNvPr>
            <p:cNvSpPr/>
            <p:nvPr/>
          </p:nvSpPr>
          <p:spPr>
            <a:xfrm>
              <a:off x="8379229" y="5785658"/>
              <a:ext cx="1388226" cy="714895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E289ED7A-2FAE-EF89-6496-222010B16356}"/>
                </a:ext>
              </a:extLst>
            </p:cNvPr>
            <p:cNvCxnSpPr/>
            <p:nvPr/>
          </p:nvCxnSpPr>
          <p:spPr>
            <a:xfrm>
              <a:off x="5079076" y="2942705"/>
              <a:ext cx="3300153" cy="3250277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9A64AB3-57ED-69BC-7374-C705D986AD29}"/>
              </a:ext>
            </a:extLst>
          </p:cNvPr>
          <p:cNvGrpSpPr/>
          <p:nvPr/>
        </p:nvGrpSpPr>
        <p:grpSpPr>
          <a:xfrm>
            <a:off x="351915" y="3099683"/>
            <a:ext cx="9174470" cy="3695314"/>
            <a:chOff x="351915" y="3099683"/>
            <a:chExt cx="9174470" cy="369531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3F16D73-37BD-5517-D8AA-A735BCE7C4A6}"/>
                </a:ext>
              </a:extLst>
            </p:cNvPr>
            <p:cNvSpPr/>
            <p:nvPr/>
          </p:nvSpPr>
          <p:spPr>
            <a:xfrm>
              <a:off x="351915" y="3099683"/>
              <a:ext cx="3155274" cy="223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77F9B86-CDDE-1C6C-7C84-1F5C347A52CC}"/>
                </a:ext>
              </a:extLst>
            </p:cNvPr>
            <p:cNvSpPr/>
            <p:nvPr/>
          </p:nvSpPr>
          <p:spPr>
            <a:xfrm>
              <a:off x="8379229" y="6500553"/>
              <a:ext cx="1147156" cy="294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A86ED30C-0F48-ECB4-74B0-591AD600EBB5}"/>
                </a:ext>
              </a:extLst>
            </p:cNvPr>
            <p:cNvCxnSpPr>
              <a:stCxn id="9" idx="3"/>
              <a:endCxn id="28" idx="1"/>
            </p:cNvCxnSpPr>
            <p:nvPr/>
          </p:nvCxnSpPr>
          <p:spPr>
            <a:xfrm>
              <a:off x="3507189" y="3211483"/>
              <a:ext cx="4872040" cy="34362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4819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D11A-B6C2-DE5F-9D6C-D80A42B52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그룹 44">
            <a:extLst>
              <a:ext uri="{FF2B5EF4-FFF2-40B4-BE49-F238E27FC236}">
                <a16:creationId xmlns:a16="http://schemas.microsoft.com/office/drawing/2014/main" id="{50468433-C6C1-B010-78CA-2B017B99F998}"/>
              </a:ext>
            </a:extLst>
          </p:cNvPr>
          <p:cNvGrpSpPr/>
          <p:nvPr/>
        </p:nvGrpSpPr>
        <p:grpSpPr>
          <a:xfrm>
            <a:off x="430480" y="1879537"/>
            <a:ext cx="3953427" cy="1047896"/>
            <a:chOff x="287119" y="1849336"/>
            <a:chExt cx="3953427" cy="104789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68B0384-EC53-C95A-04F9-F23DAF85E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119" y="1849336"/>
              <a:ext cx="3953427" cy="10478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C642D28-6BBA-D1A1-1D76-C30D6B449583}"/>
                </a:ext>
              </a:extLst>
            </p:cNvPr>
            <p:cNvSpPr/>
            <p:nvPr/>
          </p:nvSpPr>
          <p:spPr>
            <a:xfrm>
              <a:off x="490451" y="2130573"/>
              <a:ext cx="3657600" cy="3650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E7D7BA02-2ADE-EE26-2F49-4898B9E1F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요구 사항에 맞는 </a:t>
            </a:r>
            <a:r>
              <a:rPr lang="en-US" altLang="ko-KR"/>
              <a:t>Kibana</a:t>
            </a:r>
            <a:r>
              <a:rPr lang="ko-KR" altLang="en-US"/>
              <a:t> 쿼리 작성 </a:t>
            </a:r>
            <a:r>
              <a:rPr lang="en-US" altLang="ko-KR"/>
              <a:t>-5</a:t>
            </a:r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12A1464-B679-F7D2-0752-CB45F683975D}"/>
              </a:ext>
            </a:extLst>
          </p:cNvPr>
          <p:cNvGrpSpPr/>
          <p:nvPr/>
        </p:nvGrpSpPr>
        <p:grpSpPr>
          <a:xfrm>
            <a:off x="4451465" y="1849336"/>
            <a:ext cx="3387436" cy="4874569"/>
            <a:chOff x="4383907" y="1849336"/>
            <a:chExt cx="3454994" cy="4874569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F5C54F02-D3B8-603C-D7E9-FD071830816F}"/>
                </a:ext>
              </a:extLst>
            </p:cNvPr>
            <p:cNvGrpSpPr/>
            <p:nvPr/>
          </p:nvGrpSpPr>
          <p:grpSpPr>
            <a:xfrm>
              <a:off x="4383907" y="1849336"/>
              <a:ext cx="3454994" cy="4874569"/>
              <a:chOff x="4383907" y="1849336"/>
              <a:chExt cx="3454994" cy="4874569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D3131292-9DA6-8B6F-68B7-E85B0F2077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83907" y="1849336"/>
                <a:ext cx="1495634" cy="247685"/>
              </a:xfrm>
              <a:prstGeom prst="rect">
                <a:avLst/>
              </a:prstGeom>
            </p:spPr>
          </p:pic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97A79F04-BE65-A728-71B2-8E83E9FD4E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3322" y="2208997"/>
                <a:ext cx="3345579" cy="4514908"/>
              </a:xfrm>
              <a:prstGeom prst="rect">
                <a:avLst/>
              </a:prstGeom>
            </p:spPr>
          </p:pic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CB080013-EF6E-2A58-9DC7-A15BAA260228}"/>
                </a:ext>
              </a:extLst>
            </p:cNvPr>
            <p:cNvSpPr/>
            <p:nvPr/>
          </p:nvSpPr>
          <p:spPr>
            <a:xfrm>
              <a:off x="5727469" y="3183775"/>
              <a:ext cx="1986742" cy="6899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C76B1C4-476F-924D-F722-F367A771FEA1}"/>
              </a:ext>
            </a:extLst>
          </p:cNvPr>
          <p:cNvSpPr txBox="1"/>
          <p:nvPr/>
        </p:nvSpPr>
        <p:spPr>
          <a:xfrm>
            <a:off x="7988531" y="1849336"/>
            <a:ext cx="3807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</a:rPr>
              <a:t>자동완성기능은 </a:t>
            </a:r>
            <a:r>
              <a:rPr lang="en-US" altLang="ko-KR" sz="1200">
                <a:solidFill>
                  <a:srgbClr val="FF0000"/>
                </a:solidFill>
              </a:rPr>
              <a:t>search_as_you_type</a:t>
            </a:r>
            <a:r>
              <a:rPr lang="ko-KR" altLang="en-US" sz="1200">
                <a:solidFill>
                  <a:srgbClr val="FF0000"/>
                </a:solidFill>
              </a:rPr>
              <a:t>으로 만들었으며</a:t>
            </a:r>
            <a:r>
              <a:rPr lang="en-US" altLang="ko-KR" sz="1200">
                <a:solidFill>
                  <a:srgbClr val="FF0000"/>
                </a:solidFill>
              </a:rPr>
              <a:t>, text</a:t>
            </a:r>
            <a:r>
              <a:rPr lang="ko-KR" altLang="en-US" sz="1200">
                <a:solidFill>
                  <a:srgbClr val="FF0000"/>
                </a:solidFill>
              </a:rPr>
              <a:t>와는 다른 타입임으로 </a:t>
            </a:r>
            <a:r>
              <a:rPr lang="en-US" altLang="ko-KR" sz="1200">
                <a:solidFill>
                  <a:srgbClr val="FF0000"/>
                </a:solidFill>
              </a:rPr>
              <a:t>mulit field </a:t>
            </a:r>
            <a:r>
              <a:rPr lang="ko-KR" altLang="en-US" sz="1200">
                <a:solidFill>
                  <a:srgbClr val="FF0000"/>
                </a:solidFill>
              </a:rPr>
              <a:t>기능으로 자동완성기능의 타입을 추가해준다</a:t>
            </a:r>
            <a:r>
              <a:rPr lang="en-US" altLang="ko-KR" sz="1200">
                <a:solidFill>
                  <a:srgbClr val="FF0000"/>
                </a:solidFill>
              </a:rPr>
              <a:t>.</a:t>
            </a:r>
            <a:endParaRPr lang="ko-KR" altLang="en-US" sz="120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00E3C9E-3BE8-6B2A-A0FC-9091203FAB87}"/>
              </a:ext>
            </a:extLst>
          </p:cNvPr>
          <p:cNvCxnSpPr>
            <a:stCxn id="22" idx="3"/>
            <a:endCxn id="26" idx="2"/>
          </p:cNvCxnSpPr>
          <p:nvPr/>
        </p:nvCxnSpPr>
        <p:spPr>
          <a:xfrm flipV="1">
            <a:off x="7716649" y="2495667"/>
            <a:ext cx="2175497" cy="1033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33519529-4DF3-7CE1-1DAD-8E8A21214576}"/>
              </a:ext>
            </a:extLst>
          </p:cNvPr>
          <p:cNvGrpSpPr/>
          <p:nvPr/>
        </p:nvGrpSpPr>
        <p:grpSpPr>
          <a:xfrm>
            <a:off x="633812" y="2525868"/>
            <a:ext cx="11430762" cy="2785965"/>
            <a:chOff x="633812" y="2525868"/>
            <a:chExt cx="11430762" cy="2785965"/>
          </a:xfrm>
        </p:grpSpPr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6B333100-BDE0-B8BB-7379-6CFF0A760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82444" y="4000390"/>
              <a:ext cx="4982130" cy="13114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DA3E373E-6F65-49A0-C02D-61B2603FB137}"/>
                </a:ext>
              </a:extLst>
            </p:cNvPr>
            <p:cNvSpPr/>
            <p:nvPr/>
          </p:nvSpPr>
          <p:spPr>
            <a:xfrm>
              <a:off x="7531332" y="5062451"/>
              <a:ext cx="560345" cy="17847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13D68C8-E54F-A301-1980-BE3F0E0A7959}"/>
                </a:ext>
              </a:extLst>
            </p:cNvPr>
            <p:cNvSpPr/>
            <p:nvPr/>
          </p:nvSpPr>
          <p:spPr>
            <a:xfrm>
              <a:off x="633812" y="2525868"/>
              <a:ext cx="3657600" cy="31403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ysClr val="windowText" lastClr="000000"/>
                  </a:solidFill>
                </a:ln>
              </a:endParaRPr>
            </a:p>
          </p:txBody>
        </p:sp>
      </p:grp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52527A6A-29BD-DFFB-B610-3003494560E4}"/>
              </a:ext>
            </a:extLst>
          </p:cNvPr>
          <p:cNvCxnSpPr>
            <a:cxnSpLocks/>
            <a:stCxn id="37" idx="2"/>
            <a:endCxn id="40" idx="1"/>
          </p:cNvCxnSpPr>
          <p:nvPr/>
        </p:nvCxnSpPr>
        <p:spPr>
          <a:xfrm rot="16200000" flipH="1">
            <a:off x="3841079" y="1461436"/>
            <a:ext cx="2311787" cy="506872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87184CD-3977-3775-39BE-4D536C209391}"/>
              </a:ext>
            </a:extLst>
          </p:cNvPr>
          <p:cNvSpPr/>
          <p:nvPr/>
        </p:nvSpPr>
        <p:spPr>
          <a:xfrm>
            <a:off x="7740536" y="4373335"/>
            <a:ext cx="4324038" cy="6182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0979626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417</TotalTime>
  <Words>477</Words>
  <Application>Microsoft Office PowerPoint</Application>
  <PresentationFormat>와이드스크린</PresentationFormat>
  <Paragraphs>47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Calibri</vt:lpstr>
      <vt:lpstr>Calibri Light</vt:lpstr>
      <vt:lpstr>Wingdings</vt:lpstr>
      <vt:lpstr>추억</vt:lpstr>
      <vt:lpstr>SpringBoot - ElasticSearch 도입</vt:lpstr>
      <vt:lpstr>인프라 구성</vt:lpstr>
      <vt:lpstr>실습 인프라 구성</vt:lpstr>
      <vt:lpstr>DB docker container 생성</vt:lpstr>
      <vt:lpstr>application.yml 에 DB 연결정보 수정</vt:lpstr>
      <vt:lpstr>요구 사항</vt:lpstr>
      <vt:lpstr>요구 사항에 맞는 Kibana 쿼리 작성 -1</vt:lpstr>
      <vt:lpstr>요구 사항에 맞는 Kibana 쿼리 작성 -2</vt:lpstr>
      <vt:lpstr>요구 사항에 맞는 Kibana 쿼리 작성 -2</vt:lpstr>
      <vt:lpstr>요구 사항에 맞는 Kibana 쿼리 작성 -3</vt:lpstr>
      <vt:lpstr>요구 사항에 맞는 Kibana 쿼리 작성 -4</vt:lpstr>
      <vt:lpstr>요구 사항에 맞는 Kibana 쿼리 작성 -5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14</cp:revision>
  <dcterms:created xsi:type="dcterms:W3CDTF">2026-09-05T06:13:35Z</dcterms:created>
  <dcterms:modified xsi:type="dcterms:W3CDTF">2026-09-05T13:10:54Z</dcterms:modified>
</cp:coreProperties>
</file>