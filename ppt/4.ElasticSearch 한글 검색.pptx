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6BA0CB4-30FA-4FB2-B52D-C45E6AF909CC}">
          <p14:sldIdLst>
            <p14:sldId id="256"/>
          </p14:sldIdLst>
        </p14:section>
        <p14:section name="한글 검색 실습" id="{600B6344-B340-440C-A877-637B0BA3251A}">
          <p14:sldIdLst>
            <p14:sldId id="258"/>
            <p14:sldId id="259"/>
          </p14:sldIdLst>
        </p14:section>
        <p14:section name="한글 검색을 위한 ElasticSearch 설치" id="{D286B4FC-B58B-4D96-AA5F-2B2184A66163}">
          <p14:sldIdLst>
            <p14:sldId id="260"/>
            <p14:sldId id="261"/>
            <p14:sldId id="262"/>
          </p14:sldIdLst>
        </p14:section>
        <p14:section name="한글 검색 확인" id="{11696515-3D6F-4813-8E9C-318E5AC0EC96}">
          <p14:sldIdLst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38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988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844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22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5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81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55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18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94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28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45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068DF30-F5B0-4ED1-B467-0B721EFF13F3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EB4DFD-C740-4EA2-8094-A59DCB0B3A3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535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50A1D-5AF2-87C8-26B0-9D1F02DA4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ElasticSearch </a:t>
            </a:r>
            <a:r>
              <a:rPr lang="ko-KR" altLang="en-US" sz="6000"/>
              <a:t>한글 검색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B109E1-D624-A082-BC44-A4E0549634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013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CB461-90D3-DC69-3671-E8AAE909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</a:t>
            </a:r>
            <a:r>
              <a:rPr lang="en-US" altLang="ko-KR"/>
              <a:t>Board </a:t>
            </a:r>
            <a:r>
              <a:rPr lang="ko-KR" altLang="en-US"/>
              <a:t>인덱스 및 맵핑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F5A074-4626-9D93-5038-B21B36C3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62795"/>
            <a:ext cx="4610743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91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6713C-8517-CE0A-AA50-35BC7154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Boards </a:t>
            </a:r>
            <a:r>
              <a:rPr lang="ko-KR" altLang="en-US" sz="3200"/>
              <a:t>인덱스에 한글 문자열 </a:t>
            </a:r>
            <a:r>
              <a:rPr lang="en-US" altLang="ko-KR" sz="3200"/>
              <a:t>Document </a:t>
            </a:r>
            <a:r>
              <a:rPr lang="ko-KR" altLang="en-US" sz="3200"/>
              <a:t>저장 및 조회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CC9942D-8A43-11E4-0C15-5EE5F7BB463E}"/>
              </a:ext>
            </a:extLst>
          </p:cNvPr>
          <p:cNvGrpSpPr/>
          <p:nvPr/>
        </p:nvGrpSpPr>
        <p:grpSpPr>
          <a:xfrm>
            <a:off x="465513" y="1900791"/>
            <a:ext cx="3399905" cy="1197588"/>
            <a:chOff x="1097280" y="1900791"/>
            <a:chExt cx="4023360" cy="119758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EA57B50-B113-70E0-4E90-D3066631B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900791"/>
              <a:ext cx="4001058" cy="762106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4101DF-A0A3-BDA2-D380-D6EF9EFC5628}"/>
                </a:ext>
              </a:extLst>
            </p:cNvPr>
            <p:cNvSpPr txBox="1"/>
            <p:nvPr/>
          </p:nvSpPr>
          <p:spPr>
            <a:xfrm>
              <a:off x="1097280" y="2759825"/>
              <a:ext cx="40233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/>
                <a:t>document </a:t>
              </a:r>
              <a:r>
                <a:rPr lang="ko-KR" altLang="en-US" sz="1600"/>
                <a:t>저장</a:t>
              </a:r>
              <a:r>
                <a:rPr lang="en-US" altLang="ko-KR" sz="1600"/>
                <a:t>(</a:t>
              </a:r>
              <a:r>
                <a:rPr lang="ko-KR" altLang="en-US" sz="1600"/>
                <a:t>한글</a:t>
              </a:r>
              <a:r>
                <a:rPr lang="en-US" altLang="ko-KR" sz="1600"/>
                <a:t>)</a:t>
              </a:r>
              <a:endParaRPr lang="ko-KR" altLang="en-US" sz="160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BA564D1-52B8-7EC7-E356-89001CC8C9DD}"/>
              </a:ext>
            </a:extLst>
          </p:cNvPr>
          <p:cNvGrpSpPr/>
          <p:nvPr/>
        </p:nvGrpSpPr>
        <p:grpSpPr>
          <a:xfrm>
            <a:off x="4150904" y="1900791"/>
            <a:ext cx="3483032" cy="1732259"/>
            <a:chOff x="4150904" y="1900791"/>
            <a:chExt cx="3483032" cy="173225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5097BC8-FA6A-37DC-DDA2-7D0D49B8E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50904" y="1900791"/>
              <a:ext cx="2543530" cy="132416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BB7573A-0565-094D-2344-D4EB0FF35BB4}"/>
                </a:ext>
              </a:extLst>
            </p:cNvPr>
            <p:cNvSpPr txBox="1"/>
            <p:nvPr/>
          </p:nvSpPr>
          <p:spPr>
            <a:xfrm>
              <a:off x="4234031" y="3294496"/>
              <a:ext cx="33999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/>
                <a:t>document </a:t>
              </a:r>
              <a:r>
                <a:rPr lang="ko-KR" altLang="en-US" sz="1600"/>
                <a:t>검색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71D7C71-1F58-BD4A-959A-335C1AFC93C5}"/>
              </a:ext>
            </a:extLst>
          </p:cNvPr>
          <p:cNvGrpSpPr/>
          <p:nvPr/>
        </p:nvGrpSpPr>
        <p:grpSpPr>
          <a:xfrm>
            <a:off x="7452818" y="1900791"/>
            <a:ext cx="2124371" cy="2991267"/>
            <a:chOff x="7452818" y="1900791"/>
            <a:chExt cx="2124371" cy="2991267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C15D297-7D89-0545-853F-94A39C78F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52818" y="1900791"/>
              <a:ext cx="2124371" cy="2991267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2489696-899B-B758-934B-E8CA31A204CE}"/>
                </a:ext>
              </a:extLst>
            </p:cNvPr>
            <p:cNvSpPr/>
            <p:nvPr/>
          </p:nvSpPr>
          <p:spPr>
            <a:xfrm>
              <a:off x="8096596" y="4372494"/>
              <a:ext cx="839586" cy="1662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F519EC6-A145-76FA-E280-F7F9E200F8D8}"/>
              </a:ext>
            </a:extLst>
          </p:cNvPr>
          <p:cNvGrpSpPr/>
          <p:nvPr/>
        </p:nvGrpSpPr>
        <p:grpSpPr>
          <a:xfrm>
            <a:off x="0" y="3857105"/>
            <a:ext cx="7066494" cy="2991267"/>
            <a:chOff x="0" y="3857105"/>
            <a:chExt cx="7066494" cy="2991267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3CFC3D90-F7C7-3063-5F83-4D3A49803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11" y="3999289"/>
              <a:ext cx="3140270" cy="722181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42C0F1F-9322-99AA-6A96-3B0B3B134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90643" y="3949304"/>
              <a:ext cx="1838062" cy="282557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897447A-A8BE-E111-6743-1F347C133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7974" y="3999289"/>
              <a:ext cx="1728520" cy="2102254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79C2506-405D-5E11-29DD-7ADE42383173}"/>
                </a:ext>
              </a:extLst>
            </p:cNvPr>
            <p:cNvSpPr/>
            <p:nvPr/>
          </p:nvSpPr>
          <p:spPr>
            <a:xfrm>
              <a:off x="0" y="3857105"/>
              <a:ext cx="6974378" cy="299126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E933352-3FBB-D08D-DBF2-3481C8BCBE6F}"/>
              </a:ext>
            </a:extLst>
          </p:cNvPr>
          <p:cNvSpPr txBox="1"/>
          <p:nvPr/>
        </p:nvSpPr>
        <p:spPr>
          <a:xfrm>
            <a:off x="182880" y="4892058"/>
            <a:ext cx="3017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애널라이저가 </a:t>
            </a:r>
            <a:r>
              <a:rPr lang="en-US" altLang="ko-KR" sz="1400"/>
              <a:t>standard </a:t>
            </a:r>
            <a:r>
              <a:rPr lang="ko-KR" altLang="en-US" sz="1400"/>
              <a:t>애널라이저에 맞게 토큰을 잘랐음에도</a:t>
            </a:r>
            <a:r>
              <a:rPr lang="en-US" altLang="ko-KR" sz="1400"/>
              <a:t>. </a:t>
            </a:r>
            <a:r>
              <a:rPr lang="ko-KR" altLang="en-US" sz="1400"/>
              <a:t>한글 검색이 안나오는걸 확인할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15534D-963F-657D-3D6E-963A74156E88}"/>
              </a:ext>
            </a:extLst>
          </p:cNvPr>
          <p:cNvSpPr/>
          <p:nvPr/>
        </p:nvSpPr>
        <p:spPr>
          <a:xfrm>
            <a:off x="1097281" y="4430683"/>
            <a:ext cx="606828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AEFFC92-1496-EA05-CFE3-F86E73E6A00C}"/>
              </a:ext>
            </a:extLst>
          </p:cNvPr>
          <p:cNvSpPr/>
          <p:nvPr/>
        </p:nvSpPr>
        <p:spPr>
          <a:xfrm>
            <a:off x="4557683" y="4314921"/>
            <a:ext cx="606828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A88EA3-BDDF-35C7-995C-1E16B390A4B6}"/>
              </a:ext>
            </a:extLst>
          </p:cNvPr>
          <p:cNvSpPr/>
          <p:nvPr/>
        </p:nvSpPr>
        <p:spPr>
          <a:xfrm>
            <a:off x="5933982" y="2605951"/>
            <a:ext cx="760451" cy="153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806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EB1F6-FBE0-EE1A-308A-DA252515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한글 토큰에 적합한 </a:t>
            </a:r>
            <a:r>
              <a:rPr lang="en-US" altLang="ko-KR" sz="3600"/>
              <a:t>Nori Tokenizer Plugin </a:t>
            </a:r>
            <a:r>
              <a:rPr lang="ko-KR" altLang="en-US" sz="3600"/>
              <a:t>설치하기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25D8C97-D561-AFA5-7735-D577A550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25" y="1872163"/>
            <a:ext cx="4839375" cy="3248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3DD9F0-7402-986D-DB67-AC6B43553619}"/>
              </a:ext>
            </a:extLst>
          </p:cNvPr>
          <p:cNvSpPr txBox="1"/>
          <p:nvPr/>
        </p:nvSpPr>
        <p:spPr>
          <a:xfrm>
            <a:off x="6209607" y="1872163"/>
            <a:ext cx="504582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1. compose.yml </a:t>
            </a:r>
            <a:r>
              <a:rPr lang="ko-KR" altLang="en-US" sz="1100"/>
              <a:t>이 존재하는 경로까지 이동 </a:t>
            </a:r>
            <a:endParaRPr lang="en-US" altLang="ko-KR" sz="1100"/>
          </a:p>
          <a:p>
            <a:r>
              <a:rPr lang="en-US" altLang="ko-KR" sz="1100"/>
              <a:t>    (docker compose </a:t>
            </a:r>
            <a:r>
              <a:rPr lang="ko-KR" altLang="en-US" sz="1100"/>
              <a:t>파일</a:t>
            </a:r>
            <a:r>
              <a:rPr lang="en-US" altLang="ko-KR" sz="1100"/>
              <a:t>)</a:t>
            </a:r>
          </a:p>
          <a:p>
            <a:r>
              <a:rPr lang="en-US" altLang="ko-KR" sz="1100"/>
              <a:t>2. docker compose down </a:t>
            </a:r>
            <a:r>
              <a:rPr lang="ko-KR" altLang="en-US" sz="1100"/>
              <a:t>명령으로 실행중인 </a:t>
            </a:r>
            <a:r>
              <a:rPr lang="en-US" altLang="ko-KR" sz="1100"/>
              <a:t>ElasticSearch </a:t>
            </a:r>
            <a:r>
              <a:rPr lang="ko-KR" altLang="en-US" sz="1100"/>
              <a:t>컨테이너</a:t>
            </a:r>
            <a:br>
              <a:rPr lang="en-US" altLang="ko-KR" sz="1100"/>
            </a:br>
            <a:r>
              <a:rPr lang="en-US" altLang="ko-KR" sz="1100"/>
              <a:t>    Kibana </a:t>
            </a:r>
            <a:r>
              <a:rPr lang="ko-KR" altLang="en-US" sz="1100"/>
              <a:t>컨테이너 닫기</a:t>
            </a:r>
            <a:endParaRPr lang="en-US" altLang="ko-KR" sz="1100"/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573463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05998-4AD0-78BB-CC3B-DF6298A1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nori plugin</a:t>
            </a:r>
            <a:r>
              <a:rPr lang="ko-KR" altLang="en-US" sz="3200"/>
              <a:t>을 포함한 </a:t>
            </a:r>
            <a:r>
              <a:rPr lang="en-US" altLang="ko-KR" sz="3200"/>
              <a:t>ElasticSearch </a:t>
            </a:r>
            <a:r>
              <a:rPr lang="ko-KR" altLang="en-US" sz="3200"/>
              <a:t>설치 </a:t>
            </a:r>
            <a:r>
              <a:rPr lang="en-US" altLang="ko-KR" sz="3200"/>
              <a:t>DockerFile </a:t>
            </a:r>
            <a:r>
              <a:rPr lang="ko-KR" altLang="en-US" sz="3200"/>
              <a:t>작성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4F35CA-AA4C-D653-511B-A86A3E46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57" y="1923840"/>
            <a:ext cx="5001323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8286C-C12B-C030-2D1E-E5E19C1C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compose.yml </a:t>
            </a:r>
            <a:r>
              <a:rPr lang="ko-KR" altLang="en-US"/>
              <a:t>설정 변경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BD23F-2262-5EA3-D2FB-9C37882B364A}"/>
              </a:ext>
            </a:extLst>
          </p:cNvPr>
          <p:cNvSpPr txBox="1"/>
          <p:nvPr/>
        </p:nvSpPr>
        <p:spPr>
          <a:xfrm>
            <a:off x="1197033" y="1870364"/>
            <a:ext cx="9958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작성한 </a:t>
            </a:r>
            <a:r>
              <a:rPr lang="en-US" altLang="ko-KR" sz="1400"/>
              <a:t>dockerFile </a:t>
            </a:r>
            <a:r>
              <a:rPr lang="ko-KR" altLang="en-US" sz="1400"/>
              <a:t>정보로 컨테이너를 생성을 위해 </a:t>
            </a:r>
            <a:r>
              <a:rPr lang="en-US" altLang="ko-KR" sz="1400"/>
              <a:t>image: </a:t>
            </a:r>
            <a:r>
              <a:rPr lang="ko-KR" altLang="en-US" sz="1400"/>
              <a:t>옵션을 제거하고 </a:t>
            </a:r>
            <a:r>
              <a:rPr lang="en-US" altLang="ko-KR" sz="1400"/>
              <a:t>build: </a:t>
            </a:r>
            <a:r>
              <a:rPr lang="ko-KR" altLang="en-US" sz="1400"/>
              <a:t>옵션으로 정보 수정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198F251-6C1C-101A-464D-A04EDB53CC3C}"/>
              </a:ext>
            </a:extLst>
          </p:cNvPr>
          <p:cNvGrpSpPr/>
          <p:nvPr/>
        </p:nvGrpSpPr>
        <p:grpSpPr>
          <a:xfrm>
            <a:off x="1197033" y="2178141"/>
            <a:ext cx="6325985" cy="3142004"/>
            <a:chOff x="1197033" y="2372700"/>
            <a:chExt cx="7125694" cy="380100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D935A95-96DA-7F68-768F-453A9E0C4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7033" y="2372700"/>
              <a:ext cx="7125694" cy="380100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1BB6D22-ACBD-D4B3-49E4-A22453FE4E20}"/>
                </a:ext>
              </a:extLst>
            </p:cNvPr>
            <p:cNvSpPr/>
            <p:nvPr/>
          </p:nvSpPr>
          <p:spPr>
            <a:xfrm>
              <a:off x="1895302" y="2901142"/>
              <a:ext cx="4788131" cy="59020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53B6FF3-ACFC-01C9-5EFA-0C7F2672B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086" y="5627922"/>
            <a:ext cx="4982270" cy="1095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3E2BA5-FD1F-8124-581C-3DC9DAD9DFD5}"/>
              </a:ext>
            </a:extLst>
          </p:cNvPr>
          <p:cNvSpPr txBox="1"/>
          <p:nvPr/>
        </p:nvSpPr>
        <p:spPr>
          <a:xfrm>
            <a:off x="1147156" y="5320145"/>
            <a:ext cx="9958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컨테이너 생성 </a:t>
            </a:r>
            <a:r>
              <a:rPr lang="en-US" altLang="ko-KR" sz="1400"/>
              <a:t>( docker compose up -d )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344143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40570-B7D3-8526-F4D5-29DA99E36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nori</a:t>
            </a:r>
            <a:r>
              <a:rPr lang="ko-KR" altLang="en-US"/>
              <a:t> </a:t>
            </a:r>
            <a:r>
              <a:rPr lang="en-US" altLang="ko-KR"/>
              <a:t>Analyzer </a:t>
            </a:r>
            <a:r>
              <a:rPr lang="ko-KR" altLang="en-US"/>
              <a:t>테스트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01FED56-5F5D-5556-F8DE-F9C491A0116E}"/>
              </a:ext>
            </a:extLst>
          </p:cNvPr>
          <p:cNvGrpSpPr/>
          <p:nvPr/>
        </p:nvGrpSpPr>
        <p:grpSpPr>
          <a:xfrm>
            <a:off x="1097281" y="2011703"/>
            <a:ext cx="4480560" cy="1868277"/>
            <a:chOff x="1097281" y="2011703"/>
            <a:chExt cx="4480560" cy="18682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F45C587-5F90-F862-1D84-D41529B05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1" y="2011703"/>
              <a:ext cx="4480560" cy="186827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40BF028-3B92-E02E-F283-59CD38932C52}"/>
                </a:ext>
              </a:extLst>
            </p:cNvPr>
            <p:cNvSpPr/>
            <p:nvPr/>
          </p:nvSpPr>
          <p:spPr>
            <a:xfrm>
              <a:off x="1163782" y="2011703"/>
              <a:ext cx="3217025" cy="7398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FAFFD4D-F0B7-AA95-6E21-036F9AA7415E}"/>
                </a:ext>
              </a:extLst>
            </p:cNvPr>
            <p:cNvSpPr/>
            <p:nvPr/>
          </p:nvSpPr>
          <p:spPr>
            <a:xfrm>
              <a:off x="1163781" y="2869640"/>
              <a:ext cx="4414060" cy="101033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1175E8FF-46B9-AE87-E88D-457A406FE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498" y="1737360"/>
            <a:ext cx="1522819" cy="50375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5C88D4-4E5F-1032-3D26-2273B4B99200}"/>
              </a:ext>
            </a:extLst>
          </p:cNvPr>
          <p:cNvSpPr txBox="1"/>
          <p:nvPr/>
        </p:nvSpPr>
        <p:spPr>
          <a:xfrm>
            <a:off x="1163781" y="4039985"/>
            <a:ext cx="45886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빨간색 박스와 초록색 박스는 동일한 결과를 나타낸다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nori </a:t>
            </a:r>
            <a:r>
              <a:rPr lang="ko-KR" altLang="en-US" sz="1200"/>
              <a:t>애널라이저는</a:t>
            </a:r>
            <a:endParaRPr lang="en-US" altLang="ko-KR" sz="1200"/>
          </a:p>
          <a:p>
            <a:r>
              <a:rPr lang="en-US" altLang="ko-KR" sz="1200"/>
              <a:t>---</a:t>
            </a:r>
          </a:p>
          <a:p>
            <a:r>
              <a:rPr lang="en-US" altLang="ko-KR" sz="1200"/>
              <a:t>char_filter = []</a:t>
            </a:r>
          </a:p>
          <a:p>
            <a:r>
              <a:rPr lang="en-US" altLang="ko-KR" sz="1200"/>
              <a:t>tokenizer = "nori_tokenizer"</a:t>
            </a:r>
          </a:p>
          <a:p>
            <a:r>
              <a:rPr lang="en-US" altLang="ko-KR" sz="1200"/>
              <a:t>filter = ["nori_part_of_speech", "nori_readingform", "lowercase"]</a:t>
            </a:r>
          </a:p>
          <a:p>
            <a:r>
              <a:rPr lang="en-US" altLang="ko-KR" sz="1200"/>
              <a:t>---</a:t>
            </a:r>
          </a:p>
          <a:p>
            <a:r>
              <a:rPr lang="ko-KR" altLang="en-US" sz="1200"/>
              <a:t>로 구성 되어있다</a:t>
            </a:r>
            <a:r>
              <a:rPr lang="en-US" altLang="ko-KR" sz="1200"/>
              <a:t>.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74674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F3033-4662-FB3E-C747-320C8333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한글과 영어를 겸하여 </a:t>
            </a:r>
            <a:r>
              <a:rPr lang="en-US" altLang="ko-KR" sz="3600"/>
              <a:t>index, </a:t>
            </a:r>
            <a:r>
              <a:rPr lang="ko-KR" altLang="en-US" sz="3600"/>
              <a:t> </a:t>
            </a:r>
            <a:r>
              <a:rPr lang="en-US" altLang="ko-KR" sz="3600"/>
              <a:t>mapping </a:t>
            </a:r>
            <a:r>
              <a:rPr lang="ko-KR" altLang="en-US" sz="3600"/>
              <a:t>작성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0CC26-A6FE-6DBB-91B3-F21A2FDA4812}"/>
              </a:ext>
            </a:extLst>
          </p:cNvPr>
          <p:cNvSpPr txBox="1"/>
          <p:nvPr/>
        </p:nvSpPr>
        <p:spPr>
          <a:xfrm>
            <a:off x="1097280" y="1837113"/>
            <a:ext cx="9401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nori </a:t>
            </a:r>
            <a:r>
              <a:rPr lang="ko-KR" altLang="en-US" sz="1200"/>
              <a:t>애널라이저는 기본적으로 영어 또한 </a:t>
            </a:r>
            <a:r>
              <a:rPr lang="en-US" altLang="ko-KR" sz="1200"/>
              <a:t>Token</a:t>
            </a:r>
            <a:r>
              <a:rPr lang="ko-KR" altLang="en-US" sz="1200"/>
              <a:t>으로 잘 분리하기 때문에 특별히 추가해야할 껀 없다</a:t>
            </a:r>
            <a:r>
              <a:rPr lang="en-US" altLang="ko-KR" sz="1200"/>
              <a:t>. (</a:t>
            </a:r>
            <a:r>
              <a:rPr lang="en-US" altLang="ko-KR" sz="1200" b="1"/>
              <a:t>= </a:t>
            </a:r>
            <a:r>
              <a:rPr lang="ko-KR" altLang="en-US" sz="1200" b="1"/>
              <a:t>그냥 </a:t>
            </a:r>
            <a:r>
              <a:rPr lang="en-US" altLang="ko-KR" sz="1200" b="1"/>
              <a:t>nori </a:t>
            </a:r>
            <a:r>
              <a:rPr lang="ko-KR" altLang="en-US" sz="1200" b="1"/>
              <a:t>애널라이저를 사용해라</a:t>
            </a:r>
            <a:r>
              <a:rPr lang="en-US" altLang="ko-KR" sz="1200"/>
              <a:t>)</a:t>
            </a:r>
          </a:p>
          <a:p>
            <a:r>
              <a:rPr lang="ko-KR" altLang="en-US" sz="1200"/>
              <a:t>그러나 영어는 불용어</a:t>
            </a:r>
            <a:r>
              <a:rPr lang="en-US" altLang="ko-KR" sz="1200"/>
              <a:t>(a, the, and) </a:t>
            </a:r>
            <a:r>
              <a:rPr lang="ko-KR" altLang="en-US" sz="1200"/>
              <a:t>나 단어의 원형</a:t>
            </a:r>
            <a:r>
              <a:rPr lang="en-US" altLang="ko-KR" sz="1200"/>
              <a:t>(-ing, -ed </a:t>
            </a:r>
            <a:r>
              <a:rPr lang="ko-KR" altLang="en-US" sz="1200"/>
              <a:t>제거</a:t>
            </a:r>
            <a:r>
              <a:rPr lang="en-US" altLang="ko-KR" sz="1200"/>
              <a:t>) </a:t>
            </a:r>
            <a:r>
              <a:rPr lang="ko-KR" altLang="en-US" sz="1200"/>
              <a:t>등을 고려한 검색이 필요한 경우가 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떄문에</a:t>
            </a:r>
            <a:r>
              <a:rPr lang="en-US" altLang="ko-KR" sz="1200"/>
              <a:t>, </a:t>
            </a:r>
            <a:r>
              <a:rPr lang="ko-KR" altLang="en-US" sz="1200"/>
              <a:t>검색하려는 정보의 특징을 잘 고려하여</a:t>
            </a:r>
            <a:r>
              <a:rPr lang="en-US" altLang="ko-KR" sz="1200"/>
              <a:t>, </a:t>
            </a:r>
            <a:r>
              <a:rPr lang="en-US" altLang="ko-KR" sz="1200" b="1">
                <a:solidFill>
                  <a:srgbClr val="FF0000"/>
                </a:solidFill>
              </a:rPr>
              <a:t>"stop",</a:t>
            </a:r>
            <a:r>
              <a:rPr lang="ko-KR" altLang="en-US" sz="1200" b="1">
                <a:solidFill>
                  <a:srgbClr val="FF0000"/>
                </a:solidFill>
              </a:rPr>
              <a:t> </a:t>
            </a:r>
            <a:r>
              <a:rPr lang="en-US" altLang="ko-KR" sz="1200" b="1">
                <a:solidFill>
                  <a:srgbClr val="FF0000"/>
                </a:solidFill>
              </a:rPr>
              <a:t>"stemmer"</a:t>
            </a:r>
            <a:r>
              <a:rPr lang="ko-KR" altLang="en-US" sz="1200" b="1">
                <a:solidFill>
                  <a:srgbClr val="FF0000"/>
                </a:solidFill>
              </a:rPr>
              <a:t>를 </a:t>
            </a:r>
            <a:r>
              <a:rPr lang="en-US" altLang="ko-KR" sz="1200" b="1">
                <a:solidFill>
                  <a:srgbClr val="FF0000"/>
                </a:solidFill>
              </a:rPr>
              <a:t>filter</a:t>
            </a:r>
            <a:r>
              <a:rPr lang="ko-KR" altLang="en-US" sz="1200" b="1">
                <a:solidFill>
                  <a:srgbClr val="FF0000"/>
                </a:solidFill>
              </a:rPr>
              <a:t>에 적용</a:t>
            </a:r>
            <a:r>
              <a:rPr lang="ko-KR" altLang="en-US" sz="1200"/>
              <a:t>하여 사용하는 경우가 실무적으로 많이 쓰인다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D2B9BC-5BF9-0A0E-19F4-2E13F4091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22" y="2583197"/>
            <a:ext cx="7138737" cy="340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05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B39824-B4C0-97AD-DA08-93CA8C61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boards </a:t>
            </a:r>
            <a:r>
              <a:rPr lang="ko-KR" altLang="en-US"/>
              <a:t>인덱스에 대한 한글 검색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0158C1-E404-C7BB-C9AE-62722BB22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25" y="1932572"/>
            <a:ext cx="4067743" cy="22101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5A4730A-2B4B-B43A-EBDC-4C808733A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511" y="1932572"/>
            <a:ext cx="3828863" cy="40276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386550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</TotalTime>
  <Words>245</Words>
  <Application>Microsoft Office PowerPoint</Application>
  <PresentationFormat>와이드스크린</PresentationFormat>
  <Paragraphs>29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추억</vt:lpstr>
      <vt:lpstr>ElasticSearch 한글 검색</vt:lpstr>
      <vt:lpstr>실습 Board 인덱스 및 맵핑 설정</vt:lpstr>
      <vt:lpstr>Boards 인덱스에 한글 문자열 Document 저장 및 조회</vt:lpstr>
      <vt:lpstr>한글 토큰에 적합한 Nori Tokenizer Plugin 설치하기</vt:lpstr>
      <vt:lpstr>nori plugin을 포함한 ElasticSearch 설치 DockerFile 작성 </vt:lpstr>
      <vt:lpstr>compose.yml 설정 변경</vt:lpstr>
      <vt:lpstr>nori Analyzer 테스트</vt:lpstr>
      <vt:lpstr>한글과 영어를 겸하여 index,  mapping 작성</vt:lpstr>
      <vt:lpstr>boards 인덱스에 대한 한글 검색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18</cp:revision>
  <dcterms:created xsi:type="dcterms:W3CDTF">2026-09-02T12:09:34Z</dcterms:created>
  <dcterms:modified xsi:type="dcterms:W3CDTF">2026-09-02T13:05:49Z</dcterms:modified>
</cp:coreProperties>
</file>