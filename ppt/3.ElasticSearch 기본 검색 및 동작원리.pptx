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8" r:id="rId3"/>
    <p:sldId id="257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기본 구역" id="{00FF831F-3A4A-4B01-AD1A-0F94DC937136}">
          <p14:sldIdLst>
            <p14:sldId id="256"/>
          </p14:sldIdLst>
        </p14:section>
        <p14:section name="불규칙 단어 순서 조회 실습" id="{44A439B5-EA2C-4C38-9E95-56460044F74F}">
          <p14:sldIdLst>
            <p14:sldId id="258"/>
            <p14:sldId id="257"/>
          </p14:sldIdLst>
        </p14:section>
        <p14:section name="ElasticSearch의 작동 원리" id="{DE74D989-9937-4C81-BB19-7DBD000CF393}">
          <p14:sldIdLst>
            <p14:sldId id="259"/>
            <p14:sldId id="260"/>
            <p14:sldId id="261"/>
            <p14:sldId id="262"/>
          </p14:sldIdLst>
        </p14:section>
        <p14:section name="doc 저장 애널라이저 필터 설정" id="{440B6FD1-031D-4975-A178-A1DE49388831}">
          <p14:sldIdLst>
            <p14:sldId id="263"/>
            <p14:sldId id="264"/>
            <p14:sldId id="265"/>
            <p14:sldId id="266"/>
          </p14:sldIdLst>
        </p14:section>
        <p14:section name="strip_html - 캐릭터 필터" id="{B1507024-DB78-4093-9C39-E7A07E6C9626}">
          <p14:sldIdLst>
            <p14:sldId id="267"/>
            <p14:sldId id="268"/>
          </p14:sldIdLst>
        </p14:section>
        <p14:section name="token filter에 stop filter 적용" id="{46C1E306-72B5-4D4B-B733-55CBB77C68F5}">
          <p14:sldIdLst>
            <p14:sldId id="269"/>
            <p14:sldId id="270"/>
          </p14:sldIdLst>
        </p14:section>
        <p14:section name="token filter 에 stemmer filter 적용" id="{90A1264E-09A9-434B-9BB0-9C06A4AE847A}">
          <p14:sldIdLst>
            <p14:sldId id="271"/>
            <p14:sldId id="272"/>
          </p14:sldIdLst>
        </p14:section>
        <p14:section name="동의어 처리 - Synonym필터" id="{16E8AF43-1E0E-4C41-BE50-40AB3DB5156D}">
          <p14:sldIdLst>
            <p14:sldId id="273"/>
            <p14:sldId id="274"/>
            <p14:sldId id="27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20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120" y="2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258667-808F-44AE-9810-26FD641117AF}" type="datetimeFigureOut">
              <a:rPr lang="ko-KR" altLang="en-US" smtClean="0"/>
              <a:t>2026-09-02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45AE9-F8EE-48AA-BC8B-EBD3298B14CC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416337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258667-808F-44AE-9810-26FD641117AF}" type="datetimeFigureOut">
              <a:rPr lang="ko-KR" altLang="en-US" smtClean="0"/>
              <a:t>2026-09-02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45AE9-F8EE-48AA-BC8B-EBD3298B14C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858424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구역 머리글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258667-808F-44AE-9810-26FD641117AF}" type="datetimeFigureOut">
              <a:rPr lang="ko-KR" altLang="en-US" smtClean="0"/>
              <a:t>2026-09-02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45AE9-F8EE-48AA-BC8B-EBD3298B14CC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242176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258667-808F-44AE-9810-26FD641117AF}" type="datetimeFigureOut">
              <a:rPr lang="ko-KR" altLang="en-US" smtClean="0"/>
              <a:t>2026-09-02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45AE9-F8EE-48AA-BC8B-EBD3298B14C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737066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258667-808F-44AE-9810-26FD641117AF}" type="datetimeFigureOut">
              <a:rPr lang="ko-KR" altLang="en-US" smtClean="0"/>
              <a:t>2026-09-02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45AE9-F8EE-48AA-BC8B-EBD3298B14C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891308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258667-808F-44AE-9810-26FD641117AF}" type="datetimeFigureOut">
              <a:rPr lang="ko-KR" altLang="en-US" smtClean="0"/>
              <a:t>2026-09-02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45AE9-F8EE-48AA-BC8B-EBD3298B14C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271623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258667-808F-44AE-9810-26FD641117AF}" type="datetimeFigureOut">
              <a:rPr lang="ko-KR" altLang="en-US" smtClean="0"/>
              <a:t>2026-09-02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45AE9-F8EE-48AA-BC8B-EBD3298B14C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463991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D4258667-808F-44AE-9810-26FD641117AF}" type="datetimeFigureOut">
              <a:rPr lang="ko-KR" altLang="en-US" smtClean="0"/>
              <a:t>2026-09-02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0D945AE9-F8EE-48AA-BC8B-EBD3298B14C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687042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258667-808F-44AE-9810-26FD641117AF}" type="datetimeFigureOut">
              <a:rPr lang="ko-KR" altLang="en-US" smtClean="0"/>
              <a:t>2026-09-02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45AE9-F8EE-48AA-BC8B-EBD3298B14C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051569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258667-808F-44AE-9810-26FD641117AF}" type="datetimeFigureOut">
              <a:rPr lang="ko-KR" altLang="en-US" smtClean="0"/>
              <a:t>2026-09-02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45AE9-F8EE-48AA-BC8B-EBD3298B14C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767983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258667-808F-44AE-9810-26FD641117AF}" type="datetimeFigureOut">
              <a:rPr lang="ko-KR" altLang="en-US" smtClean="0"/>
              <a:t>2026-09-02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45AE9-F8EE-48AA-BC8B-EBD3298B14C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493874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D4258667-808F-44AE-9810-26FD641117AF}" type="datetimeFigureOut">
              <a:rPr lang="ko-KR" altLang="en-US" smtClean="0"/>
              <a:t>2026-09-02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0D945AE9-F8EE-48AA-BC8B-EBD3298B14CC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983211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1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1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7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9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4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F4D513C-96B0-E217-2B43-328E56D9757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altLang="ko-KR" sz="4800"/>
              <a:t>ElasticSearch</a:t>
            </a:r>
            <a:r>
              <a:rPr lang="ko-KR" altLang="en-US" sz="4800"/>
              <a:t> 기본 검색 및 작동 원리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09896649-43BF-0AC3-A865-EFA0E6C981E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333652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3B2DF0B-8DC3-5F69-A4C1-18CCD12787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실습을 위한 인덱스 생성</a:t>
            </a:r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id="{019396BC-3120-8737-7AF8-E6C3A9BAAA1B}"/>
              </a:ext>
            </a:extLst>
          </p:cNvPr>
          <p:cNvGrpSpPr/>
          <p:nvPr/>
        </p:nvGrpSpPr>
        <p:grpSpPr>
          <a:xfrm>
            <a:off x="2239919" y="1867615"/>
            <a:ext cx="2762636" cy="2286849"/>
            <a:chOff x="1198397" y="1867615"/>
            <a:chExt cx="2762636" cy="2286849"/>
          </a:xfrm>
        </p:grpSpPr>
        <p:pic>
          <p:nvPicPr>
            <p:cNvPr id="4" name="그림 3">
              <a:extLst>
                <a:ext uri="{FF2B5EF4-FFF2-40B4-BE49-F238E27FC236}">
                  <a16:creationId xmlns:a16="http://schemas.microsoft.com/office/drawing/2014/main" id="{E4BE27D1-5147-BDA6-A2F5-240B1ABCFDB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t="2996"/>
            <a:stretch>
              <a:fillRect/>
            </a:stretch>
          </p:blipFill>
          <p:spPr>
            <a:xfrm>
              <a:off x="1198397" y="1867615"/>
              <a:ext cx="2762636" cy="1792734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34B1B8C3-177F-B308-72B6-579B631B464A}"/>
                </a:ext>
              </a:extLst>
            </p:cNvPr>
            <p:cNvSpPr txBox="1"/>
            <p:nvPr/>
          </p:nvSpPr>
          <p:spPr>
            <a:xfrm>
              <a:off x="1198397" y="3692799"/>
              <a:ext cx="276263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200"/>
                <a:t>인덱스 생성 후</a:t>
              </a:r>
              <a:endParaRPr lang="en-US" altLang="ko-KR" sz="1200"/>
            </a:p>
            <a:p>
              <a:r>
                <a:rPr lang="ko-KR" altLang="en-US" sz="1200"/>
                <a:t>맵핑 정의</a:t>
              </a:r>
            </a:p>
          </p:txBody>
        </p:sp>
      </p:grpSp>
      <p:grpSp>
        <p:nvGrpSpPr>
          <p:cNvPr id="9" name="그룹 8">
            <a:extLst>
              <a:ext uri="{FF2B5EF4-FFF2-40B4-BE49-F238E27FC236}">
                <a16:creationId xmlns:a16="http://schemas.microsoft.com/office/drawing/2014/main" id="{11DC6585-C9C3-18EF-FDA0-DCB8F4193ADE}"/>
              </a:ext>
            </a:extLst>
          </p:cNvPr>
          <p:cNvGrpSpPr/>
          <p:nvPr/>
        </p:nvGrpSpPr>
        <p:grpSpPr>
          <a:xfrm>
            <a:off x="6330803" y="1867615"/>
            <a:ext cx="2800741" cy="2208371"/>
            <a:chOff x="5102952" y="1835165"/>
            <a:chExt cx="2800741" cy="2208371"/>
          </a:xfrm>
        </p:grpSpPr>
        <p:pic>
          <p:nvPicPr>
            <p:cNvPr id="6" name="그림 5">
              <a:extLst>
                <a:ext uri="{FF2B5EF4-FFF2-40B4-BE49-F238E27FC236}">
                  <a16:creationId xmlns:a16="http://schemas.microsoft.com/office/drawing/2014/main" id="{D6EFC5D7-4413-5330-45CD-C616331C01D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102952" y="1835165"/>
              <a:ext cx="2800741" cy="1857634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5884F7C9-E55E-CA06-EE47-5713C178C26B}"/>
                </a:ext>
              </a:extLst>
            </p:cNvPr>
            <p:cNvSpPr txBox="1"/>
            <p:nvPr/>
          </p:nvSpPr>
          <p:spPr>
            <a:xfrm>
              <a:off x="5141057" y="3766537"/>
              <a:ext cx="276263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200"/>
                <a:t>인덱스 생성 시</a:t>
              </a:r>
              <a:r>
                <a:rPr lang="en-US" altLang="ko-KR" sz="1200"/>
                <a:t> </a:t>
              </a:r>
              <a:r>
                <a:rPr lang="ko-KR" altLang="en-US" sz="1200"/>
                <a:t>맵핑 정의</a:t>
              </a:r>
            </a:p>
          </p:txBody>
        </p: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0B0E78B8-0E60-ABD2-AE51-2172EDB22D22}"/>
              </a:ext>
            </a:extLst>
          </p:cNvPr>
          <p:cNvSpPr txBox="1"/>
          <p:nvPr/>
        </p:nvSpPr>
        <p:spPr>
          <a:xfrm>
            <a:off x="5429766" y="2453469"/>
            <a:ext cx="47382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/>
              <a:t>=</a:t>
            </a:r>
            <a:endParaRPr lang="ko-KR" altLang="en-US" sz="280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4A6E196-D07A-B605-A5C8-D8E3440A3833}"/>
              </a:ext>
            </a:extLst>
          </p:cNvPr>
          <p:cNvSpPr txBox="1"/>
          <p:nvPr/>
        </p:nvSpPr>
        <p:spPr>
          <a:xfrm>
            <a:off x="1003761" y="4751309"/>
            <a:ext cx="1061743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/>
              <a:t>※ </a:t>
            </a:r>
            <a:r>
              <a:rPr lang="ko-KR" altLang="en-US"/>
              <a:t>중요 </a:t>
            </a:r>
            <a:r>
              <a:rPr lang="en-US" altLang="ko-KR"/>
              <a:t>: </a:t>
            </a:r>
            <a:r>
              <a:rPr lang="ko-KR" altLang="en-US"/>
              <a:t>맵핑 생성 시 </a:t>
            </a:r>
            <a:r>
              <a:rPr lang="en-US" altLang="ko-KR"/>
              <a:t>text </a:t>
            </a:r>
            <a:r>
              <a:rPr lang="ko-KR" altLang="en-US"/>
              <a:t>자료형이어야 불규칙한 순서의 검색을 지원함 </a:t>
            </a:r>
            <a:r>
              <a:rPr lang="en-US" altLang="ko-KR"/>
              <a:t>(</a:t>
            </a:r>
            <a:r>
              <a:rPr lang="en-US" altLang="ko-KR">
                <a:sym typeface="Wingdings" panose="05000000000000000000" pitchFamily="2" charset="2"/>
              </a:rPr>
              <a:t> "keyword" type</a:t>
            </a:r>
            <a:r>
              <a:rPr lang="ko-KR" altLang="en-US">
                <a:sym typeface="Wingdings" panose="05000000000000000000" pitchFamily="2" charset="2"/>
              </a:rPr>
              <a:t>은 안 됨</a:t>
            </a:r>
            <a:r>
              <a:rPr lang="en-US" altLang="ko-KR">
                <a:sym typeface="Wingdings" panose="05000000000000000000" pitchFamily="2" charset="2"/>
              </a:rPr>
              <a:t>)</a:t>
            </a:r>
            <a:r>
              <a:rPr lang="ko-KR" altLang="en-US"/>
              <a:t> </a:t>
            </a:r>
            <a:r>
              <a:rPr lang="en-US" altLang="ko-KR"/>
              <a:t> 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766320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C93F614-E8C2-1BFE-C0F8-2428EF5FB3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3600"/>
              <a:t>ElasticSearch Kibana </a:t>
            </a:r>
            <a:r>
              <a:rPr lang="ko-KR" altLang="en-US" sz="3600"/>
              <a:t>실습 </a:t>
            </a:r>
            <a:r>
              <a:rPr lang="en-US" altLang="ko-KR" sz="3600"/>
              <a:t>- </a:t>
            </a:r>
            <a:r>
              <a:rPr lang="ko-KR" altLang="en-US" sz="3600"/>
              <a:t>불규칙한 단어 순서 조회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41F2594B-77D9-5ECB-F3E7-CCAE3FF8D4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811650"/>
            <a:ext cx="3905795" cy="2553056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805596D-74BA-E9FC-B2F3-D1CFC8DB8231}"/>
              </a:ext>
            </a:extLst>
          </p:cNvPr>
          <p:cNvSpPr txBox="1"/>
          <p:nvPr/>
        </p:nvSpPr>
        <p:spPr>
          <a:xfrm>
            <a:off x="1097280" y="4438996"/>
            <a:ext cx="398179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/>
              <a:t>서로 다른 제품 정보 저장</a:t>
            </a:r>
            <a:endParaRPr lang="en-US" altLang="ko-KR"/>
          </a:p>
          <a:p>
            <a:endParaRPr lang="en-US" altLang="ko-KR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A49F9BB7-7564-46B3-9D20-EF32038FB8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41390" y="1811650"/>
            <a:ext cx="2961185" cy="1248039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4B27C32E-F0CC-9A5C-D364-FA43C65184EE}"/>
              </a:ext>
            </a:extLst>
          </p:cNvPr>
          <p:cNvSpPr txBox="1"/>
          <p:nvPr/>
        </p:nvSpPr>
        <p:spPr>
          <a:xfrm>
            <a:off x="5541390" y="3217630"/>
            <a:ext cx="296118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/>
              <a:t>불규칙한 단어 순서로 제품명 조회</a:t>
            </a:r>
            <a:endParaRPr lang="en-US" altLang="ko-KR" sz="1200"/>
          </a:p>
          <a:p>
            <a:endParaRPr lang="en-US" altLang="ko-KR" sz="1200"/>
          </a:p>
          <a:p>
            <a:r>
              <a:rPr lang="en-US" altLang="ko-KR" sz="1200"/>
              <a:t>※ </a:t>
            </a:r>
            <a:r>
              <a:rPr lang="ko-KR" altLang="en-US" sz="1200"/>
              <a:t>제품 조회 결과 </a:t>
            </a:r>
            <a:r>
              <a:rPr lang="en-US" altLang="ko-KR" sz="1200"/>
              <a:t>ElasticSearch </a:t>
            </a:r>
            <a:r>
              <a:rPr lang="ko-KR" altLang="en-US" sz="1200"/>
              <a:t>내 각 </a:t>
            </a:r>
            <a:r>
              <a:rPr lang="en-US" altLang="ko-KR" sz="1200"/>
              <a:t>document</a:t>
            </a:r>
            <a:r>
              <a:rPr lang="ko-KR" altLang="en-US" sz="1200"/>
              <a:t>에 부여된 </a:t>
            </a:r>
            <a:r>
              <a:rPr lang="en-US" altLang="ko-KR" sz="1200"/>
              <a:t>_score</a:t>
            </a:r>
            <a:r>
              <a:rPr lang="ko-KR" altLang="en-US" sz="1200"/>
              <a:t>가 높은 순에 따라 제품 정보가 나열된다</a:t>
            </a:r>
            <a:r>
              <a:rPr lang="en-US" altLang="ko-KR" sz="1200"/>
              <a:t>.</a:t>
            </a:r>
            <a:endParaRPr lang="ko-KR" altLang="en-US" sz="1200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787433E6-6AF4-1A04-2A51-FBF87E0AA50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57237" y="1811650"/>
            <a:ext cx="2961185" cy="38678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83415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1269873-6A03-12BC-E34D-AEACD0FB04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ElasticSearch </a:t>
            </a:r>
            <a:r>
              <a:rPr lang="ko-KR" altLang="en-US"/>
              <a:t>기본 검색 작동 원리</a:t>
            </a:r>
            <a:r>
              <a:rPr lang="en-US" altLang="ko-KR"/>
              <a:t> </a:t>
            </a:r>
            <a:endParaRPr lang="ko-KR" altLang="en-US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84D801F7-4137-B3F4-DD44-F2EA78EDEC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2326" y="1867583"/>
            <a:ext cx="5703674" cy="2924805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A708FCC2-0C14-C280-6466-1495DAE356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9431" y="1994180"/>
            <a:ext cx="2341616" cy="1854613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62048024-D975-DDF2-A23A-2FE23913322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19205"/>
          <a:stretch>
            <a:fillRect/>
          </a:stretch>
        </p:blipFill>
        <p:spPr>
          <a:xfrm>
            <a:off x="9107908" y="1855938"/>
            <a:ext cx="2483177" cy="2159109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CEB8D53C-1B63-BB8F-4776-6F7BAE8A47D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77621" y="4268666"/>
            <a:ext cx="3107202" cy="2589334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0E195017-A648-0ACA-31A1-5234742E0C38}"/>
              </a:ext>
            </a:extLst>
          </p:cNvPr>
          <p:cNvSpPr txBox="1"/>
          <p:nvPr/>
        </p:nvSpPr>
        <p:spPr>
          <a:xfrm>
            <a:off x="392326" y="4871258"/>
            <a:ext cx="570367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/>
              <a:t>요약</a:t>
            </a:r>
            <a:r>
              <a:rPr lang="en-US" altLang="ko-KR" sz="1200"/>
              <a:t>: Document</a:t>
            </a:r>
            <a:r>
              <a:rPr lang="ko-KR" altLang="en-US" sz="1200"/>
              <a:t>로 저장할 단어들을 역직렬화 하여</a:t>
            </a:r>
            <a:r>
              <a:rPr lang="en-US" altLang="ko-KR" sz="1200"/>
              <a:t>,  </a:t>
            </a:r>
            <a:r>
              <a:rPr lang="ko-KR" altLang="en-US" sz="1200"/>
              <a:t>토큰</a:t>
            </a:r>
            <a:r>
              <a:rPr lang="en-US" altLang="ko-KR" sz="1200"/>
              <a:t>(</a:t>
            </a:r>
            <a:r>
              <a:rPr lang="ko-KR" altLang="en-US" sz="1200"/>
              <a:t>단어</a:t>
            </a:r>
            <a:r>
              <a:rPr lang="en-US" altLang="ko-KR" sz="1200"/>
              <a:t>)</a:t>
            </a:r>
            <a:r>
              <a:rPr lang="ko-KR" altLang="en-US" sz="1200"/>
              <a:t>별로 저장</a:t>
            </a:r>
            <a:r>
              <a:rPr lang="en-US" altLang="ko-KR" sz="1200"/>
              <a:t>.</a:t>
            </a:r>
          </a:p>
          <a:p>
            <a:r>
              <a:rPr lang="en-US" altLang="ko-KR" sz="1200"/>
              <a:t>          </a:t>
            </a:r>
            <a:r>
              <a:rPr lang="ko-KR" altLang="en-US" sz="1200"/>
              <a:t>검색 시 토큰과 일치하는 </a:t>
            </a:r>
            <a:r>
              <a:rPr lang="en-US" altLang="ko-KR" sz="1200"/>
              <a:t>document </a:t>
            </a:r>
            <a:r>
              <a:rPr lang="ko-KR" altLang="en-US" sz="1200"/>
              <a:t>에 점수를 부여 </a:t>
            </a:r>
            <a:br>
              <a:rPr lang="en-US" altLang="ko-KR" sz="1200"/>
            </a:br>
            <a:r>
              <a:rPr lang="en-US" altLang="ko-KR" sz="1200"/>
              <a:t>          </a:t>
            </a:r>
            <a:r>
              <a:rPr lang="ko-KR" altLang="en-US" sz="1200"/>
              <a:t>가장 많이 매칭된 </a:t>
            </a:r>
            <a:r>
              <a:rPr lang="en-US" altLang="ko-KR" sz="1200"/>
              <a:t>document</a:t>
            </a:r>
            <a:r>
              <a:rPr lang="ko-KR" altLang="en-US" sz="1200"/>
              <a:t>를 반환</a:t>
            </a:r>
            <a:endParaRPr lang="en-US" altLang="ko-KR" sz="1200"/>
          </a:p>
          <a:p>
            <a:endParaRPr lang="en-US" altLang="ko-KR" sz="1200"/>
          </a:p>
          <a:p>
            <a:r>
              <a:rPr lang="en-US" altLang="ko-KR" sz="1200"/>
              <a:t>※ </a:t>
            </a:r>
            <a:r>
              <a:rPr lang="ko-KR" altLang="en-US" sz="1200"/>
              <a:t>조회시 토큰별로 </a:t>
            </a:r>
            <a:r>
              <a:rPr lang="en-US" altLang="ko-KR" sz="1200"/>
              <a:t>Score</a:t>
            </a:r>
            <a:r>
              <a:rPr lang="ko-KR" altLang="en-US" sz="1200"/>
              <a:t>를 매기는 추가적인 공식이 있어</a:t>
            </a:r>
            <a:r>
              <a:rPr lang="en-US" altLang="ko-KR" sz="1200"/>
              <a:t>, </a:t>
            </a:r>
            <a:r>
              <a:rPr lang="ko-KR" altLang="en-US" sz="1200"/>
              <a:t>이전 실습에서 </a:t>
            </a:r>
            <a:r>
              <a:rPr lang="en-US" altLang="ko-KR" sz="1200"/>
              <a:t>1,2 </a:t>
            </a:r>
            <a:r>
              <a:rPr lang="ko-KR" altLang="en-US" sz="1200"/>
              <a:t>제품이 동일하게 </a:t>
            </a:r>
            <a:r>
              <a:rPr lang="en-US" altLang="ko-KR" sz="1200"/>
              <a:t>Apple </a:t>
            </a:r>
            <a:r>
              <a:rPr lang="ko-KR" altLang="en-US" sz="1200"/>
              <a:t>이라는 토큰 하나만 일치했음에도 </a:t>
            </a:r>
            <a:r>
              <a:rPr lang="en-US" altLang="ko-KR" sz="1200"/>
              <a:t>Score</a:t>
            </a:r>
            <a:r>
              <a:rPr lang="ko-KR" altLang="en-US" sz="1200"/>
              <a:t>가 다르게 부여되었다</a:t>
            </a:r>
            <a:r>
              <a:rPr lang="en-US" altLang="ko-KR" sz="1200"/>
              <a:t>.</a:t>
            </a:r>
            <a:endParaRPr lang="ko-KR" altLang="en-US" sz="1200"/>
          </a:p>
        </p:txBody>
      </p:sp>
    </p:spTree>
    <p:extLst>
      <p:ext uri="{BB962C8B-B14F-4D97-AF65-F5344CB8AC3E}">
        <p14:creationId xmlns:p14="http://schemas.microsoft.com/office/powerpoint/2010/main" val="33880647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1951392-C318-7F09-1F95-E1BF4FD24C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토큰 분리 세부 원리 </a:t>
            </a:r>
            <a:r>
              <a:rPr lang="en-US" altLang="ko-KR"/>
              <a:t>- Analyzer </a:t>
            </a:r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065D3F3-FCF4-B888-655F-BD0E692DB81A}"/>
              </a:ext>
            </a:extLst>
          </p:cNvPr>
          <p:cNvSpPr txBox="1"/>
          <p:nvPr/>
        </p:nvSpPr>
        <p:spPr>
          <a:xfrm>
            <a:off x="1205345" y="1828800"/>
            <a:ext cx="9950335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/>
              <a:t>요약 </a:t>
            </a:r>
            <a:r>
              <a:rPr lang="en-US" altLang="ko-KR" sz="1400"/>
              <a:t>: ElasticSearch</a:t>
            </a:r>
            <a:r>
              <a:rPr lang="ko-KR" altLang="en-US" sz="1400"/>
              <a:t>에서 </a:t>
            </a:r>
            <a:r>
              <a:rPr lang="en-US" altLang="ko-KR" sz="1400"/>
              <a:t>document</a:t>
            </a:r>
            <a:r>
              <a:rPr lang="ko-KR" altLang="en-US" sz="1400"/>
              <a:t> 의 필드 정보를 역직렬화하여 토큰으로 분리해주는 일을 하는 장치가 </a:t>
            </a:r>
            <a:r>
              <a:rPr lang="en-US" altLang="ko-KR" sz="1400"/>
              <a:t>Analyzer </a:t>
            </a:r>
            <a:r>
              <a:rPr lang="ko-KR" altLang="en-US" sz="1400"/>
              <a:t>이다</a:t>
            </a:r>
            <a:r>
              <a:rPr lang="en-US" altLang="ko-KR" sz="1400"/>
              <a:t>.</a:t>
            </a:r>
          </a:p>
          <a:p>
            <a:r>
              <a:rPr lang="en-US" altLang="ko-KR" sz="1400"/>
              <a:t>            Analyzer</a:t>
            </a:r>
            <a:r>
              <a:rPr lang="ko-KR" altLang="en-US" sz="1400"/>
              <a:t>는 세 부분으로 나뉜다</a:t>
            </a:r>
            <a:r>
              <a:rPr lang="en-US" altLang="ko-KR" sz="1400"/>
              <a:t>. [Character Filter / Tokenizer / Token filter]</a:t>
            </a:r>
          </a:p>
          <a:p>
            <a:r>
              <a:rPr lang="en-US" altLang="ko-KR" sz="1400"/>
              <a:t>※ Analyer</a:t>
            </a:r>
            <a:r>
              <a:rPr lang="ko-KR" altLang="en-US" sz="1400"/>
              <a:t>를 설정하지 않았을 때 동작하는 </a:t>
            </a:r>
            <a:r>
              <a:rPr lang="en-US" altLang="ko-KR" sz="1400"/>
              <a:t>Standard Analyzer</a:t>
            </a:r>
            <a:r>
              <a:rPr lang="ko-KR" altLang="en-US" sz="1400"/>
              <a:t>는 하기와 같다</a:t>
            </a:r>
            <a:r>
              <a:rPr lang="en-US" altLang="ko-KR" sz="1400"/>
              <a:t>.</a:t>
            </a:r>
            <a:r>
              <a:rPr lang="ko-KR" altLang="en-US" sz="1400"/>
              <a:t> 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6191B989-F109-ABEA-C7BF-7400183029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7204" y="3025555"/>
            <a:ext cx="8897592" cy="1505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2360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FA96E4F-934B-317D-2C0A-48189D1B97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4000"/>
              <a:t>자주 사용되는 </a:t>
            </a:r>
            <a:r>
              <a:rPr lang="en-US" altLang="ko-KR" sz="4000"/>
              <a:t>Analyzer </a:t>
            </a:r>
            <a:r>
              <a:rPr lang="ko-KR" altLang="en-US" sz="4000"/>
              <a:t>필터와 토큰나이저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A375A505-C490-EFF5-4ACA-4E93B38897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8598" y="1895261"/>
            <a:ext cx="9154803" cy="1533739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A61A81F6-5F0D-A764-3F17-22423F5622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9015" y="3489461"/>
            <a:ext cx="3838912" cy="1405799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706A0FCD-BFDF-7475-B3FE-6678C4461F0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27342" y="3555764"/>
            <a:ext cx="4026949" cy="1564876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CE4F2B8B-6AA8-CCE8-0FB8-D0881819322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67564" y="3170193"/>
            <a:ext cx="3417461" cy="3450133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7E093049-D4E4-4EF1-CA6A-10E61B5A68C4}"/>
              </a:ext>
            </a:extLst>
          </p:cNvPr>
          <p:cNvSpPr txBox="1"/>
          <p:nvPr/>
        </p:nvSpPr>
        <p:spPr>
          <a:xfrm>
            <a:off x="249382" y="5428211"/>
            <a:ext cx="7922029" cy="1061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50" b="1"/>
              <a:t>요약 </a:t>
            </a:r>
            <a:r>
              <a:rPr lang="en-US" altLang="ko-KR" sz="1050" b="1"/>
              <a:t>:</a:t>
            </a:r>
          </a:p>
          <a:p>
            <a:pPr marL="228600" indent="-228600">
              <a:buAutoNum type="arabicPeriod"/>
            </a:pPr>
            <a:r>
              <a:rPr lang="en-US" altLang="ko-KR" sz="1050" b="1"/>
              <a:t>Character filter : html_strip</a:t>
            </a:r>
            <a:r>
              <a:rPr lang="ko-KR" altLang="en-US" sz="1050" b="1"/>
              <a:t> 필터 </a:t>
            </a:r>
            <a:r>
              <a:rPr lang="en-US" altLang="ko-KR" sz="1050" b="1"/>
              <a:t>(</a:t>
            </a:r>
            <a:r>
              <a:rPr lang="ko-KR" altLang="en-US" sz="1050" b="1"/>
              <a:t>문자열을 자르기전 </a:t>
            </a:r>
            <a:r>
              <a:rPr lang="en-US" altLang="ko-KR" sz="1050" b="1"/>
              <a:t>HTML </a:t>
            </a:r>
            <a:r>
              <a:rPr lang="ko-KR" altLang="en-US" sz="1050" b="1"/>
              <a:t>태그를 제거하여 처리할 문자열만 추출하는 필터</a:t>
            </a:r>
            <a:r>
              <a:rPr lang="en-US" altLang="ko-KR" sz="1050" b="1"/>
              <a:t>)</a:t>
            </a:r>
          </a:p>
          <a:p>
            <a:pPr marL="228600" indent="-228600">
              <a:buAutoNum type="arabicPeriod"/>
            </a:pPr>
            <a:r>
              <a:rPr lang="en-US" altLang="ko-KR" sz="1050" b="1"/>
              <a:t>Tokenizer : standard tokenizer ( </a:t>
            </a:r>
            <a:r>
              <a:rPr lang="ko-KR" altLang="en-US" sz="1050" b="1"/>
              <a:t>공백문자</a:t>
            </a:r>
            <a:r>
              <a:rPr lang="en-US" altLang="ko-KR" sz="1050" b="1"/>
              <a:t>, </a:t>
            </a:r>
            <a:r>
              <a:rPr lang="ko-KR" altLang="en-US" sz="1050" b="1"/>
              <a:t>쉼 표</a:t>
            </a:r>
            <a:r>
              <a:rPr lang="en-US" altLang="ko-KR" sz="1050" b="1"/>
              <a:t>, </a:t>
            </a:r>
            <a:r>
              <a:rPr lang="ko-KR" altLang="en-US" sz="1050" b="1"/>
              <a:t>특수문자 등을 기준으로 문자열을 자름</a:t>
            </a:r>
            <a:r>
              <a:rPr lang="en-US" altLang="ko-KR" sz="1050" b="1"/>
              <a:t>.)</a:t>
            </a:r>
          </a:p>
          <a:p>
            <a:pPr marL="228600" indent="-228600">
              <a:buAutoNum type="arabicPeriod"/>
            </a:pPr>
            <a:r>
              <a:rPr lang="en-US" altLang="ko-KR" sz="1050" b="1"/>
              <a:t>Token Filter : </a:t>
            </a:r>
            <a:r>
              <a:rPr lang="ko-KR" altLang="en-US" sz="1050" b="1"/>
              <a:t>여러개의 필터를 적용 가능 </a:t>
            </a:r>
            <a:r>
              <a:rPr lang="en-US" altLang="ko-KR" sz="1050" b="1"/>
              <a:t>(lowercase filter : </a:t>
            </a:r>
            <a:r>
              <a:rPr lang="ko-KR" altLang="en-US" sz="1050" b="1"/>
              <a:t>대문자 </a:t>
            </a:r>
            <a:r>
              <a:rPr lang="en-US" altLang="ko-KR" sz="1050" b="1"/>
              <a:t>-&gt; </a:t>
            </a:r>
            <a:r>
              <a:rPr lang="ko-KR" altLang="en-US" sz="1050" b="1"/>
              <a:t>소문자 변환</a:t>
            </a:r>
            <a:r>
              <a:rPr lang="en-US" altLang="ko-KR" sz="1050" b="1"/>
              <a:t> </a:t>
            </a:r>
            <a:br>
              <a:rPr lang="en-US" altLang="ko-KR" sz="1050" b="1"/>
            </a:br>
            <a:r>
              <a:rPr lang="en-US" altLang="ko-KR" sz="1050" b="1"/>
              <a:t>                                                                              stop</a:t>
            </a:r>
            <a:r>
              <a:rPr lang="ko-KR" altLang="en-US" sz="1050" b="1"/>
              <a:t> </a:t>
            </a:r>
            <a:r>
              <a:rPr lang="en-US" altLang="ko-KR" sz="1050" b="1"/>
              <a:t>-&gt; </a:t>
            </a:r>
            <a:r>
              <a:rPr lang="ko-KR" altLang="en-US" sz="1050" b="1"/>
              <a:t>관사와 같은 의미 없는 단어 제거</a:t>
            </a:r>
            <a:br>
              <a:rPr lang="en-US" altLang="ko-KR" sz="1050" b="1"/>
            </a:br>
            <a:r>
              <a:rPr lang="en-US" altLang="ko-KR" sz="1050" b="1"/>
              <a:t> 					          stemmer filter -&gt; </a:t>
            </a:r>
            <a:r>
              <a:rPr lang="ko-KR" altLang="en-US" sz="1050" b="1"/>
              <a:t>복수형이 아닌 원형의 단어 형태로 변환</a:t>
            </a:r>
            <a:r>
              <a:rPr lang="en-US" altLang="ko-KR" sz="1050" b="1"/>
              <a:t>)</a:t>
            </a:r>
            <a:endParaRPr lang="ko-KR" altLang="en-US" sz="1050" b="1"/>
          </a:p>
        </p:txBody>
      </p:sp>
    </p:spTree>
    <p:extLst>
      <p:ext uri="{BB962C8B-B14F-4D97-AF65-F5344CB8AC3E}">
        <p14:creationId xmlns:p14="http://schemas.microsoft.com/office/powerpoint/2010/main" val="26509094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57B0E7D-2D7D-09C6-9DAE-22B9CD765C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Analyzer </a:t>
            </a:r>
            <a:r>
              <a:rPr lang="ko-KR" altLang="en-US"/>
              <a:t>저장 형태 확인 실습 </a:t>
            </a:r>
            <a:r>
              <a:rPr lang="en-US" altLang="ko-KR"/>
              <a:t>- Kibana</a:t>
            </a:r>
            <a:endParaRPr lang="ko-KR" altLang="en-US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B9EA746B-A8DF-A436-E63B-8125C040C3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0907" y="2000269"/>
            <a:ext cx="4067743" cy="962159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2C51CB23-0853-58BD-9D23-6351EE5C86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0907" y="3428999"/>
            <a:ext cx="4067743" cy="1417843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6D4EB4A6-1A19-0C00-6539-5A780F7F3EF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87279" y="1828798"/>
            <a:ext cx="1358369" cy="495438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0CBF018D-F59A-E750-5195-651371E6B291}"/>
              </a:ext>
            </a:extLst>
          </p:cNvPr>
          <p:cNvSpPr txBox="1"/>
          <p:nvPr/>
        </p:nvSpPr>
        <p:spPr>
          <a:xfrm>
            <a:off x="4705004" y="2000269"/>
            <a:ext cx="4746567" cy="24622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/>
              <a:t>GET /_analyze </a:t>
            </a:r>
            <a:r>
              <a:rPr lang="ko-KR" altLang="en-US" sz="1100"/>
              <a:t>명령을 통해 등록한 </a:t>
            </a:r>
            <a:r>
              <a:rPr lang="en-US" altLang="ko-KR" sz="1100"/>
              <a:t>doc</a:t>
            </a:r>
            <a:r>
              <a:rPr lang="ko-KR" altLang="en-US" sz="1100"/>
              <a:t>의 문자열이 어떡게 토큰화 되는지 확인할 수 있다</a:t>
            </a:r>
            <a:r>
              <a:rPr lang="en-US" altLang="ko-KR" sz="1100"/>
              <a:t>.</a:t>
            </a:r>
          </a:p>
          <a:p>
            <a:endParaRPr lang="en-US" altLang="ko-KR" sz="1100"/>
          </a:p>
          <a:p>
            <a:r>
              <a:rPr lang="en-US" altLang="ko-KR" sz="1100"/>
              <a:t>1~5Line</a:t>
            </a:r>
            <a:r>
              <a:rPr lang="ko-KR" altLang="en-US" sz="1100"/>
              <a:t> 과 </a:t>
            </a:r>
            <a:r>
              <a:rPr lang="en-US" altLang="ko-KR" sz="1100"/>
              <a:t>8~14Line</a:t>
            </a:r>
            <a:r>
              <a:rPr lang="ko-KR" altLang="en-US" sz="1100"/>
              <a:t> 은 동일한 명령이다</a:t>
            </a:r>
            <a:r>
              <a:rPr lang="en-US" altLang="ko-KR" sz="1100"/>
              <a:t>.</a:t>
            </a:r>
          </a:p>
          <a:p>
            <a:endParaRPr lang="en-US" altLang="ko-KR" sz="1100"/>
          </a:p>
          <a:p>
            <a:r>
              <a:rPr lang="en-US" altLang="ko-KR" sz="1100"/>
              <a:t>analyzer</a:t>
            </a:r>
            <a:r>
              <a:rPr lang="ko-KR" altLang="en-US" sz="1100"/>
              <a:t>의 기본형</a:t>
            </a:r>
            <a:r>
              <a:rPr lang="en-US" altLang="ko-KR" sz="1100"/>
              <a:t>(Standard) </a:t>
            </a:r>
            <a:r>
              <a:rPr lang="ko-KR" altLang="en-US" sz="1100"/>
              <a:t>는 </a:t>
            </a:r>
            <a:endParaRPr lang="en-US" altLang="ko-KR" sz="1100"/>
          </a:p>
          <a:p>
            <a:r>
              <a:rPr lang="en-US" altLang="ko-KR" sz="1100"/>
              <a:t>--- </a:t>
            </a:r>
          </a:p>
          <a:p>
            <a:r>
              <a:rPr lang="en-US" altLang="ko-KR" sz="1100"/>
              <a:t>char_filter = </a:t>
            </a:r>
            <a:r>
              <a:rPr lang="ko-KR" altLang="en-US" sz="1100"/>
              <a:t>없음 </a:t>
            </a:r>
            <a:endParaRPr lang="en-US" altLang="ko-KR" sz="1100"/>
          </a:p>
          <a:p>
            <a:r>
              <a:rPr lang="en-US" altLang="ko-KR" sz="1100"/>
              <a:t>tokenizer = Standard Tokenizer</a:t>
            </a:r>
          </a:p>
          <a:p>
            <a:r>
              <a:rPr lang="en-US" altLang="ko-KR" sz="1100"/>
              <a:t>token filter = lowercase filter </a:t>
            </a:r>
          </a:p>
          <a:p>
            <a:r>
              <a:rPr lang="en-US" altLang="ko-KR" sz="1100"/>
              <a:t>---</a:t>
            </a:r>
          </a:p>
          <a:p>
            <a:r>
              <a:rPr lang="ko-KR" altLang="en-US" sz="1100"/>
              <a:t>이 세가지로 이루어져있기 때문에 두 명령어의 실행 결과는 동일하다</a:t>
            </a:r>
            <a:r>
              <a:rPr lang="en-US" altLang="ko-KR" sz="1100"/>
              <a:t>.</a:t>
            </a:r>
          </a:p>
          <a:p>
            <a:endParaRPr lang="en-US" altLang="ko-KR" sz="1100"/>
          </a:p>
          <a:p>
            <a:endParaRPr lang="en-US" altLang="ko-KR" sz="1100"/>
          </a:p>
        </p:txBody>
      </p:sp>
    </p:spTree>
    <p:extLst>
      <p:ext uri="{BB962C8B-B14F-4D97-AF65-F5344CB8AC3E}">
        <p14:creationId xmlns:p14="http://schemas.microsoft.com/office/powerpoint/2010/main" val="4788785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466749F-17B2-1280-07FE-6AB2B0C529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커스텀 애널라이저 적용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3D68C162-09A2-AA9D-38AC-8A5EFB082D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05355" y="-110748"/>
            <a:ext cx="3724795" cy="3696216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B2B17752-BCE3-6869-C7AC-F4716A64DF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1285" y="1815984"/>
            <a:ext cx="3924848" cy="372479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6234ECC-4650-43FC-F7BD-5F60026C73DE}"/>
              </a:ext>
            </a:extLst>
          </p:cNvPr>
          <p:cNvSpPr txBox="1"/>
          <p:nvPr/>
        </p:nvSpPr>
        <p:spPr>
          <a:xfrm>
            <a:off x="4405745" y="1828800"/>
            <a:ext cx="4389120" cy="41319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50"/>
              <a:t>mappings</a:t>
            </a:r>
            <a:r>
              <a:rPr lang="ko-KR" altLang="en-US" sz="1050"/>
              <a:t>와 같은 레벨에</a:t>
            </a:r>
            <a:endParaRPr lang="en-US" altLang="ko-KR" sz="1050"/>
          </a:p>
          <a:p>
            <a:pPr marL="171450" indent="-171450">
              <a:buFont typeface="Wingdings" panose="05000000000000000000" pitchFamily="2" charset="2"/>
              <a:buChar char="à"/>
            </a:pPr>
            <a:r>
              <a:rPr lang="ko-KR" altLang="en-US" sz="1050">
                <a:sym typeface="Wingdings" panose="05000000000000000000" pitchFamily="2" charset="2"/>
              </a:rPr>
              <a:t>커스텀 </a:t>
            </a:r>
            <a:r>
              <a:rPr lang="en-US" altLang="ko-KR" sz="1050">
                <a:sym typeface="Wingdings" panose="05000000000000000000" pitchFamily="2" charset="2"/>
              </a:rPr>
              <a:t>analyzer </a:t>
            </a:r>
            <a:r>
              <a:rPr lang="ko-KR" altLang="en-US" sz="1050">
                <a:sym typeface="Wingdings" panose="05000000000000000000" pitchFamily="2" charset="2"/>
              </a:rPr>
              <a:t>정의</a:t>
            </a:r>
            <a:endParaRPr lang="en-US" altLang="ko-KR" sz="1050">
              <a:sym typeface="Wingdings" panose="05000000000000000000" pitchFamily="2" charset="2"/>
            </a:endParaRPr>
          </a:p>
          <a:p>
            <a:pPr marL="171450" indent="-171450">
              <a:buFont typeface="Wingdings" panose="05000000000000000000" pitchFamily="2" charset="2"/>
              <a:buChar char="à"/>
            </a:pPr>
            <a:endParaRPr lang="en-US" altLang="ko-KR" sz="1050"/>
          </a:p>
          <a:p>
            <a:r>
              <a:rPr lang="en-US" altLang="ko-KR" sz="1050"/>
              <a:t>"settings" : {</a:t>
            </a:r>
          </a:p>
          <a:p>
            <a:r>
              <a:rPr lang="en-US" altLang="ko-KR" sz="1050"/>
              <a:t>	"analysis" : { </a:t>
            </a:r>
          </a:p>
          <a:p>
            <a:r>
              <a:rPr lang="en-US" altLang="ko-KR" sz="1050"/>
              <a:t>		"analyzer" : {</a:t>
            </a:r>
          </a:p>
          <a:p>
            <a:pPr lvl="1"/>
            <a:r>
              <a:rPr lang="en-US" altLang="ko-KR" sz="1050"/>
              <a:t>		"product_name_analyzer" : {</a:t>
            </a:r>
          </a:p>
          <a:p>
            <a:pPr lvl="2"/>
            <a:r>
              <a:rPr lang="en-US" altLang="ko-KR" sz="1050"/>
              <a:t>		"char_filter" : [],</a:t>
            </a:r>
          </a:p>
          <a:p>
            <a:pPr lvl="2"/>
            <a:r>
              <a:rPr lang="en-US" altLang="ko-KR" sz="1050"/>
              <a:t>		"tokenizer" : "standard",</a:t>
            </a:r>
          </a:p>
          <a:p>
            <a:pPr lvl="2"/>
            <a:r>
              <a:rPr lang="en-US" altLang="ko-KR" sz="1050"/>
              <a:t>		"filter" : []</a:t>
            </a:r>
          </a:p>
          <a:p>
            <a:pPr lvl="1"/>
            <a:r>
              <a:rPr lang="en-US" altLang="ko-KR" sz="1050"/>
              <a:t>		}	</a:t>
            </a:r>
          </a:p>
          <a:p>
            <a:r>
              <a:rPr lang="en-US" altLang="ko-KR" sz="1050"/>
              <a:t>		}</a:t>
            </a:r>
          </a:p>
          <a:p>
            <a:r>
              <a:rPr lang="en-US" altLang="ko-KR" sz="1050"/>
              <a:t>	}</a:t>
            </a:r>
          </a:p>
          <a:p>
            <a:r>
              <a:rPr lang="en-US" altLang="ko-KR" sz="1050"/>
              <a:t>}</a:t>
            </a:r>
          </a:p>
          <a:p>
            <a:endParaRPr lang="en-US" altLang="ko-KR" sz="1050"/>
          </a:p>
          <a:p>
            <a:pPr marL="171450" indent="-171450">
              <a:buFont typeface="Wingdings" panose="05000000000000000000" pitchFamily="2" charset="2"/>
              <a:buChar char="à"/>
            </a:pPr>
            <a:r>
              <a:rPr lang="ko-KR" altLang="en-US" sz="1050">
                <a:sym typeface="Wingdings" panose="05000000000000000000" pitchFamily="2" charset="2"/>
              </a:rPr>
              <a:t>커스텀 </a:t>
            </a:r>
            <a:r>
              <a:rPr lang="en-US" altLang="ko-KR" sz="1050">
                <a:sym typeface="Wingdings" panose="05000000000000000000" pitchFamily="2" charset="2"/>
              </a:rPr>
              <a:t>analyzer </a:t>
            </a:r>
            <a:r>
              <a:rPr lang="ko-KR" altLang="en-US" sz="1050">
                <a:sym typeface="Wingdings" panose="05000000000000000000" pitchFamily="2" charset="2"/>
              </a:rPr>
              <a:t>맵핑 적용</a:t>
            </a:r>
            <a:endParaRPr lang="en-US" altLang="ko-KR" sz="1050">
              <a:sym typeface="Wingdings" panose="05000000000000000000" pitchFamily="2" charset="2"/>
            </a:endParaRPr>
          </a:p>
          <a:p>
            <a:r>
              <a:rPr lang="en-US" altLang="ko-KR" sz="1050">
                <a:sym typeface="Wingdings" panose="05000000000000000000" pitchFamily="2" charset="2"/>
              </a:rPr>
              <a:t>mappings" : {</a:t>
            </a:r>
          </a:p>
          <a:p>
            <a:r>
              <a:rPr lang="en-US" altLang="ko-KR" sz="1050">
                <a:sym typeface="Wingdings" panose="05000000000000000000" pitchFamily="2" charset="2"/>
              </a:rPr>
              <a:t>	"properties" : {</a:t>
            </a:r>
          </a:p>
          <a:p>
            <a:r>
              <a:rPr lang="en-US" altLang="ko-KR" sz="1050">
                <a:sym typeface="Wingdings" panose="05000000000000000000" pitchFamily="2" charset="2"/>
              </a:rPr>
              <a:t>		"name" : {</a:t>
            </a:r>
          </a:p>
          <a:p>
            <a:r>
              <a:rPr lang="en-US" altLang="ko-KR" sz="1050">
                <a:sym typeface="Wingdings" panose="05000000000000000000" pitchFamily="2" charset="2"/>
              </a:rPr>
              <a:t>			"type":"Apple 2025 </a:t>
            </a:r>
            <a:r>
              <a:rPr lang="ko-KR" altLang="en-US" sz="1050">
                <a:sym typeface="Wingdings" panose="05000000000000000000" pitchFamily="2" charset="2"/>
              </a:rPr>
              <a:t>맥북 에어 </a:t>
            </a:r>
            <a:r>
              <a:rPr lang="en-US" altLang="ko-KR" sz="1050">
                <a:sym typeface="Wingdings" panose="05000000000000000000" pitchFamily="2" charset="2"/>
              </a:rPr>
              <a:t>13 M4 10</a:t>
            </a:r>
            <a:r>
              <a:rPr lang="ko-KR" altLang="en-US" sz="1050">
                <a:sym typeface="Wingdings" panose="05000000000000000000" pitchFamily="2" charset="2"/>
              </a:rPr>
              <a:t>코어</a:t>
            </a:r>
            <a:r>
              <a:rPr lang="en-US" altLang="ko-KR" sz="1050">
                <a:sym typeface="Wingdings" panose="05000000000000000000" pitchFamily="2" charset="2"/>
              </a:rPr>
              <a:t>",</a:t>
            </a:r>
          </a:p>
          <a:p>
            <a:r>
              <a:rPr lang="en-US" altLang="ko-KR" sz="1050">
                <a:sym typeface="Wingdings" panose="05000000000000000000" pitchFamily="2" charset="2"/>
              </a:rPr>
              <a:t>			"analyzer" : "product_name_analyzer"</a:t>
            </a:r>
          </a:p>
          <a:p>
            <a:r>
              <a:rPr lang="en-US" altLang="ko-KR" sz="1050">
                <a:sym typeface="Wingdings" panose="05000000000000000000" pitchFamily="2" charset="2"/>
              </a:rPr>
              <a:t>		}</a:t>
            </a:r>
          </a:p>
          <a:p>
            <a:r>
              <a:rPr lang="en-US" altLang="ko-KR" sz="1050">
                <a:sym typeface="Wingdings" panose="05000000000000000000" pitchFamily="2" charset="2"/>
              </a:rPr>
              <a:t>	}</a:t>
            </a:r>
          </a:p>
          <a:p>
            <a:r>
              <a:rPr lang="en-US" altLang="ko-KR" sz="1050">
                <a:sym typeface="Wingdings" panose="05000000000000000000" pitchFamily="2" charset="2"/>
              </a:rPr>
              <a:t>}</a:t>
            </a:r>
            <a:endParaRPr lang="en-US" altLang="ko-KR" sz="1050"/>
          </a:p>
          <a:p>
            <a:endParaRPr lang="ko-KR" altLang="en-US" sz="1050"/>
          </a:p>
        </p:txBody>
      </p:sp>
    </p:spTree>
    <p:extLst>
      <p:ext uri="{BB962C8B-B14F-4D97-AF65-F5344CB8AC3E}">
        <p14:creationId xmlns:p14="http://schemas.microsoft.com/office/powerpoint/2010/main" val="25429144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C8A8306-B68B-9090-94B8-A6234F8FA9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3600"/>
              <a:t>커스텀 애널라이저 적용 </a:t>
            </a:r>
            <a:r>
              <a:rPr lang="en-US" altLang="ko-KR" sz="3600"/>
              <a:t>DOC </a:t>
            </a:r>
            <a:r>
              <a:rPr lang="ko-KR" altLang="en-US" sz="3600"/>
              <a:t>검색</a:t>
            </a:r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F47CDBE6-433C-ED40-A511-BDC2819D0A45}"/>
              </a:ext>
            </a:extLst>
          </p:cNvPr>
          <p:cNvGrpSpPr/>
          <p:nvPr/>
        </p:nvGrpSpPr>
        <p:grpSpPr>
          <a:xfrm>
            <a:off x="1097280" y="1852127"/>
            <a:ext cx="3524596" cy="1068319"/>
            <a:chOff x="1097280" y="1852127"/>
            <a:chExt cx="3524596" cy="1068319"/>
          </a:xfrm>
        </p:grpSpPr>
        <p:pic>
          <p:nvPicPr>
            <p:cNvPr id="4" name="그림 3">
              <a:extLst>
                <a:ext uri="{FF2B5EF4-FFF2-40B4-BE49-F238E27FC236}">
                  <a16:creationId xmlns:a16="http://schemas.microsoft.com/office/drawing/2014/main" id="{3E25D1C9-BCD5-292F-A74B-84A0BA6FC14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97280" y="1852127"/>
              <a:ext cx="3496163" cy="743054"/>
            </a:xfrm>
            <a:prstGeom prst="rect">
              <a:avLst/>
            </a:prstGeom>
          </p:spPr>
        </p:pic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2C2744FD-0891-0499-6FC6-F96E7D001902}"/>
                </a:ext>
              </a:extLst>
            </p:cNvPr>
            <p:cNvSpPr txBox="1"/>
            <p:nvPr/>
          </p:nvSpPr>
          <p:spPr>
            <a:xfrm>
              <a:off x="1097280" y="2643447"/>
              <a:ext cx="352459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200"/>
                <a:t>데이터 입력</a:t>
              </a:r>
            </a:p>
          </p:txBody>
        </p:sp>
      </p:grp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EE4BD2CC-12D4-597B-6285-773AF68EA49A}"/>
              </a:ext>
            </a:extLst>
          </p:cNvPr>
          <p:cNvGrpSpPr/>
          <p:nvPr/>
        </p:nvGrpSpPr>
        <p:grpSpPr>
          <a:xfrm>
            <a:off x="1009150" y="3100972"/>
            <a:ext cx="4573350" cy="3010320"/>
            <a:chOff x="1009150" y="3100972"/>
            <a:chExt cx="4573350" cy="3010320"/>
          </a:xfrm>
        </p:grpSpPr>
        <p:pic>
          <p:nvPicPr>
            <p:cNvPr id="8" name="그림 7">
              <a:extLst>
                <a:ext uri="{FF2B5EF4-FFF2-40B4-BE49-F238E27FC236}">
                  <a16:creationId xmlns:a16="http://schemas.microsoft.com/office/drawing/2014/main" id="{FE2B8813-09E8-8814-9D14-5C85F33E8D2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b="51929"/>
            <a:stretch>
              <a:fillRect/>
            </a:stretch>
          </p:blipFill>
          <p:spPr>
            <a:xfrm>
              <a:off x="1009150" y="3100972"/>
              <a:ext cx="2210108" cy="1346338"/>
            </a:xfrm>
            <a:prstGeom prst="rect">
              <a:avLst/>
            </a:prstGeom>
          </p:spPr>
        </p:pic>
        <p:pic>
          <p:nvPicPr>
            <p:cNvPr id="10" name="그림 9">
              <a:extLst>
                <a:ext uri="{FF2B5EF4-FFF2-40B4-BE49-F238E27FC236}">
                  <a16:creationId xmlns:a16="http://schemas.microsoft.com/office/drawing/2014/main" id="{2E1E6F00-E00C-3F35-03A7-5A8C52DC9E8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334286" y="3100972"/>
              <a:ext cx="2248214" cy="3010320"/>
            </a:xfrm>
            <a:prstGeom prst="rect">
              <a:avLst/>
            </a:prstGeom>
          </p:spPr>
        </p:pic>
      </p:grp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D63CA8B3-6A54-2750-4FB8-FE2DE5989C2A}"/>
              </a:ext>
            </a:extLst>
          </p:cNvPr>
          <p:cNvGrpSpPr/>
          <p:nvPr/>
        </p:nvGrpSpPr>
        <p:grpSpPr>
          <a:xfrm>
            <a:off x="6495011" y="3144797"/>
            <a:ext cx="4893299" cy="2966495"/>
            <a:chOff x="6096000" y="3144797"/>
            <a:chExt cx="4893299" cy="2966495"/>
          </a:xfrm>
        </p:grpSpPr>
        <p:pic>
          <p:nvPicPr>
            <p:cNvPr id="11" name="그림 10">
              <a:extLst>
                <a:ext uri="{FF2B5EF4-FFF2-40B4-BE49-F238E27FC236}">
                  <a16:creationId xmlns:a16="http://schemas.microsoft.com/office/drawing/2014/main" id="{D1A6A38C-C2D7-FC7E-FCBE-E66AF97DCB4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t="53494"/>
            <a:stretch>
              <a:fillRect/>
            </a:stretch>
          </p:blipFill>
          <p:spPr>
            <a:xfrm>
              <a:off x="6096000" y="3144797"/>
              <a:ext cx="2210108" cy="1302513"/>
            </a:xfrm>
            <a:prstGeom prst="rect">
              <a:avLst/>
            </a:prstGeom>
          </p:spPr>
        </p:pic>
        <p:pic>
          <p:nvPicPr>
            <p:cNvPr id="13" name="그림 12">
              <a:extLst>
                <a:ext uri="{FF2B5EF4-FFF2-40B4-BE49-F238E27FC236}">
                  <a16:creationId xmlns:a16="http://schemas.microsoft.com/office/drawing/2014/main" id="{08D156EA-2477-C059-9EA0-B8F2CA1EB2A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8417044" y="3144797"/>
              <a:ext cx="2572255" cy="2966495"/>
            </a:xfrm>
            <a:prstGeom prst="rect">
              <a:avLst/>
            </a:prstGeom>
          </p:spPr>
        </p:pic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6F0F3E7B-C502-826D-E914-E804CBA28999}"/>
              </a:ext>
            </a:extLst>
          </p:cNvPr>
          <p:cNvSpPr txBox="1"/>
          <p:nvPr/>
        </p:nvSpPr>
        <p:spPr>
          <a:xfrm>
            <a:off x="1009151" y="4627836"/>
            <a:ext cx="221010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/>
              <a:t>token filter </a:t>
            </a:r>
            <a:r>
              <a:rPr lang="ko-KR" altLang="en-US" sz="1200"/>
              <a:t>에 </a:t>
            </a:r>
            <a:r>
              <a:rPr lang="en-US" altLang="ko-KR" sz="1200"/>
              <a:t>lowercase filter</a:t>
            </a:r>
            <a:r>
              <a:rPr lang="ko-KR" altLang="en-US" sz="1200"/>
              <a:t>를 적용하지 않는 경우 </a:t>
            </a:r>
            <a:br>
              <a:rPr lang="en-US" altLang="ko-KR" sz="1200"/>
            </a:br>
            <a:r>
              <a:rPr lang="en-US" altLang="ko-KR" sz="1200"/>
              <a:t>apple</a:t>
            </a:r>
            <a:r>
              <a:rPr lang="ko-KR" altLang="en-US" sz="1200"/>
              <a:t>에 대한 </a:t>
            </a:r>
            <a:r>
              <a:rPr lang="en-US" altLang="ko-KR" sz="1200"/>
              <a:t>Product </a:t>
            </a:r>
            <a:r>
              <a:rPr lang="ko-KR" altLang="en-US" sz="1200"/>
              <a:t>검색에 어떠한 정보도 나오지 않았다</a:t>
            </a:r>
            <a:r>
              <a:rPr lang="en-US" altLang="ko-KR" sz="1200"/>
              <a:t>.</a:t>
            </a:r>
            <a:endParaRPr lang="ko-KR" altLang="en-US" sz="120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D9C44E8-52A6-F9F6-A459-3D90B453F26C}"/>
              </a:ext>
            </a:extLst>
          </p:cNvPr>
          <p:cNvSpPr txBox="1"/>
          <p:nvPr/>
        </p:nvSpPr>
        <p:spPr>
          <a:xfrm>
            <a:off x="6497397" y="4518998"/>
            <a:ext cx="2207722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100"/>
              <a:t>첫 문자를 대문자로 바꾼</a:t>
            </a:r>
            <a:endParaRPr lang="en-US" altLang="ko-KR" sz="1100"/>
          </a:p>
          <a:p>
            <a:r>
              <a:rPr lang="en-US" altLang="ko-KR" sz="1100"/>
              <a:t>Apple</a:t>
            </a:r>
            <a:r>
              <a:rPr lang="ko-KR" altLang="en-US" sz="1100"/>
              <a:t>에 대한 </a:t>
            </a:r>
            <a:r>
              <a:rPr lang="en-US" altLang="ko-KR" sz="1100"/>
              <a:t>Product </a:t>
            </a:r>
            <a:r>
              <a:rPr lang="ko-KR" altLang="en-US" sz="1100"/>
              <a:t>검색은</a:t>
            </a:r>
            <a:endParaRPr lang="en-US" altLang="ko-KR" sz="1100"/>
          </a:p>
          <a:p>
            <a:r>
              <a:rPr lang="ko-KR" altLang="en-US" sz="1100"/>
              <a:t>상품에 대한 정보가 검색되었다</a:t>
            </a:r>
            <a:r>
              <a:rPr lang="en-US" altLang="ko-KR" sz="1100"/>
              <a:t>.</a:t>
            </a:r>
            <a:endParaRPr lang="ko-KR" altLang="en-US" sz="1100"/>
          </a:p>
        </p:txBody>
      </p:sp>
    </p:spTree>
    <p:extLst>
      <p:ext uri="{BB962C8B-B14F-4D97-AF65-F5344CB8AC3E}">
        <p14:creationId xmlns:p14="http://schemas.microsoft.com/office/powerpoint/2010/main" val="42803483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1397B87-5D1E-670F-40BA-A40E51CEE5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2400"/>
              <a:t>Standard Analyzer</a:t>
            </a:r>
            <a:r>
              <a:rPr lang="ko-KR" altLang="en-US" sz="2400"/>
              <a:t>에서 소문자검색시 대문자 정보도 검색되는이유</a:t>
            </a:r>
            <a:r>
              <a:rPr lang="en-US" altLang="ko-KR" sz="2400"/>
              <a:t>-1</a:t>
            </a:r>
            <a:endParaRPr lang="ko-KR" altLang="en-US" sz="240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4D68010B-D8B8-7892-6D70-D7AD37F26A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2579" y="1926477"/>
            <a:ext cx="4353533" cy="3686689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83C8374E-B3E6-5F2E-E351-966EF57BC5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7853" y="1926477"/>
            <a:ext cx="2626310" cy="1642348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5F330705-CE61-CBB3-DC29-D5A320E18E7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5905" y="1926477"/>
            <a:ext cx="3303234" cy="3840009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3F6725D6-33CC-83EE-B879-AD054469B7E5}"/>
              </a:ext>
            </a:extLst>
          </p:cNvPr>
          <p:cNvSpPr txBox="1"/>
          <p:nvPr/>
        </p:nvSpPr>
        <p:spPr>
          <a:xfrm>
            <a:off x="4995949" y="3674225"/>
            <a:ext cx="3000895" cy="24929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/>
              <a:t>Custom </a:t>
            </a:r>
            <a:r>
              <a:rPr lang="ko-KR" altLang="en-US" sz="1200"/>
              <a:t>한 </a:t>
            </a:r>
            <a:r>
              <a:rPr lang="en-US" altLang="ko-KR" sz="1200"/>
              <a:t>Analyzer</a:t>
            </a:r>
            <a:r>
              <a:rPr lang="ko-KR" altLang="en-US" sz="1200"/>
              <a:t>에는 </a:t>
            </a:r>
            <a:r>
              <a:rPr lang="en-US" altLang="ko-KR" sz="1200"/>
              <a:t>lowercase </a:t>
            </a:r>
            <a:r>
              <a:rPr lang="ko-KR" altLang="en-US" sz="1200"/>
              <a:t>필터를 적용하지 않았을 경우 정확한 </a:t>
            </a:r>
            <a:r>
              <a:rPr lang="en-US" altLang="ko-KR" sz="1200"/>
              <a:t>Token</a:t>
            </a:r>
            <a:r>
              <a:rPr lang="ko-KR" altLang="en-US" sz="1200"/>
              <a:t>을 입력해야 저장한 정보가 조회되었다</a:t>
            </a:r>
            <a:r>
              <a:rPr lang="en-US" altLang="ko-KR" sz="1200"/>
              <a:t>.</a:t>
            </a:r>
          </a:p>
          <a:p>
            <a:endParaRPr lang="en-US" altLang="ko-KR" sz="1200"/>
          </a:p>
          <a:p>
            <a:r>
              <a:rPr lang="ko-KR" altLang="en-US" sz="1200"/>
              <a:t>그럼 </a:t>
            </a:r>
            <a:r>
              <a:rPr lang="en-US" altLang="ko-KR" sz="1200"/>
              <a:t>lowercase filter</a:t>
            </a:r>
            <a:r>
              <a:rPr lang="ko-KR" altLang="en-US" sz="1200"/>
              <a:t>가 적용된 </a:t>
            </a:r>
            <a:r>
              <a:rPr lang="en-US" altLang="ko-KR" sz="1200"/>
              <a:t>Standard Analyzer</a:t>
            </a:r>
            <a:r>
              <a:rPr lang="ko-KR" altLang="en-US" sz="1200"/>
              <a:t>는 대문자로 저장된 상품정보가 소문자 검색시 나오지 않아야하는것 아닌가 하는 합리적인 의문이 들 수 있다</a:t>
            </a:r>
            <a:r>
              <a:rPr lang="en-US" altLang="ko-KR" sz="1200"/>
              <a:t>.</a:t>
            </a:r>
          </a:p>
          <a:p>
            <a:endParaRPr lang="en-US" altLang="ko-KR" sz="1200"/>
          </a:p>
          <a:p>
            <a:r>
              <a:rPr lang="ko-KR" altLang="en-US" sz="1200"/>
              <a:t>그러나 이러한 의문과는 반대로 </a:t>
            </a:r>
            <a:r>
              <a:rPr lang="en-US" altLang="ko-KR" sz="1200"/>
              <a:t>lowercase filter</a:t>
            </a:r>
            <a:r>
              <a:rPr lang="ko-KR" altLang="en-US" sz="1200"/>
              <a:t>가 적용되는 필드에 소문자 검색시 대문자로 시작되는 상품 정보가 검색되는것을 확인할 수 있다</a:t>
            </a:r>
            <a:r>
              <a:rPr lang="en-US" altLang="ko-KR" sz="1200"/>
              <a:t>.</a:t>
            </a:r>
            <a:endParaRPr lang="ko-KR" altLang="en-US" sz="1200"/>
          </a:p>
        </p:txBody>
      </p:sp>
    </p:spTree>
    <p:extLst>
      <p:ext uri="{BB962C8B-B14F-4D97-AF65-F5344CB8AC3E}">
        <p14:creationId xmlns:p14="http://schemas.microsoft.com/office/powerpoint/2010/main" val="356707257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D8F854-C5B0-E9C4-F326-8CADA9A1E9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4CFB4C2-C8FD-3211-211D-EBD6563E6F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2400"/>
              <a:t>Standard Analyzer</a:t>
            </a:r>
            <a:r>
              <a:rPr lang="ko-KR" altLang="en-US" sz="2400"/>
              <a:t>에서 소문자검색시 대문자 정보도 검색되는이유</a:t>
            </a:r>
            <a:r>
              <a:rPr lang="en-US" altLang="ko-KR" sz="2400"/>
              <a:t>-2</a:t>
            </a:r>
            <a:endParaRPr lang="ko-KR" altLang="en-US" sz="240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CC94B7EF-468E-7DD8-0397-C1B95A51A2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78446" y="1934789"/>
            <a:ext cx="6992585" cy="259564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9A90108-F557-2577-AE21-83D252808677}"/>
              </a:ext>
            </a:extLst>
          </p:cNvPr>
          <p:cNvSpPr txBox="1"/>
          <p:nvPr/>
        </p:nvSpPr>
        <p:spPr>
          <a:xfrm>
            <a:off x="1097280" y="4621876"/>
            <a:ext cx="1078992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/>
              <a:t>요약 </a:t>
            </a:r>
            <a:r>
              <a:rPr lang="en-US" altLang="ko-KR" sz="1400"/>
              <a:t>: </a:t>
            </a:r>
            <a:r>
              <a:rPr lang="ko-KR" altLang="en-US" sz="1400"/>
              <a:t>검색어 </a:t>
            </a:r>
            <a:r>
              <a:rPr lang="en-US" altLang="ko-KR" sz="1400"/>
              <a:t>(</a:t>
            </a:r>
            <a:r>
              <a:rPr lang="ko-KR" altLang="en-US" sz="1400"/>
              <a:t>조회</a:t>
            </a:r>
            <a:r>
              <a:rPr lang="en-US" altLang="ko-KR" sz="1400"/>
              <a:t>) </a:t>
            </a:r>
            <a:r>
              <a:rPr lang="ko-KR" altLang="en-US" sz="1400"/>
              <a:t>또한 </a:t>
            </a:r>
            <a:r>
              <a:rPr lang="en-US" altLang="ko-KR" sz="1400"/>
              <a:t>Analyer </a:t>
            </a:r>
            <a:r>
              <a:rPr lang="ko-KR" altLang="en-US" sz="1400"/>
              <a:t>를 통과하여 해석되기에 동일한 토큰값으로 비교되게 되고</a:t>
            </a:r>
            <a:r>
              <a:rPr lang="en-US" altLang="ko-KR" sz="1400"/>
              <a:t>,</a:t>
            </a:r>
            <a:br>
              <a:rPr lang="en-US" altLang="ko-KR" sz="1400"/>
            </a:br>
            <a:r>
              <a:rPr lang="en-US" altLang="ko-KR" sz="1400"/>
              <a:t>            </a:t>
            </a:r>
            <a:r>
              <a:rPr lang="ko-KR" altLang="en-US" sz="1400"/>
              <a:t>저장한 </a:t>
            </a:r>
            <a:r>
              <a:rPr lang="en-US" altLang="ko-KR" sz="1400"/>
              <a:t>document</a:t>
            </a:r>
            <a:r>
              <a:rPr lang="ko-KR" altLang="en-US" sz="1400"/>
              <a:t>에 대해 가져올 수 있다</a:t>
            </a:r>
            <a:r>
              <a:rPr lang="en-US" altLang="ko-KR" sz="1400"/>
              <a:t>.</a:t>
            </a:r>
            <a:endParaRPr lang="ko-KR" altLang="en-US" sz="1400"/>
          </a:p>
        </p:txBody>
      </p:sp>
    </p:spTree>
    <p:extLst>
      <p:ext uri="{BB962C8B-B14F-4D97-AF65-F5344CB8AC3E}">
        <p14:creationId xmlns:p14="http://schemas.microsoft.com/office/powerpoint/2010/main" val="339118038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338F851-772B-D6E4-99E1-36AED59C41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4000"/>
              <a:t>ElasticSearch</a:t>
            </a:r>
            <a:r>
              <a:rPr lang="ko-KR" altLang="en-US" sz="4000"/>
              <a:t> </a:t>
            </a:r>
            <a:r>
              <a:rPr lang="en-US" altLang="ko-KR" sz="4000"/>
              <a:t>Document </a:t>
            </a:r>
            <a:r>
              <a:rPr lang="ko-KR" altLang="en-US" sz="4000"/>
              <a:t>검색에 </a:t>
            </a:r>
            <a:r>
              <a:rPr lang="en-US" altLang="ko-KR" sz="4000"/>
              <a:t>html </a:t>
            </a:r>
            <a:r>
              <a:rPr lang="ko-KR" altLang="en-US" sz="4000"/>
              <a:t>태그 제외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7B47DCC-3F25-F2EE-D98F-35631FAEF1A8}"/>
              </a:ext>
            </a:extLst>
          </p:cNvPr>
          <p:cNvSpPr txBox="1"/>
          <p:nvPr/>
        </p:nvSpPr>
        <p:spPr>
          <a:xfrm>
            <a:off x="1255222" y="1886989"/>
            <a:ext cx="9900458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/>
              <a:t>요약 </a:t>
            </a:r>
            <a:r>
              <a:rPr lang="en-US" altLang="ko-KR" sz="1400"/>
              <a:t>:</a:t>
            </a:r>
          </a:p>
          <a:p>
            <a:r>
              <a:rPr lang="en-US" altLang="ko-KR" sz="1400"/>
              <a:t>	- &lt;h2&gt; , &lt;div&gt; , &lt;span&gt; </a:t>
            </a:r>
            <a:r>
              <a:rPr lang="ko-KR" altLang="en-US" sz="1400"/>
              <a:t>등 상품과 전혀 관계없는 </a:t>
            </a:r>
            <a:r>
              <a:rPr lang="en-US" altLang="ko-KR" sz="1400"/>
              <a:t>html </a:t>
            </a:r>
            <a:r>
              <a:rPr lang="ko-KR" altLang="en-US" sz="1400"/>
              <a:t>태그가 </a:t>
            </a:r>
            <a:r>
              <a:rPr lang="en-US" altLang="ko-KR" sz="1400"/>
              <a:t>token</a:t>
            </a:r>
            <a:r>
              <a:rPr lang="ko-KR" altLang="en-US" sz="1400"/>
              <a:t>으로 상품 정보와 함께 </a:t>
            </a:r>
            <a:br>
              <a:rPr lang="en-US" altLang="ko-KR" sz="1400"/>
            </a:br>
            <a:r>
              <a:rPr lang="en-US" altLang="ko-KR" sz="1400"/>
              <a:t>          </a:t>
            </a:r>
            <a:r>
              <a:rPr lang="ko-KR" altLang="en-US" sz="1400"/>
              <a:t>저장된다면</a:t>
            </a:r>
            <a:r>
              <a:rPr lang="en-US" altLang="ko-KR" sz="1400"/>
              <a:t>, </a:t>
            </a:r>
            <a:r>
              <a:rPr lang="ko-KR" altLang="en-US" sz="1400"/>
              <a:t>상품 검색시 엉뚱한 상품들이 조회될 수 있으며</a:t>
            </a:r>
            <a:r>
              <a:rPr lang="en-US" altLang="ko-KR" sz="1400"/>
              <a:t>, </a:t>
            </a:r>
            <a:r>
              <a:rPr lang="ko-KR" altLang="en-US" sz="1400"/>
              <a:t>검색 품질이 매우 떨어진다고 </a:t>
            </a:r>
            <a:br>
              <a:rPr lang="en-US" altLang="ko-KR" sz="1400"/>
            </a:br>
            <a:r>
              <a:rPr lang="en-US" altLang="ko-KR" sz="1400"/>
              <a:t>          </a:t>
            </a:r>
            <a:r>
              <a:rPr lang="ko-KR" altLang="en-US" sz="1400"/>
              <a:t>볼 수 있다</a:t>
            </a:r>
            <a:r>
              <a:rPr lang="en-US" altLang="ko-KR" sz="1400"/>
              <a:t>.</a:t>
            </a:r>
          </a:p>
          <a:p>
            <a:r>
              <a:rPr lang="ko-KR" altLang="en-US" sz="1400"/>
              <a:t>           </a:t>
            </a:r>
            <a:r>
              <a:rPr lang="en-US" altLang="ko-KR" sz="1400"/>
              <a:t>- html </a:t>
            </a:r>
            <a:r>
              <a:rPr lang="ko-KR" altLang="en-US" sz="1400"/>
              <a:t>태그들이 </a:t>
            </a:r>
            <a:r>
              <a:rPr lang="en-US" altLang="ko-KR" sz="1400"/>
              <a:t>Token</a:t>
            </a:r>
            <a:r>
              <a:rPr lang="ko-KR" altLang="en-US" sz="1400"/>
              <a:t>으로 분류되어 필요없는 메모리 공간을 잡아먹는다</a:t>
            </a:r>
            <a:r>
              <a:rPr lang="en-US" altLang="ko-KR" sz="1400"/>
              <a:t>.</a:t>
            </a:r>
          </a:p>
          <a:p>
            <a:r>
              <a:rPr lang="en-US" altLang="ko-KR" sz="1400"/>
              <a:t>           </a:t>
            </a:r>
            <a:r>
              <a:rPr lang="en-US" altLang="ko-KR" sz="1400">
                <a:sym typeface="Wingdings" panose="05000000000000000000" pitchFamily="2" charset="2"/>
              </a:rPr>
              <a:t> </a:t>
            </a:r>
            <a:r>
              <a:rPr lang="ko-KR" altLang="en-US" sz="1400" b="1">
                <a:solidFill>
                  <a:srgbClr val="FF0000"/>
                </a:solidFill>
              </a:rPr>
              <a:t>위 두 단점을 보안하기 위해 </a:t>
            </a:r>
            <a:r>
              <a:rPr lang="en-US" altLang="ko-KR" sz="1400" b="1">
                <a:solidFill>
                  <a:srgbClr val="FF0000"/>
                </a:solidFill>
              </a:rPr>
              <a:t>html_strip </a:t>
            </a:r>
            <a:r>
              <a:rPr lang="ko-KR" altLang="en-US" sz="1400" b="1">
                <a:solidFill>
                  <a:srgbClr val="FF0000"/>
                </a:solidFill>
              </a:rPr>
              <a:t>필터의 적용을 고려해볼 수 있다</a:t>
            </a:r>
            <a:r>
              <a:rPr lang="en-US" altLang="ko-KR" sz="1400" b="1">
                <a:solidFill>
                  <a:srgbClr val="FF0000"/>
                </a:solidFill>
              </a:rPr>
              <a:t>.</a:t>
            </a:r>
          </a:p>
          <a:p>
            <a:endParaRPr lang="en-US" altLang="ko-KR" sz="1400"/>
          </a:p>
          <a:p>
            <a:endParaRPr lang="en-US" altLang="ko-KR" sz="140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5B4E4E62-1179-9F3E-0A3F-2D0D2364E1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5438" y="3341621"/>
            <a:ext cx="3514133" cy="3360603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32C4C4A-F2DB-635B-7C75-8317A25A1A06}"/>
              </a:ext>
            </a:extLst>
          </p:cNvPr>
          <p:cNvSpPr txBox="1"/>
          <p:nvPr/>
        </p:nvSpPr>
        <p:spPr>
          <a:xfrm>
            <a:off x="4962697" y="3390920"/>
            <a:ext cx="668343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/>
              <a:t>"char_filter" </a:t>
            </a:r>
            <a:r>
              <a:rPr lang="ko-KR" altLang="en-US" sz="1400"/>
              <a:t>에 </a:t>
            </a:r>
            <a:r>
              <a:rPr lang="en-US" altLang="ko-KR" sz="1400"/>
              <a:t>"html_strip" </a:t>
            </a:r>
            <a:r>
              <a:rPr lang="ko-KR" altLang="en-US" sz="1400"/>
              <a:t>필터 선언</a:t>
            </a:r>
            <a:r>
              <a:rPr lang="en-US" altLang="ko-KR" sz="1400"/>
              <a:t>.</a:t>
            </a:r>
          </a:p>
          <a:p>
            <a:endParaRPr lang="en-US" altLang="ko-KR" sz="1400"/>
          </a:p>
          <a:p>
            <a:r>
              <a:rPr lang="en-US" altLang="ko-KR" sz="1400"/>
              <a:t>boards </a:t>
            </a:r>
            <a:r>
              <a:rPr lang="ko-KR" altLang="en-US" sz="1400"/>
              <a:t>인덱스 내 </a:t>
            </a:r>
            <a:r>
              <a:rPr lang="en-US" altLang="ko-KR" sz="1400"/>
              <a:t>content </a:t>
            </a:r>
            <a:r>
              <a:rPr lang="ko-KR" altLang="en-US" sz="1400"/>
              <a:t>필드에 </a:t>
            </a:r>
            <a:r>
              <a:rPr lang="en-US" altLang="ko-KR" sz="1400"/>
              <a:t>analyzer </a:t>
            </a:r>
            <a:r>
              <a:rPr lang="ko-KR" altLang="en-US" sz="1400"/>
              <a:t>적용</a:t>
            </a:r>
            <a:endParaRPr lang="en-US" altLang="ko-KR" sz="1400"/>
          </a:p>
          <a:p>
            <a:endParaRPr lang="ko-KR" altLang="en-US" sz="1400"/>
          </a:p>
        </p:txBody>
      </p:sp>
    </p:spTree>
    <p:extLst>
      <p:ext uri="{BB962C8B-B14F-4D97-AF65-F5344CB8AC3E}">
        <p14:creationId xmlns:p14="http://schemas.microsoft.com/office/powerpoint/2010/main" val="246240218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D93399D-97C1-4426-8952-EB26F9086E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2800"/>
              <a:t>HTML </a:t>
            </a:r>
            <a:r>
              <a:rPr lang="ko-KR" altLang="en-US" sz="2800"/>
              <a:t>태그 함께 등록 후 </a:t>
            </a:r>
            <a:r>
              <a:rPr lang="en-US" altLang="ko-KR" sz="2800"/>
              <a:t>HTML </a:t>
            </a:r>
            <a:r>
              <a:rPr lang="ko-KR" altLang="en-US" sz="2800"/>
              <a:t>태그로 </a:t>
            </a:r>
            <a:r>
              <a:rPr lang="en-US" altLang="ko-KR" sz="2800"/>
              <a:t>Board</a:t>
            </a:r>
            <a:r>
              <a:rPr lang="ko-KR" altLang="en-US" sz="2800"/>
              <a:t>정보 조회</a:t>
            </a:r>
          </a:p>
        </p:txBody>
      </p: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83F935BF-C9A9-0733-5F76-00C16864E65A}"/>
              </a:ext>
            </a:extLst>
          </p:cNvPr>
          <p:cNvGrpSpPr/>
          <p:nvPr/>
        </p:nvGrpSpPr>
        <p:grpSpPr>
          <a:xfrm>
            <a:off x="1332166" y="1926638"/>
            <a:ext cx="5630061" cy="2191056"/>
            <a:chOff x="255136" y="1934462"/>
            <a:chExt cx="5630061" cy="2191056"/>
          </a:xfrm>
        </p:grpSpPr>
        <p:pic>
          <p:nvPicPr>
            <p:cNvPr id="4" name="그림 3">
              <a:extLst>
                <a:ext uri="{FF2B5EF4-FFF2-40B4-BE49-F238E27FC236}">
                  <a16:creationId xmlns:a16="http://schemas.microsoft.com/office/drawing/2014/main" id="{0A44A61E-B718-6909-472D-3A0EBFB89D1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55136" y="1934462"/>
              <a:ext cx="5630061" cy="2191056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grpSp>
          <p:nvGrpSpPr>
            <p:cNvPr id="8" name="그룹 7">
              <a:extLst>
                <a:ext uri="{FF2B5EF4-FFF2-40B4-BE49-F238E27FC236}">
                  <a16:creationId xmlns:a16="http://schemas.microsoft.com/office/drawing/2014/main" id="{4906DC24-C313-E6B1-AC72-4B63EA58A7F0}"/>
                </a:ext>
              </a:extLst>
            </p:cNvPr>
            <p:cNvGrpSpPr/>
            <p:nvPr/>
          </p:nvGrpSpPr>
          <p:grpSpPr>
            <a:xfrm>
              <a:off x="648393" y="1978429"/>
              <a:ext cx="5162203" cy="820007"/>
              <a:chOff x="648393" y="1978429"/>
              <a:chExt cx="5162203" cy="820007"/>
            </a:xfrm>
          </p:grpSpPr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123C9BA-405A-1693-7169-6DEC811EF4B3}"/>
                  </a:ext>
                </a:extLst>
              </p:cNvPr>
              <p:cNvSpPr txBox="1"/>
              <p:nvPr/>
            </p:nvSpPr>
            <p:spPr>
              <a:xfrm>
                <a:off x="922713" y="2510444"/>
                <a:ext cx="2227811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1200">
                    <a:solidFill>
                      <a:srgbClr val="FF0000"/>
                    </a:solidFill>
                  </a:rPr>
                  <a:t>boards </a:t>
                </a:r>
                <a:r>
                  <a:rPr lang="ko-KR" altLang="en-US" sz="1200">
                    <a:solidFill>
                      <a:srgbClr val="FF0000"/>
                    </a:solidFill>
                  </a:rPr>
                  <a:t>입력</a:t>
                </a:r>
              </a:p>
            </p:txBody>
          </p:sp>
          <p:sp>
            <p:nvSpPr>
              <p:cNvPr id="7" name="직사각형 6">
                <a:extLst>
                  <a:ext uri="{FF2B5EF4-FFF2-40B4-BE49-F238E27FC236}">
                    <a16:creationId xmlns:a16="http://schemas.microsoft.com/office/drawing/2014/main" id="{F5984CCF-0A26-B760-F689-99D3B2F98C33}"/>
                  </a:ext>
                </a:extLst>
              </p:cNvPr>
              <p:cNvSpPr/>
              <p:nvPr/>
            </p:nvSpPr>
            <p:spPr>
              <a:xfrm>
                <a:off x="648393" y="1978429"/>
                <a:ext cx="5162203" cy="820007"/>
              </a:xfrm>
              <a:prstGeom prst="rect">
                <a:avLst/>
              </a:prstGeom>
              <a:no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grpSp>
          <p:nvGrpSpPr>
            <p:cNvPr id="10" name="그룹 9">
              <a:extLst>
                <a:ext uri="{FF2B5EF4-FFF2-40B4-BE49-F238E27FC236}">
                  <a16:creationId xmlns:a16="http://schemas.microsoft.com/office/drawing/2014/main" id="{AF2AF297-2636-1BCF-FAB4-C153827930ED}"/>
                </a:ext>
              </a:extLst>
            </p:cNvPr>
            <p:cNvGrpSpPr/>
            <p:nvPr/>
          </p:nvGrpSpPr>
          <p:grpSpPr>
            <a:xfrm>
              <a:off x="648393" y="2798436"/>
              <a:ext cx="5162203" cy="1327082"/>
              <a:chOff x="648393" y="2798436"/>
              <a:chExt cx="5162203" cy="1327082"/>
            </a:xfrm>
          </p:grpSpPr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88535107-1387-F75E-7E95-168CD50BF6DC}"/>
                  </a:ext>
                </a:extLst>
              </p:cNvPr>
              <p:cNvSpPr txBox="1"/>
              <p:nvPr/>
            </p:nvSpPr>
            <p:spPr>
              <a:xfrm>
                <a:off x="842355" y="3848519"/>
                <a:ext cx="2227811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1200"/>
                  <a:t>HTML </a:t>
                </a:r>
                <a:r>
                  <a:rPr lang="ko-KR" altLang="en-US" sz="1200"/>
                  <a:t>태그로 조회</a:t>
                </a:r>
              </a:p>
            </p:txBody>
          </p:sp>
          <p:sp>
            <p:nvSpPr>
              <p:cNvPr id="9" name="직사각형 8">
                <a:extLst>
                  <a:ext uri="{FF2B5EF4-FFF2-40B4-BE49-F238E27FC236}">
                    <a16:creationId xmlns:a16="http://schemas.microsoft.com/office/drawing/2014/main" id="{D5E07243-E64A-1116-1E97-59AE199954A7}"/>
                  </a:ext>
                </a:extLst>
              </p:cNvPr>
              <p:cNvSpPr/>
              <p:nvPr/>
            </p:nvSpPr>
            <p:spPr>
              <a:xfrm>
                <a:off x="648393" y="2798436"/>
                <a:ext cx="5162203" cy="1272122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</p:grpSp>
      <p:pic>
        <p:nvPicPr>
          <p:cNvPr id="12" name="그림 11">
            <a:extLst>
              <a:ext uri="{FF2B5EF4-FFF2-40B4-BE49-F238E27FC236}">
                <a16:creationId xmlns:a16="http://schemas.microsoft.com/office/drawing/2014/main" id="{6EA98547-9705-011C-2090-3E5A44ED2C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55484" y="1926638"/>
            <a:ext cx="2114845" cy="2981741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73989247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2AE0A42-D2DB-3CB9-5965-D679D06CAE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3600"/>
              <a:t>Boards </a:t>
            </a:r>
            <a:r>
              <a:rPr lang="ko-KR" altLang="en-US" sz="3600"/>
              <a:t>필드 </a:t>
            </a:r>
            <a:r>
              <a:rPr lang="en-US" altLang="ko-KR" sz="3600"/>
              <a:t>Analyzer</a:t>
            </a:r>
            <a:r>
              <a:rPr lang="ko-KR" altLang="en-US" sz="3600"/>
              <a:t>로 입력 문자 분석</a:t>
            </a:r>
          </a:p>
        </p:txBody>
      </p: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79691E57-66DA-7147-4E30-4F64215246B8}"/>
              </a:ext>
            </a:extLst>
          </p:cNvPr>
          <p:cNvGrpSpPr/>
          <p:nvPr/>
        </p:nvGrpSpPr>
        <p:grpSpPr>
          <a:xfrm>
            <a:off x="390512" y="1920241"/>
            <a:ext cx="3896269" cy="3791479"/>
            <a:chOff x="390512" y="1762299"/>
            <a:chExt cx="3896269" cy="3791479"/>
          </a:xfrm>
        </p:grpSpPr>
        <p:pic>
          <p:nvPicPr>
            <p:cNvPr id="11" name="그림 10">
              <a:extLst>
                <a:ext uri="{FF2B5EF4-FFF2-40B4-BE49-F238E27FC236}">
                  <a16:creationId xmlns:a16="http://schemas.microsoft.com/office/drawing/2014/main" id="{01AA25D8-053E-F0F4-5D17-DCCF3AF6A33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90512" y="1762299"/>
              <a:ext cx="3896269" cy="3791479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id="{9AB61266-1484-DA37-3BDF-907F610B0CBE}"/>
                </a:ext>
              </a:extLst>
            </p:cNvPr>
            <p:cNvSpPr/>
            <p:nvPr/>
          </p:nvSpPr>
          <p:spPr>
            <a:xfrm>
              <a:off x="3632662" y="3225339"/>
              <a:ext cx="423949" cy="203662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pic>
        <p:nvPicPr>
          <p:cNvPr id="15" name="그림 14">
            <a:extLst>
              <a:ext uri="{FF2B5EF4-FFF2-40B4-BE49-F238E27FC236}">
                <a16:creationId xmlns:a16="http://schemas.microsoft.com/office/drawing/2014/main" id="{3C99701C-F9DF-2BA3-B0D5-281AD8A948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7173" y="1920241"/>
            <a:ext cx="4066871" cy="2055879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97AE8CD6-91FB-DC21-7F40-168B279ED0BB}"/>
              </a:ext>
            </a:extLst>
          </p:cNvPr>
          <p:cNvSpPr txBox="1"/>
          <p:nvPr/>
        </p:nvSpPr>
        <p:spPr>
          <a:xfrm>
            <a:off x="5921432" y="1920241"/>
            <a:ext cx="34968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b="1"/>
              <a:t>html</a:t>
            </a:r>
            <a:r>
              <a:rPr lang="ko-KR" altLang="en-US" sz="1100" b="1"/>
              <a:t>태그와 불용어 를 포함한 문자열 </a:t>
            </a:r>
            <a:r>
              <a:rPr lang="en-US" altLang="ko-KR" sz="1100" b="1"/>
              <a:t>Document </a:t>
            </a:r>
            <a:r>
              <a:rPr lang="ko-KR" altLang="en-US" sz="1100" b="1"/>
              <a:t>등록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4B4BFE6-73E2-508D-F35A-336FDBBAB14D}"/>
              </a:ext>
            </a:extLst>
          </p:cNvPr>
          <p:cNvSpPr txBox="1"/>
          <p:nvPr/>
        </p:nvSpPr>
        <p:spPr>
          <a:xfrm>
            <a:off x="4885112" y="3714510"/>
            <a:ext cx="34968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b="1"/>
              <a:t>boards</a:t>
            </a:r>
            <a:r>
              <a:rPr lang="ko-KR" altLang="en-US" sz="1100" b="1"/>
              <a:t>인덱스의 필드 내용 </a:t>
            </a:r>
            <a:r>
              <a:rPr lang="en-US" altLang="ko-KR" sz="1100" b="1"/>
              <a:t>: </a:t>
            </a:r>
            <a:r>
              <a:rPr lang="ko-KR" altLang="en-US" sz="1100" b="1"/>
              <a:t>불용어</a:t>
            </a:r>
            <a:r>
              <a:rPr lang="en-US" altLang="ko-KR" sz="1100" b="1"/>
              <a:t>(The, and )</a:t>
            </a:r>
            <a:r>
              <a:rPr lang="ko-KR" altLang="en-US" sz="1100" b="1"/>
              <a:t> 검색 </a:t>
            </a:r>
          </a:p>
        </p:txBody>
      </p:sp>
      <p:pic>
        <p:nvPicPr>
          <p:cNvPr id="19" name="그림 18">
            <a:extLst>
              <a:ext uri="{FF2B5EF4-FFF2-40B4-BE49-F238E27FC236}">
                <a16:creationId xmlns:a16="http://schemas.microsoft.com/office/drawing/2014/main" id="{4B7A4B15-CB8B-5F79-1E0D-9B38473DA26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18319" y="1916226"/>
            <a:ext cx="1962424" cy="2934109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A6530AE9-629E-CCAC-F2E7-9AC9663181D0}"/>
              </a:ext>
            </a:extLst>
          </p:cNvPr>
          <p:cNvSpPr txBox="1"/>
          <p:nvPr/>
        </p:nvSpPr>
        <p:spPr>
          <a:xfrm>
            <a:off x="9418319" y="4904509"/>
            <a:ext cx="198674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/>
              <a:t>불용어에 대한 토큰 저장이 없기에 조회 결과가 없다</a:t>
            </a:r>
            <a:r>
              <a:rPr lang="en-US" altLang="ko-KR" sz="1100"/>
              <a:t>.</a:t>
            </a:r>
            <a:endParaRPr lang="ko-KR" altLang="en-US" sz="110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26DD01F-EE93-125D-B3FE-C98F617C5A0F}"/>
              </a:ext>
            </a:extLst>
          </p:cNvPr>
          <p:cNvSpPr txBox="1"/>
          <p:nvPr/>
        </p:nvSpPr>
        <p:spPr>
          <a:xfrm>
            <a:off x="4387172" y="4231178"/>
            <a:ext cx="4873205" cy="1061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50"/>
              <a:t>★ </a:t>
            </a:r>
            <a:r>
              <a:rPr lang="en-US" altLang="ko-KR" sz="1050"/>
              <a:t>Stop </a:t>
            </a:r>
            <a:r>
              <a:rPr lang="ko-KR" altLang="en-US" sz="1050"/>
              <a:t>필터의 주의점 </a:t>
            </a:r>
            <a:r>
              <a:rPr lang="en-US" altLang="ko-KR" sz="1050"/>
              <a:t>: </a:t>
            </a:r>
            <a:br>
              <a:rPr lang="en-US" altLang="ko-KR" sz="1050"/>
            </a:br>
            <a:r>
              <a:rPr lang="en-US" altLang="ko-KR" sz="1050"/>
              <a:t>- Stop</a:t>
            </a:r>
            <a:r>
              <a:rPr lang="ko-KR" altLang="en-US" sz="1050"/>
              <a:t>필터를 사용하지 않아야하는 경우가 있다</a:t>
            </a:r>
            <a:r>
              <a:rPr lang="en-US" altLang="ko-KR" sz="1050"/>
              <a:t>. </a:t>
            </a:r>
            <a:r>
              <a:rPr lang="ko-KR" altLang="en-US" sz="1050"/>
              <a:t>예를 들어 노래의 이름에 대해 조회해야할 경우 </a:t>
            </a:r>
            <a:r>
              <a:rPr lang="en-US" altLang="ko-KR" sz="1050"/>
              <a:t>Let It Be </a:t>
            </a:r>
            <a:r>
              <a:rPr lang="ko-KR" altLang="en-US" sz="1050"/>
              <a:t>라는 노래를 검색한다고 가정하자</a:t>
            </a:r>
            <a:r>
              <a:rPr lang="en-US" altLang="ko-KR" sz="1050"/>
              <a:t>. </a:t>
            </a:r>
            <a:r>
              <a:rPr lang="ko-KR" altLang="en-US" sz="1050"/>
              <a:t>이때 </a:t>
            </a:r>
            <a:r>
              <a:rPr lang="en-US" altLang="ko-KR" sz="1050"/>
              <a:t>Stop </a:t>
            </a:r>
            <a:r>
              <a:rPr lang="ko-KR" altLang="en-US" sz="1050"/>
              <a:t>필터는 모든 불용어를 제거 함으로</a:t>
            </a:r>
            <a:r>
              <a:rPr lang="en-US" altLang="ko-KR" sz="1050"/>
              <a:t>.  </a:t>
            </a:r>
            <a:r>
              <a:rPr lang="ko-KR" altLang="en-US" sz="1050"/>
              <a:t>어떠한 토큰도 저장되지 않는다</a:t>
            </a:r>
            <a:r>
              <a:rPr lang="en-US" altLang="ko-KR" sz="1050"/>
              <a:t>. </a:t>
            </a:r>
            <a:r>
              <a:rPr lang="ko-KR" altLang="en-US" sz="1050"/>
              <a:t>이러한 데이터 특성을 잘 고려하여</a:t>
            </a:r>
            <a:r>
              <a:rPr lang="en-US" altLang="ko-KR" sz="1050"/>
              <a:t>,  Stop </a:t>
            </a:r>
            <a:r>
              <a:rPr lang="ko-KR" altLang="en-US" sz="1050"/>
              <a:t>필터를 적용시켜야한다</a:t>
            </a:r>
            <a:r>
              <a:rPr lang="en-US" altLang="ko-KR" sz="1050"/>
              <a:t>. </a:t>
            </a:r>
          </a:p>
          <a:p>
            <a:endParaRPr lang="ko-KR" altLang="en-US" sz="1050"/>
          </a:p>
        </p:txBody>
      </p:sp>
    </p:spTree>
    <p:extLst>
      <p:ext uri="{BB962C8B-B14F-4D97-AF65-F5344CB8AC3E}">
        <p14:creationId xmlns:p14="http://schemas.microsoft.com/office/powerpoint/2010/main" val="104426434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4AF5251-39AB-3AE9-36BC-8E445E3743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3200"/>
              <a:t>인덱스 내 필드 </a:t>
            </a:r>
            <a:r>
              <a:rPr lang="en-US" altLang="ko-KR" sz="3200"/>
              <a:t>Analyzer</a:t>
            </a:r>
            <a:r>
              <a:rPr lang="ko-KR" altLang="en-US" sz="3200"/>
              <a:t>를 통한 토큰</a:t>
            </a:r>
            <a:r>
              <a:rPr lang="en-US" altLang="ko-KR" sz="3200"/>
              <a:t> </a:t>
            </a:r>
            <a:r>
              <a:rPr lang="ko-KR" altLang="en-US" sz="3200"/>
              <a:t>저장 형태 확인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1ABBEC1B-6E1E-5232-A819-E3C63CC1D8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905462"/>
            <a:ext cx="4086795" cy="819264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3E482D78-A40C-0471-E905-D11C6F20B3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3414" y="1905462"/>
            <a:ext cx="2286319" cy="4096322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922155D-9264-CCA7-4440-8E5C93BE8BAF}"/>
              </a:ext>
            </a:extLst>
          </p:cNvPr>
          <p:cNvSpPr txBox="1"/>
          <p:nvPr/>
        </p:nvSpPr>
        <p:spPr>
          <a:xfrm>
            <a:off x="1097280" y="2876204"/>
            <a:ext cx="408679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/>
              <a:t>저장되는 토큰 정보에 불용어는 포함되지 않는걸 확인할 수 있다</a:t>
            </a:r>
            <a:r>
              <a:rPr lang="en-US" altLang="ko-KR" sz="1200"/>
              <a:t>.</a:t>
            </a:r>
            <a:endParaRPr lang="ko-KR" altLang="en-US" sz="1200"/>
          </a:p>
        </p:txBody>
      </p:sp>
    </p:spTree>
    <p:extLst>
      <p:ext uri="{BB962C8B-B14F-4D97-AF65-F5344CB8AC3E}">
        <p14:creationId xmlns:p14="http://schemas.microsoft.com/office/powerpoint/2010/main" val="19413741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F6474F3-B666-640E-29CC-CF5940D24C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4000"/>
              <a:t>다양한 단어의 형태에 상관없이 검색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5D12DAAC-A244-B110-620B-A77D90F4E3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1660" y="1901446"/>
            <a:ext cx="2908679" cy="171459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DF1E76B3-CFFE-FC65-0ED6-9F43250621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50678" y="1901446"/>
            <a:ext cx="3829584" cy="4344006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17E48D04-47AD-E54F-8E19-85EB7497AF10}"/>
              </a:ext>
            </a:extLst>
          </p:cNvPr>
          <p:cNvSpPr txBox="1"/>
          <p:nvPr/>
        </p:nvSpPr>
        <p:spPr>
          <a:xfrm>
            <a:off x="4641660" y="3707476"/>
            <a:ext cx="2908679" cy="13388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/>
              <a:t>1. token filte</a:t>
            </a:r>
            <a:r>
              <a:rPr lang="ko-KR" altLang="en-US" sz="900"/>
              <a:t>에 </a:t>
            </a:r>
            <a:r>
              <a:rPr lang="en-US" altLang="ko-KR" sz="900"/>
              <a:t>steamer </a:t>
            </a:r>
            <a:r>
              <a:rPr lang="ko-KR" altLang="en-US" sz="900"/>
              <a:t>필터를 적용</a:t>
            </a:r>
            <a:endParaRPr lang="en-US" altLang="ko-KR" sz="900"/>
          </a:p>
          <a:p>
            <a:endParaRPr lang="en-US" altLang="ko-KR" sz="900"/>
          </a:p>
          <a:p>
            <a:r>
              <a:rPr lang="en-US" altLang="ko-KR" sz="900"/>
              <a:t>2. Running, jumping</a:t>
            </a:r>
            <a:r>
              <a:rPr lang="ko-KR" altLang="en-US" sz="900"/>
              <a:t>등 단어의 원형과 다른 문자열 저장</a:t>
            </a:r>
            <a:r>
              <a:rPr lang="en-US" altLang="ko-KR" sz="900"/>
              <a:t>.</a:t>
            </a:r>
          </a:p>
          <a:p>
            <a:r>
              <a:rPr lang="en-US" altLang="ko-KR" sz="900"/>
              <a:t>    (26~29 Line)</a:t>
            </a:r>
          </a:p>
          <a:p>
            <a:r>
              <a:rPr lang="en-US" altLang="ko-KR" sz="900"/>
              <a:t>3. </a:t>
            </a:r>
            <a:r>
              <a:rPr lang="ko-KR" altLang="en-US" sz="900"/>
              <a:t>다른 형태의 단어 검색 </a:t>
            </a:r>
            <a:r>
              <a:rPr lang="en-US" altLang="ko-KR" sz="900"/>
              <a:t>(31~38 Line)</a:t>
            </a:r>
          </a:p>
          <a:p>
            <a:r>
              <a:rPr lang="en-US" altLang="ko-KR" sz="900"/>
              <a:t>4. </a:t>
            </a:r>
            <a:r>
              <a:rPr lang="ko-KR" altLang="en-US" sz="900"/>
              <a:t>입력한 문자열이 조회 됨을 확인</a:t>
            </a:r>
            <a:r>
              <a:rPr lang="en-US" altLang="ko-KR" sz="900"/>
              <a:t>.</a:t>
            </a:r>
          </a:p>
          <a:p>
            <a:endParaRPr lang="en-US" altLang="ko-KR" sz="900"/>
          </a:p>
          <a:p>
            <a:r>
              <a:rPr lang="ko-KR" altLang="en-US" sz="900"/>
              <a:t> </a:t>
            </a:r>
            <a:endParaRPr lang="en-US" altLang="ko-KR" sz="900"/>
          </a:p>
          <a:p>
            <a:endParaRPr lang="ko-KR" altLang="en-US" sz="900"/>
          </a:p>
        </p:txBody>
      </p: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975F142E-B3CA-65CC-EF4F-313C5603A8A7}"/>
              </a:ext>
            </a:extLst>
          </p:cNvPr>
          <p:cNvGrpSpPr/>
          <p:nvPr/>
        </p:nvGrpSpPr>
        <p:grpSpPr>
          <a:xfrm>
            <a:off x="647864" y="1901446"/>
            <a:ext cx="3899584" cy="3304164"/>
            <a:chOff x="647864" y="1901446"/>
            <a:chExt cx="3899584" cy="3304164"/>
          </a:xfrm>
        </p:grpSpPr>
        <p:pic>
          <p:nvPicPr>
            <p:cNvPr id="4" name="그림 3">
              <a:extLst>
                <a:ext uri="{FF2B5EF4-FFF2-40B4-BE49-F238E27FC236}">
                  <a16:creationId xmlns:a16="http://schemas.microsoft.com/office/drawing/2014/main" id="{85573D65-F5C0-4C21-3945-092FD954232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47864" y="1901446"/>
              <a:ext cx="3899584" cy="3304164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B1C0DD87-59A4-2F8E-7739-907B15E6318D}"/>
                </a:ext>
              </a:extLst>
            </p:cNvPr>
            <p:cNvSpPr/>
            <p:nvPr/>
          </p:nvSpPr>
          <p:spPr>
            <a:xfrm>
              <a:off x="3882044" y="3183775"/>
              <a:ext cx="507076" cy="245225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77512243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33B2187-411C-5891-3E6F-2AB1103424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3600"/>
              <a:t>다른 형태의 </a:t>
            </a:r>
            <a:r>
              <a:rPr lang="en-US" altLang="ko-KR" sz="3600"/>
              <a:t>field </a:t>
            </a:r>
            <a:r>
              <a:rPr lang="ko-KR" altLang="en-US" sz="3600"/>
              <a:t>값을 검색 시 조회되는 이유</a:t>
            </a:r>
            <a:r>
              <a:rPr lang="en-US" altLang="ko-KR" sz="3600"/>
              <a:t>.</a:t>
            </a:r>
            <a:r>
              <a:rPr lang="ko-KR" altLang="en-US" sz="3600"/>
              <a:t> 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4E6808DF-3F69-8E11-546A-6922DE7D20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78446" y="1934789"/>
            <a:ext cx="6992585" cy="259564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4F6FE6F-C062-7781-A5CB-AFAB91D5AF5A}"/>
              </a:ext>
            </a:extLst>
          </p:cNvPr>
          <p:cNvSpPr txBox="1"/>
          <p:nvPr/>
        </p:nvSpPr>
        <p:spPr>
          <a:xfrm>
            <a:off x="955964" y="4638502"/>
            <a:ext cx="1083979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doc </a:t>
            </a:r>
            <a:r>
              <a:rPr lang="ko-KR" altLang="en-US"/>
              <a:t>저장 시 </a:t>
            </a:r>
            <a:r>
              <a:rPr lang="en-US" altLang="ko-KR"/>
              <a:t>field</a:t>
            </a:r>
            <a:r>
              <a:rPr lang="ko-KR" altLang="en-US"/>
              <a:t>의 값에 </a:t>
            </a:r>
            <a:r>
              <a:rPr lang="en-US" altLang="ko-KR"/>
              <a:t>Analyzer</a:t>
            </a:r>
            <a:r>
              <a:rPr lang="ko-KR" altLang="en-US"/>
              <a:t>가 적용되 듯</a:t>
            </a:r>
            <a:r>
              <a:rPr lang="en-US" altLang="ko-KR"/>
              <a:t>.</a:t>
            </a:r>
          </a:p>
          <a:p>
            <a:r>
              <a:rPr lang="en-US" altLang="ko-KR"/>
              <a:t>doc</a:t>
            </a:r>
            <a:r>
              <a:rPr lang="ko-KR" altLang="en-US"/>
              <a:t> </a:t>
            </a:r>
            <a:r>
              <a:rPr lang="en-US" altLang="ko-KR"/>
              <a:t>field </a:t>
            </a:r>
            <a:r>
              <a:rPr lang="ko-KR" altLang="en-US"/>
              <a:t>검색 시에 적용한 </a:t>
            </a:r>
            <a:r>
              <a:rPr lang="en-US" altLang="ko-KR"/>
              <a:t>Analyzer </a:t>
            </a:r>
            <a:r>
              <a:rPr lang="ko-KR" altLang="en-US"/>
              <a:t>가 적용되기에 저장한 동일한 </a:t>
            </a:r>
            <a:r>
              <a:rPr lang="en-US" altLang="ko-KR"/>
              <a:t>doc</a:t>
            </a:r>
            <a:r>
              <a:rPr lang="ko-KR" altLang="en-US"/>
              <a:t>의 정보를 가져올 수 있다</a:t>
            </a:r>
            <a:r>
              <a:rPr lang="en-US" altLang="ko-KR"/>
              <a:t>.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0570738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2AF3818-3B7B-7EE1-0399-794A552AD1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4000"/>
              <a:t>동의어 처리를 위한 </a:t>
            </a:r>
            <a:r>
              <a:rPr lang="en-US" altLang="ko-KR" sz="4000"/>
              <a:t>Synonym </a:t>
            </a:r>
            <a:r>
              <a:rPr lang="ko-KR" altLang="en-US" sz="4000"/>
              <a:t>필터 적용하기</a:t>
            </a:r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588A3EF9-D636-C3A5-B103-599CBB73140B}"/>
              </a:ext>
            </a:extLst>
          </p:cNvPr>
          <p:cNvGrpSpPr/>
          <p:nvPr/>
        </p:nvGrpSpPr>
        <p:grpSpPr>
          <a:xfrm>
            <a:off x="928076" y="1853700"/>
            <a:ext cx="4059562" cy="4971048"/>
            <a:chOff x="928076" y="1886952"/>
            <a:chExt cx="4059562" cy="4971048"/>
          </a:xfrm>
        </p:grpSpPr>
        <p:pic>
          <p:nvPicPr>
            <p:cNvPr id="4" name="그림 3">
              <a:extLst>
                <a:ext uri="{FF2B5EF4-FFF2-40B4-BE49-F238E27FC236}">
                  <a16:creationId xmlns:a16="http://schemas.microsoft.com/office/drawing/2014/main" id="{2282B2A7-9F1D-5975-085D-D72498ED31F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28076" y="1886952"/>
              <a:ext cx="4059562" cy="4971048"/>
            </a:xfrm>
            <a:prstGeom prst="rect">
              <a:avLst/>
            </a:prstGeom>
          </p:spPr>
        </p:pic>
        <p:grpSp>
          <p:nvGrpSpPr>
            <p:cNvPr id="7" name="그룹 6">
              <a:extLst>
                <a:ext uri="{FF2B5EF4-FFF2-40B4-BE49-F238E27FC236}">
                  <a16:creationId xmlns:a16="http://schemas.microsoft.com/office/drawing/2014/main" id="{646A2CF0-6EAA-AA32-60E7-8B51FC1FA1AE}"/>
                </a:ext>
              </a:extLst>
            </p:cNvPr>
            <p:cNvGrpSpPr/>
            <p:nvPr/>
          </p:nvGrpSpPr>
          <p:grpSpPr>
            <a:xfrm>
              <a:off x="1862051" y="2535382"/>
              <a:ext cx="2992582" cy="2280457"/>
              <a:chOff x="1862051" y="2535382"/>
              <a:chExt cx="2992582" cy="2280457"/>
            </a:xfrm>
          </p:grpSpPr>
          <p:sp>
            <p:nvSpPr>
              <p:cNvPr id="5" name="직사각형 4">
                <a:extLst>
                  <a:ext uri="{FF2B5EF4-FFF2-40B4-BE49-F238E27FC236}">
                    <a16:creationId xmlns:a16="http://schemas.microsoft.com/office/drawing/2014/main" id="{6A5D6D7D-281D-0962-B5DD-7D856BF39F58}"/>
                  </a:ext>
                </a:extLst>
              </p:cNvPr>
              <p:cNvSpPr/>
              <p:nvPr/>
            </p:nvSpPr>
            <p:spPr>
              <a:xfrm>
                <a:off x="1862051" y="2535382"/>
                <a:ext cx="2992582" cy="1213658"/>
              </a:xfrm>
              <a:prstGeom prst="rect">
                <a:avLst/>
              </a:prstGeom>
              <a:no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6" name="직사각형 5">
                <a:extLst>
                  <a:ext uri="{FF2B5EF4-FFF2-40B4-BE49-F238E27FC236}">
                    <a16:creationId xmlns:a16="http://schemas.microsoft.com/office/drawing/2014/main" id="{4D948448-6783-7745-5C94-590C0BE373BE}"/>
                  </a:ext>
                </a:extLst>
              </p:cNvPr>
              <p:cNvSpPr/>
              <p:nvPr/>
            </p:nvSpPr>
            <p:spPr>
              <a:xfrm>
                <a:off x="2909456" y="4613564"/>
                <a:ext cx="1288472" cy="202275"/>
              </a:xfrm>
              <a:prstGeom prst="rect">
                <a:avLst/>
              </a:prstGeom>
              <a:no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B9EFE9DE-D95C-DD16-3A6B-27007D9F6642}"/>
              </a:ext>
            </a:extLst>
          </p:cNvPr>
          <p:cNvSpPr txBox="1"/>
          <p:nvPr/>
        </p:nvSpPr>
        <p:spPr>
          <a:xfrm>
            <a:off x="5353396" y="1853700"/>
            <a:ext cx="6267797" cy="49398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>
              <a:buAutoNum type="arabicPeriod"/>
            </a:pPr>
            <a:r>
              <a:rPr lang="en-US" altLang="ko-KR" sz="1100"/>
              <a:t>"analysis" </a:t>
            </a:r>
            <a:r>
              <a:rPr lang="ko-KR" altLang="en-US" sz="1100"/>
              <a:t>내 </a:t>
            </a:r>
            <a:r>
              <a:rPr lang="en-US" altLang="ko-KR" sz="1100"/>
              <a:t>"analizer"</a:t>
            </a:r>
            <a:r>
              <a:rPr lang="ko-KR" altLang="en-US" sz="1100"/>
              <a:t>와 동일한 레벨에 </a:t>
            </a:r>
            <a:r>
              <a:rPr lang="en-US" altLang="ko-KR" sz="1100"/>
              <a:t>"filter" </a:t>
            </a:r>
            <a:r>
              <a:rPr lang="ko-KR" altLang="en-US" sz="1100"/>
              <a:t>정의</a:t>
            </a:r>
            <a:endParaRPr lang="en-US" altLang="ko-KR" sz="1100"/>
          </a:p>
          <a:p>
            <a:pPr marL="228600" indent="-228600">
              <a:buAutoNum type="arabicPeriod"/>
            </a:pPr>
            <a:r>
              <a:rPr lang="en-US" altLang="ko-KR" sz="1100"/>
              <a:t>filte</a:t>
            </a:r>
            <a:r>
              <a:rPr lang="ko-KR" altLang="en-US" sz="1100"/>
              <a:t>에 생성할 </a:t>
            </a:r>
            <a:r>
              <a:rPr lang="en-US" altLang="ko-KR" sz="1100"/>
              <a:t>filter </a:t>
            </a:r>
            <a:r>
              <a:rPr lang="ko-KR" altLang="en-US" sz="1100"/>
              <a:t>명 정의 </a:t>
            </a:r>
            <a:endParaRPr lang="en-US" altLang="ko-KR" sz="1100"/>
          </a:p>
          <a:p>
            <a:pPr marL="228600" indent="-228600">
              <a:buAutoNum type="arabicPeriod"/>
            </a:pPr>
            <a:r>
              <a:rPr lang="en-US" altLang="ko-KR" sz="1100"/>
              <a:t>filter</a:t>
            </a:r>
            <a:r>
              <a:rPr lang="ko-KR" altLang="en-US" sz="1100"/>
              <a:t>의 </a:t>
            </a:r>
            <a:r>
              <a:rPr lang="en-US" altLang="ko-KR" sz="1100"/>
              <a:t>"type"</a:t>
            </a:r>
            <a:r>
              <a:rPr lang="ko-KR" altLang="en-US" sz="1100"/>
              <a:t>은 </a:t>
            </a:r>
            <a:r>
              <a:rPr lang="en-US" altLang="ko-KR" sz="1100"/>
              <a:t>"synonym" </a:t>
            </a:r>
            <a:br>
              <a:rPr lang="en-US" altLang="ko-KR" sz="1100"/>
            </a:br>
            <a:r>
              <a:rPr lang="en-US" altLang="ko-KR" sz="1100"/>
              <a:t>"synonyms " </a:t>
            </a:r>
            <a:r>
              <a:rPr lang="ko-KR" altLang="en-US" sz="1100"/>
              <a:t>내 동일한 동의어를 </a:t>
            </a:r>
            <a:r>
              <a:rPr lang="en-US" altLang="ko-KR" sz="1100"/>
              <a:t>""  </a:t>
            </a:r>
            <a:r>
              <a:rPr lang="ko-KR" altLang="en-US" sz="1100"/>
              <a:t>쌍따옴표와 </a:t>
            </a:r>
            <a:r>
              <a:rPr lang="en-US" altLang="ko-KR" sz="1100"/>
              <a:t>, </a:t>
            </a:r>
            <a:r>
              <a:rPr lang="ko-KR" altLang="en-US" sz="1100"/>
              <a:t>쉼표를 통해 구분 및 정의한다</a:t>
            </a:r>
            <a:r>
              <a:rPr lang="en-US" altLang="ko-KR" sz="1100"/>
              <a:t>.</a:t>
            </a:r>
          </a:p>
          <a:p>
            <a:pPr marL="228600" indent="-228600">
              <a:buAutoNum type="arabicPeriod"/>
            </a:pPr>
            <a:endParaRPr lang="en-US" altLang="ko-KR" sz="1100"/>
          </a:p>
          <a:p>
            <a:r>
              <a:rPr lang="en-US" altLang="ko-KR" sz="1000"/>
              <a:t>{</a:t>
            </a:r>
          </a:p>
          <a:p>
            <a:r>
              <a:rPr lang="en-US" altLang="ko-KR" sz="1000"/>
              <a:t>	"settings" : {</a:t>
            </a:r>
          </a:p>
          <a:p>
            <a:r>
              <a:rPr lang="en-US" altLang="ko-KR" sz="1000"/>
              <a:t>		"analysis":{</a:t>
            </a:r>
          </a:p>
          <a:p>
            <a:r>
              <a:rPr lang="en-US" altLang="ko-KR" sz="1000"/>
              <a:t>			"filter" :{</a:t>
            </a:r>
          </a:p>
          <a:p>
            <a:r>
              <a:rPr lang="en-US" altLang="ko-KR" sz="1000"/>
              <a:t>				"product_synonym_filter" :{</a:t>
            </a:r>
          </a:p>
          <a:p>
            <a:r>
              <a:rPr lang="en-US" altLang="ko-KR" sz="1000"/>
              <a:t>					"type" : "synonym",</a:t>
            </a:r>
          </a:p>
          <a:p>
            <a:r>
              <a:rPr lang="en-US" altLang="ko-KR" sz="1000"/>
              <a:t>					"synonyms" : [</a:t>
            </a:r>
          </a:p>
          <a:p>
            <a:r>
              <a:rPr lang="en-US" altLang="ko-KR" sz="1000"/>
              <a:t>						"notebook, </a:t>
            </a:r>
            <a:r>
              <a:rPr lang="ko-KR" altLang="en-US" sz="1000"/>
              <a:t>노트북</a:t>
            </a:r>
            <a:r>
              <a:rPr lang="en-US" altLang="ko-KR" sz="1000"/>
              <a:t>, laptap, </a:t>
            </a:r>
            <a:r>
              <a:rPr lang="ko-KR" altLang="en-US" sz="1000"/>
              <a:t>랩탑</a:t>
            </a:r>
            <a:r>
              <a:rPr lang="en-US" altLang="ko-KR" sz="1000"/>
              <a:t>, </a:t>
            </a:r>
            <a:r>
              <a:rPr lang="ko-KR" altLang="en-US" sz="1000"/>
              <a:t>휴대용 컴퓨터</a:t>
            </a:r>
            <a:r>
              <a:rPr lang="en-US" altLang="ko-KR" sz="1000"/>
              <a:t>"</a:t>
            </a:r>
          </a:p>
          <a:p>
            <a:r>
              <a:rPr lang="en-US" altLang="ko-KR" sz="1000"/>
              <a:t>					]</a:t>
            </a:r>
          </a:p>
          <a:p>
            <a:r>
              <a:rPr lang="en-US" altLang="ko-KR" sz="1000"/>
              <a:t>				}</a:t>
            </a:r>
          </a:p>
          <a:p>
            <a:r>
              <a:rPr lang="en-US" altLang="ko-KR" sz="1000"/>
              <a:t>			},</a:t>
            </a:r>
          </a:p>
          <a:p>
            <a:r>
              <a:rPr lang="en-US" altLang="ko-KR" sz="1000"/>
              <a:t>			"analyzer" :{</a:t>
            </a:r>
          </a:p>
          <a:p>
            <a:r>
              <a:rPr lang="en-US" altLang="ko-KR" sz="1000"/>
              <a:t>				"product_name_analyzer" : {</a:t>
            </a:r>
          </a:p>
          <a:p>
            <a:pPr lvl="1"/>
            <a:r>
              <a:rPr lang="en-US" altLang="ko-KR" sz="1000"/>
              <a:t>				"char_filter" : ["html_strip"],</a:t>
            </a:r>
          </a:p>
          <a:p>
            <a:pPr lvl="1"/>
            <a:r>
              <a:rPr lang="en-US" altLang="ko-KR" sz="1000"/>
              <a:t>				"tokenizer" : "standard",</a:t>
            </a:r>
          </a:p>
          <a:p>
            <a:pPr lvl="1"/>
            <a:r>
              <a:rPr lang="en-US" altLang="ko-KR" sz="1000"/>
              <a:t>				"filter" : [</a:t>
            </a:r>
          </a:p>
          <a:p>
            <a:pPr lvl="1"/>
            <a:r>
              <a:rPr lang="en-US" altLang="ko-KR" sz="1000"/>
              <a:t>					"lowercase",</a:t>
            </a:r>
          </a:p>
          <a:p>
            <a:pPr lvl="1"/>
            <a:r>
              <a:rPr lang="en-US" altLang="ko-KR" sz="1000"/>
              <a:t>					"stop",</a:t>
            </a:r>
          </a:p>
          <a:p>
            <a:pPr lvl="1"/>
            <a:r>
              <a:rPr lang="en-US" altLang="ko-KR" sz="1000"/>
              <a:t>					"stemmer",</a:t>
            </a:r>
          </a:p>
          <a:p>
            <a:pPr lvl="1"/>
            <a:r>
              <a:rPr lang="en-US" altLang="ko-KR" sz="1000"/>
              <a:t>					" product_synonym_filter "</a:t>
            </a:r>
          </a:p>
          <a:p>
            <a:pPr lvl="1"/>
            <a:r>
              <a:rPr lang="en-US" altLang="ko-KR" sz="1000"/>
              <a:t>				]</a:t>
            </a:r>
          </a:p>
          <a:p>
            <a:pPr lvl="1"/>
            <a:r>
              <a:rPr lang="en-US" altLang="ko-KR" sz="1000"/>
              <a:t>			}</a:t>
            </a:r>
          </a:p>
          <a:p>
            <a:r>
              <a:rPr lang="en-US" altLang="ko-KR" sz="1000"/>
              <a:t>			}</a:t>
            </a:r>
          </a:p>
          <a:p>
            <a:r>
              <a:rPr lang="en-US" altLang="ko-KR" sz="1000"/>
              <a:t>		}</a:t>
            </a:r>
          </a:p>
          <a:p>
            <a:r>
              <a:rPr lang="en-US" altLang="ko-KR" sz="1000"/>
              <a:t>		</a:t>
            </a:r>
          </a:p>
          <a:p>
            <a:r>
              <a:rPr lang="en-US" altLang="ko-KR" sz="1000"/>
              <a:t>	}</a:t>
            </a:r>
            <a:endParaRPr lang="ko-KR" altLang="en-US" sz="1000"/>
          </a:p>
        </p:txBody>
      </p:sp>
    </p:spTree>
    <p:extLst>
      <p:ext uri="{BB962C8B-B14F-4D97-AF65-F5344CB8AC3E}">
        <p14:creationId xmlns:p14="http://schemas.microsoft.com/office/powerpoint/2010/main" val="66846341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0444AEC-F032-4F0F-F54A-37F697C3BE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동의어 처리 확인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C6CB0369-CAA8-70E6-C529-5F06684971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919661"/>
            <a:ext cx="2457793" cy="85737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401487E-D1D5-3D57-C768-702626C82B2D}"/>
              </a:ext>
            </a:extLst>
          </p:cNvPr>
          <p:cNvSpPr txBox="1"/>
          <p:nvPr/>
        </p:nvSpPr>
        <p:spPr>
          <a:xfrm>
            <a:off x="1097280" y="2826327"/>
            <a:ext cx="250213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/>
              <a:t>product</a:t>
            </a:r>
            <a:r>
              <a:rPr lang="ko-KR" altLang="en-US" sz="1400"/>
              <a:t>에 </a:t>
            </a:r>
            <a:r>
              <a:rPr lang="en-US" altLang="ko-KR" sz="1400"/>
              <a:t>document </a:t>
            </a:r>
            <a:r>
              <a:rPr lang="ko-KR" altLang="en-US" sz="1400"/>
              <a:t>등록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85818896-3A27-0311-C314-2E283265EE9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36013"/>
          <a:stretch>
            <a:fillRect/>
          </a:stretch>
        </p:blipFill>
        <p:spPr>
          <a:xfrm>
            <a:off x="4040502" y="1919661"/>
            <a:ext cx="2514951" cy="1450757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4BE335B-C5BF-FD39-B8BD-D832D659FB26}"/>
              </a:ext>
            </a:extLst>
          </p:cNvPr>
          <p:cNvSpPr txBox="1"/>
          <p:nvPr/>
        </p:nvSpPr>
        <p:spPr>
          <a:xfrm>
            <a:off x="4028384" y="3552719"/>
            <a:ext cx="252706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/>
              <a:t>동의어로 상품 </a:t>
            </a:r>
            <a:r>
              <a:rPr lang="en-US" altLang="ko-KR" sz="1200"/>
              <a:t>search</a:t>
            </a:r>
            <a:endParaRPr lang="ko-KR" altLang="en-US" sz="1200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59D1E274-056C-9EA9-D13E-E2E9E28944D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22383" y="1919661"/>
            <a:ext cx="2845319" cy="4319626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18543659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6585986-E427-B049-73BA-5654EF5A7D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동의어에 대한 </a:t>
            </a:r>
            <a:r>
              <a:rPr lang="en-US" altLang="ko-KR"/>
              <a:t>Analyzer </a:t>
            </a:r>
            <a:r>
              <a:rPr lang="ko-KR" altLang="en-US"/>
              <a:t>동작 확인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9109DF83-FF9B-F577-9571-7E08F974D8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4441" y="1979063"/>
            <a:ext cx="2457793" cy="838317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C7708282-89E8-424D-1B8C-8BDB528BF73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54688"/>
          <a:stretch>
            <a:fillRect/>
          </a:stretch>
        </p:blipFill>
        <p:spPr>
          <a:xfrm>
            <a:off x="6345635" y="1979064"/>
            <a:ext cx="2421979" cy="4212376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AD3EE695-61DD-A11F-BB3F-D2B5AF2D73D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-925" t="-559" r="925" b="45352"/>
          <a:stretch>
            <a:fillRect/>
          </a:stretch>
        </p:blipFill>
        <p:spPr>
          <a:xfrm>
            <a:off x="4108125" y="1979063"/>
            <a:ext cx="1987875" cy="4212376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42245D6-699A-FD1A-108C-7DE301491FAE}"/>
              </a:ext>
            </a:extLst>
          </p:cNvPr>
          <p:cNvSpPr txBox="1"/>
          <p:nvPr/>
        </p:nvSpPr>
        <p:spPr>
          <a:xfrm>
            <a:off x="1203266" y="2967335"/>
            <a:ext cx="252014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/>
              <a:t>동의어 또한 토큰으로 저장됨을 확인하였다</a:t>
            </a:r>
            <a:r>
              <a:rPr lang="en-US" altLang="ko-KR" sz="1200"/>
              <a:t>.</a:t>
            </a:r>
            <a:endParaRPr lang="ko-KR" altLang="en-US" sz="1200"/>
          </a:p>
        </p:txBody>
      </p:sp>
    </p:spTree>
    <p:extLst>
      <p:ext uri="{BB962C8B-B14F-4D97-AF65-F5344CB8AC3E}">
        <p14:creationId xmlns:p14="http://schemas.microsoft.com/office/powerpoint/2010/main" val="1994051542"/>
      </p:ext>
    </p:extLst>
  </p:cSld>
  <p:clrMapOvr>
    <a:masterClrMapping/>
  </p:clrMapOvr>
</p:sld>
</file>

<file path=ppt/theme/theme1.xml><?xml version="1.0" encoding="utf-8"?>
<a:theme xmlns:a="http://schemas.openxmlformats.org/drawingml/2006/main" name="추억">
  <a:themeElements>
    <a:clrScheme name="추억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추억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추억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244</TotalTime>
  <Words>1199</Words>
  <Application>Microsoft Office PowerPoint</Application>
  <PresentationFormat>와이드스크린</PresentationFormat>
  <Paragraphs>143</Paragraphs>
  <Slides>20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20</vt:i4>
      </vt:variant>
    </vt:vector>
  </HeadingPairs>
  <TitlesOfParts>
    <vt:vector size="24" baseType="lpstr">
      <vt:lpstr>Calibri</vt:lpstr>
      <vt:lpstr>Calibri Light</vt:lpstr>
      <vt:lpstr>Wingdings</vt:lpstr>
      <vt:lpstr>추억</vt:lpstr>
      <vt:lpstr>ElasticSearch 기본 검색 및 작동 원리</vt:lpstr>
      <vt:lpstr>실습을 위한 인덱스 생성</vt:lpstr>
      <vt:lpstr>ElasticSearch Kibana 실습 - 불규칙한 단어 순서 조회</vt:lpstr>
      <vt:lpstr>ElasticSearch 기본 검색 작동 원리 </vt:lpstr>
      <vt:lpstr>토큰 분리 세부 원리 - Analyzer </vt:lpstr>
      <vt:lpstr>자주 사용되는 Analyzer 필터와 토큰나이저</vt:lpstr>
      <vt:lpstr>Analyzer 저장 형태 확인 실습 - Kibana</vt:lpstr>
      <vt:lpstr>커스텀 애널라이저 적용</vt:lpstr>
      <vt:lpstr>커스텀 애널라이저 적용 DOC 검색</vt:lpstr>
      <vt:lpstr>Standard Analyzer에서 소문자검색시 대문자 정보도 검색되는이유-1</vt:lpstr>
      <vt:lpstr>Standard Analyzer에서 소문자검색시 대문자 정보도 검색되는이유-2</vt:lpstr>
      <vt:lpstr>ElasticSearch Document 검색에 html 태그 제외</vt:lpstr>
      <vt:lpstr>HTML 태그 함께 등록 후 HTML 태그로 Board정보 조회</vt:lpstr>
      <vt:lpstr>Boards 필드 Analyzer로 입력 문자 분석</vt:lpstr>
      <vt:lpstr>인덱스 내 필드 Analyzer를 통한 토큰 저장 형태 확인</vt:lpstr>
      <vt:lpstr>다양한 단어의 형태에 상관없이 검색</vt:lpstr>
      <vt:lpstr>다른 형태의 field 값을 검색 시 조회되는 이유. </vt:lpstr>
      <vt:lpstr>동의어 처리를 위한 Synonym 필터 적용하기</vt:lpstr>
      <vt:lpstr>동의어 처리 확인</vt:lpstr>
      <vt:lpstr>동의어에 대한 Analyzer 동작 확인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khb</dc:creator>
  <cp:lastModifiedBy>khb</cp:lastModifiedBy>
  <cp:revision>59</cp:revision>
  <dcterms:created xsi:type="dcterms:W3CDTF">2026-09-02T05:50:24Z</dcterms:created>
  <dcterms:modified xsi:type="dcterms:W3CDTF">2026-09-02T09:56:34Z</dcterms:modified>
</cp:coreProperties>
</file>