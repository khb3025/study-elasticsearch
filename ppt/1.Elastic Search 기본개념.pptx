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D150BC3-65E3-40DB-91B7-6166FC8265D5}">
          <p14:sldIdLst>
            <p14:sldId id="256"/>
            <p14:sldId id="257"/>
            <p14:sldId id="258"/>
            <p14:sldId id="259"/>
            <p14:sldId id="260"/>
          </p14:sldIdLst>
        </p14:section>
        <p14:section name="ElasticSearch 및 Kibana 설치 확인" id="{714AA5C2-12D9-476D-A33F-1AADF8B9C39B}">
          <p14:sldIdLst>
            <p14:sldId id="261"/>
          </p14:sldIdLst>
        </p14:section>
        <p14:section name="ElasticSearch 기본 용어" id="{FFD07987-3DF4-4675-B033-FE08291AD49F}">
          <p14:sldIdLst>
            <p14:sldId id="262"/>
          </p14:sldIdLst>
        </p14:section>
        <p14:section name="인덱스 생성" id="{68CC0FC5-E0AD-43E2-B0AF-D2295947DF39}">
          <p14:sldIdLst>
            <p14:sldId id="263"/>
          </p14:sldIdLst>
        </p14:section>
        <p14:section name="인덱스 Mapping 추가" id="{4EBD21E1-73DA-4AD0-8D3F-B37562544248}">
          <p14:sldIdLst>
            <p14:sldId id="264"/>
          </p14:sldIdLst>
        </p14:section>
        <p14:section name="인덱스 document 삽입 (row-insert)" id="{4D78D4B5-83B8-4C46-B51B-A37C106EBF3E}">
          <p14:sldIdLst>
            <p14:sldId id="265"/>
            <p14:sldId id="266"/>
          </p14:sldIdLst>
        </p14:section>
        <p14:section name="Merge (수정 및 삽입) 형식 doc등록" id="{9F2BB857-01C1-47D9-A1BD-30C9AA473255}">
          <p14:sldIdLst>
            <p14:sldId id="267"/>
            <p14:sldId id="268"/>
            <p14:sldId id="272"/>
          </p14:sldIdLst>
        </p14:section>
        <p14:section name="특정 Document 조회" id="{9779BDCA-6185-4DE7-AD08-4979EB6FEC05}">
          <p14:sldIdLst>
            <p14:sldId id="270"/>
          </p14:sldIdLst>
        </p14:section>
        <p14:section name="Document 삭제" id="{AF08F426-85F6-4521-A701-A68657DF2A29}">
          <p14:sldIdLst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19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81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20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33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8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88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21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0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69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6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9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07AC1B9-EA85-4B30-A016-B2885245D7C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C401D0-91CE-4366-930C-A11EDC223DF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94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9195E-2CA3-2445-F946-361C9DBB0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600"/>
              <a:t>Elastic Search </a:t>
            </a:r>
            <a:r>
              <a:rPr lang="ko-KR" altLang="en-US" sz="6600"/>
              <a:t>기본개념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E78210-2DA9-C491-2CEA-9CD7B7E17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26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0721A-BC79-880C-49BC-1340F2D6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정의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414B5-C861-D3DF-E878-5F523492892B}"/>
              </a:ext>
            </a:extLst>
          </p:cNvPr>
          <p:cNvSpPr txBox="1"/>
          <p:nvPr/>
        </p:nvSpPr>
        <p:spPr>
          <a:xfrm>
            <a:off x="1097280" y="1900489"/>
            <a:ext cx="6097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Elasticsearch </a:t>
            </a:r>
            <a:r>
              <a:rPr lang="ko-KR" altLang="en-US" sz="1600"/>
              <a:t>는 검색 </a:t>
            </a:r>
            <a:r>
              <a:rPr lang="en-US" altLang="ko-KR" sz="1600"/>
              <a:t>, </a:t>
            </a:r>
            <a:r>
              <a:rPr lang="ko-KR" altLang="en-US" sz="1600"/>
              <a:t>데이터 분석에 최적화된 데이터베이스이다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78A0D-C036-E421-EB75-DD966D246BB6}"/>
              </a:ext>
            </a:extLst>
          </p:cNvPr>
          <p:cNvSpPr txBox="1"/>
          <p:nvPr/>
        </p:nvSpPr>
        <p:spPr>
          <a:xfrm>
            <a:off x="1221971" y="3000895"/>
            <a:ext cx="624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ElasticSearch</a:t>
            </a:r>
            <a:r>
              <a:rPr lang="ko-KR" altLang="en-US"/>
              <a:t>의 주요 활용 사례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9F05BF-2E9F-C9E5-EAB0-1F571EA41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166" y="3429000"/>
            <a:ext cx="7141667" cy="32844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458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7D579-2FE4-6D71-D3F1-DC035AAD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Docker </a:t>
            </a:r>
            <a:r>
              <a:rPr lang="ko-KR" altLang="en-US"/>
              <a:t>설치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9E5FE-3B15-92AA-321B-555A0745A4C2}"/>
              </a:ext>
            </a:extLst>
          </p:cNvPr>
          <p:cNvSpPr txBox="1"/>
          <p:nvPr/>
        </p:nvSpPr>
        <p:spPr>
          <a:xfrm>
            <a:off x="1244831" y="1878078"/>
            <a:ext cx="896319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(compose.yml)</a:t>
            </a:r>
          </a:p>
          <a:p>
            <a:r>
              <a:rPr lang="ko-KR" altLang="en-US" sz="1400"/>
              <a:t>services:</a:t>
            </a:r>
          </a:p>
          <a:p>
            <a:r>
              <a:rPr lang="ko-KR" altLang="en-US" sz="1400"/>
              <a:t>  elastic:</a:t>
            </a:r>
          </a:p>
          <a:p>
            <a:r>
              <a:rPr lang="ko-KR" altLang="en-US" sz="1400"/>
              <a:t>    image: docker.elastic.co/elasticsearch/elasticsearch:8.17.4 # Elastic 8.17.4 버전의 이미지</a:t>
            </a:r>
          </a:p>
          <a:p>
            <a:r>
              <a:rPr lang="ko-KR" altLang="en-US" sz="1400"/>
              <a:t>    ports:</a:t>
            </a:r>
          </a:p>
          <a:p>
            <a:r>
              <a:rPr lang="ko-KR" altLang="en-US" sz="1400"/>
              <a:t>      - 9200:9200 # 9200번 포트에서 Elasticsearch 실행</a:t>
            </a:r>
          </a:p>
          <a:p>
            <a:r>
              <a:rPr lang="ko-KR" altLang="en-US" sz="1400"/>
              <a:t>    environment:</a:t>
            </a:r>
          </a:p>
          <a:p>
            <a:r>
              <a:rPr lang="ko-KR" altLang="en-US" sz="1400"/>
              <a:t>      # 아래 설정은 개발/테스트 환경에서 간단하게 테스트하기 위한 옵션 (운영 환경에서는 설정하면 안 됨)</a:t>
            </a:r>
          </a:p>
          <a:p>
            <a:r>
              <a:rPr lang="ko-KR" altLang="en-US" sz="1400"/>
              <a:t>      - discovery.type=single-node # 단일 노드 (지금은 알 필요 없음)</a:t>
            </a:r>
          </a:p>
          <a:p>
            <a:r>
              <a:rPr lang="ko-KR" altLang="en-US" sz="1400"/>
              <a:t>      - xpack.security.enabled=false # 보안 설정</a:t>
            </a:r>
          </a:p>
          <a:p>
            <a:r>
              <a:rPr lang="ko-KR" altLang="en-US" sz="1400"/>
              <a:t>      - xpack.security.http.ssl.enabled=false # 보안 설정</a:t>
            </a:r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(</a:t>
            </a:r>
            <a:r>
              <a:rPr lang="ko-KR" altLang="en-US" sz="1400"/>
              <a:t>도커 컨테이너 생성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docker</a:t>
            </a:r>
            <a:r>
              <a:rPr lang="ko-KR" altLang="en-US" sz="1400"/>
              <a:t> </a:t>
            </a:r>
            <a:r>
              <a:rPr lang="en-US" altLang="ko-KR" sz="1400"/>
              <a:t>compose</a:t>
            </a:r>
            <a:r>
              <a:rPr lang="ko-KR" altLang="en-US" sz="1400"/>
              <a:t> </a:t>
            </a:r>
            <a:r>
              <a:rPr lang="en-US" altLang="ko-KR" sz="1400"/>
              <a:t>up</a:t>
            </a: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3625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DE4C-F32D-C57A-80A3-2390B02D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작동 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242DB3-987E-3EE7-A5ED-2FDE336B2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84" y="1939154"/>
            <a:ext cx="4865716" cy="24895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E1B52A7-6AFE-7C28-D886-2C4F83A4C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392" y="1812174"/>
            <a:ext cx="4321610" cy="2290138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86715D0-2CDD-823C-BE17-F5F6DEA70F89}"/>
              </a:ext>
            </a:extLst>
          </p:cNvPr>
          <p:cNvGrpSpPr/>
          <p:nvPr/>
        </p:nvGrpSpPr>
        <p:grpSpPr>
          <a:xfrm>
            <a:off x="6399392" y="4177126"/>
            <a:ext cx="5215732" cy="2104929"/>
            <a:chOff x="6399392" y="4102312"/>
            <a:chExt cx="5215732" cy="210492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CA47135-6449-04B0-B09C-367B36298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9392" y="4102312"/>
              <a:ext cx="1441390" cy="109213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37AB3CC-3C00-20A1-D7E0-DEDCDAE65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7178" y="5194442"/>
              <a:ext cx="5097946" cy="1012799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9DFF834-F058-962A-37F1-B37FBAFBCB1E}"/>
              </a:ext>
            </a:extLst>
          </p:cNvPr>
          <p:cNvSpPr txBox="1"/>
          <p:nvPr/>
        </p:nvSpPr>
        <p:spPr>
          <a:xfrm>
            <a:off x="1230284" y="4588625"/>
            <a:ext cx="4865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DB</a:t>
            </a:r>
            <a:r>
              <a:rPr lang="ko-KR" altLang="en-US" sz="1200"/>
              <a:t>에 </a:t>
            </a:r>
            <a:r>
              <a:rPr lang="en-US" altLang="ko-KR" sz="1200"/>
              <a:t>SQL</a:t>
            </a:r>
            <a:r>
              <a:rPr lang="ko-KR" altLang="en-US" sz="1200"/>
              <a:t>문을 작성하여 저장된 정보를 가져오듯</a:t>
            </a:r>
            <a:endParaRPr lang="en-US" altLang="ko-KR" sz="1200"/>
          </a:p>
          <a:p>
            <a:r>
              <a:rPr lang="en-US" altLang="ko-KR" sz="1200"/>
              <a:t>ElasticSeach </a:t>
            </a:r>
            <a:r>
              <a:rPr lang="ko-KR" altLang="en-US" sz="1200"/>
              <a:t>는 </a:t>
            </a:r>
            <a:r>
              <a:rPr lang="en-US" altLang="ko-KR" sz="1200"/>
              <a:t>Rest API </a:t>
            </a:r>
            <a:r>
              <a:rPr lang="ko-KR" altLang="en-US" sz="1200"/>
              <a:t>통신을 통해 정보를 검색해 온다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2807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F4C65-F3C4-558D-A8D9-23614BE1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편의성 툴</a:t>
            </a:r>
            <a:r>
              <a:rPr lang="en-US" altLang="ko-KR"/>
              <a:t>(Kibana </a:t>
            </a:r>
            <a:r>
              <a:rPr lang="ko-KR" altLang="en-US"/>
              <a:t>설치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71006-E64E-1483-41E5-09D6C092BD8A}"/>
              </a:ext>
            </a:extLst>
          </p:cNvPr>
          <p:cNvSpPr txBox="1"/>
          <p:nvPr/>
        </p:nvSpPr>
        <p:spPr>
          <a:xfrm>
            <a:off x="1188720" y="1878676"/>
            <a:ext cx="754795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CLI </a:t>
            </a:r>
            <a:r>
              <a:rPr lang="ko-KR" altLang="en-US" sz="1200"/>
              <a:t>환경에서 </a:t>
            </a:r>
            <a:r>
              <a:rPr lang="en-US" altLang="ko-KR" sz="1200"/>
              <a:t>DB </a:t>
            </a:r>
            <a:r>
              <a:rPr lang="ko-KR" altLang="en-US" sz="1200"/>
              <a:t>검색이나 조작이 불편하듯</a:t>
            </a:r>
            <a:r>
              <a:rPr lang="en-US" altLang="ko-KR" sz="1200"/>
              <a:t>, ElasticSearch </a:t>
            </a:r>
            <a:r>
              <a:rPr lang="ko-KR" altLang="en-US" sz="1200"/>
              <a:t>또한 </a:t>
            </a:r>
            <a:r>
              <a:rPr lang="en-US" altLang="ko-KR" sz="1200"/>
              <a:t>CLI </a:t>
            </a:r>
            <a:r>
              <a:rPr lang="ko-KR" altLang="en-US" sz="1200"/>
              <a:t>환경에서 조작하기 매우 불편하다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이러한 편의성 개선을 위하여 </a:t>
            </a:r>
            <a:r>
              <a:rPr lang="en-US" altLang="ko-KR" sz="1200"/>
              <a:t>Kibana</a:t>
            </a:r>
            <a:r>
              <a:rPr lang="ko-KR" altLang="en-US" sz="1200"/>
              <a:t>라는 </a:t>
            </a:r>
            <a:r>
              <a:rPr lang="en-US" altLang="ko-KR" sz="1200"/>
              <a:t>GUI</a:t>
            </a:r>
            <a:r>
              <a:rPr lang="ko-KR" altLang="en-US" sz="1200"/>
              <a:t>툴을 주로 사용한다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(compose.yml </a:t>
            </a:r>
            <a:r>
              <a:rPr lang="ko-KR" altLang="en-US" sz="1200"/>
              <a:t>에 </a:t>
            </a:r>
            <a:r>
              <a:rPr lang="en-US" altLang="ko-KR" sz="1200"/>
              <a:t>Kibana </a:t>
            </a:r>
            <a:r>
              <a:rPr lang="ko-KR" altLang="en-US" sz="1200"/>
              <a:t>서비스 추가</a:t>
            </a:r>
            <a:r>
              <a:rPr lang="en-US" altLang="ko-KR" sz="1200"/>
              <a:t>)</a:t>
            </a:r>
          </a:p>
          <a:p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0EA7F-1934-8BE3-5261-B4033F1A1E6C}"/>
              </a:ext>
            </a:extLst>
          </p:cNvPr>
          <p:cNvSpPr txBox="1"/>
          <p:nvPr/>
        </p:nvSpPr>
        <p:spPr>
          <a:xfrm>
            <a:off x="1199804" y="4922434"/>
            <a:ext cx="7766166" cy="115980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kibana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docker.elastic.co/kibana/kibana:8.17.4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8.17.4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버전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5601:5601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5601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번 포트에서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kibana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실행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ELASTICSEARCH_HOSTS=http://elastic:9200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kibana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가 통신할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Elasticsearch </a:t>
            </a:r>
            <a:r>
              <a:rPr lang="ko-KR" altLang="en-US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주소 알려주기</a:t>
            </a:r>
            <a:endParaRPr lang="ko-KR" altLang="en-US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DBEC3C-0FF4-F880-B919-B064EA83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452551"/>
            <a:ext cx="8916644" cy="1952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3101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0D2FB-6F4F-A9FF-1013-904F0339A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/ Kibana </a:t>
            </a:r>
            <a:r>
              <a:rPr lang="ko-KR" altLang="en-US"/>
              <a:t>설치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A7DB89-CBCB-CDFF-DE9E-8BF1DC1C3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74" y="1880707"/>
            <a:ext cx="2772162" cy="685896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7867234D-6E13-AA9B-24E9-85EE56BFAC51}"/>
              </a:ext>
            </a:extLst>
          </p:cNvPr>
          <p:cNvGrpSpPr/>
          <p:nvPr/>
        </p:nvGrpSpPr>
        <p:grpSpPr>
          <a:xfrm>
            <a:off x="1218574" y="2639483"/>
            <a:ext cx="3094336" cy="4218517"/>
            <a:chOff x="1218574" y="2639483"/>
            <a:chExt cx="3094336" cy="421851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27226D4-5DC6-EC1D-2BE4-91A6A60D9674}"/>
                </a:ext>
              </a:extLst>
            </p:cNvPr>
            <p:cNvGrpSpPr/>
            <p:nvPr/>
          </p:nvGrpSpPr>
          <p:grpSpPr>
            <a:xfrm>
              <a:off x="1218574" y="2639483"/>
              <a:ext cx="3094336" cy="4218517"/>
              <a:chOff x="1218574" y="2639483"/>
              <a:chExt cx="3094336" cy="4218517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453F0C8F-700B-6344-AC7D-7474D82EB3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8574" y="2639483"/>
                <a:ext cx="3094336" cy="4218517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02D1D62E-86BA-A331-189D-5EB3C83DF3B9}"/>
                  </a:ext>
                </a:extLst>
              </p:cNvPr>
              <p:cNvSpPr/>
              <p:nvPr/>
            </p:nvSpPr>
            <p:spPr>
              <a:xfrm>
                <a:off x="1218574" y="4696691"/>
                <a:ext cx="3094336" cy="21613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C81D73-A0AA-2E36-3FDC-4A8382435029}"/>
                </a:ext>
              </a:extLst>
            </p:cNvPr>
            <p:cNvSpPr txBox="1"/>
            <p:nvPr/>
          </p:nvSpPr>
          <p:spPr>
            <a:xfrm>
              <a:off x="1363287" y="3773978"/>
              <a:ext cx="27764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>
                  <a:solidFill>
                    <a:srgbClr val="FF0000"/>
                  </a:solidFill>
                </a:rPr>
                <a:t>POSTMAN </a:t>
              </a:r>
              <a:r>
                <a:rPr lang="ko-KR" altLang="en-US" sz="1200" b="1">
                  <a:solidFill>
                    <a:srgbClr val="FF0000"/>
                  </a:solidFill>
                </a:rPr>
                <a:t>요청</a:t>
              </a:r>
              <a:br>
                <a:rPr lang="en-US" altLang="ko-KR" sz="1200" b="1">
                  <a:solidFill>
                    <a:srgbClr val="FF0000"/>
                  </a:solidFill>
                </a:rPr>
              </a:br>
              <a:r>
                <a:rPr lang="en-US" altLang="ko-KR" sz="1200" b="1">
                  <a:solidFill>
                    <a:srgbClr val="FF0000"/>
                  </a:solidFill>
                </a:rPr>
                <a:t>ElasticSearch</a:t>
              </a:r>
              <a:r>
                <a:rPr lang="ko-KR" altLang="en-US" sz="1200" b="1">
                  <a:solidFill>
                    <a:srgbClr val="FF0000"/>
                  </a:solidFill>
                </a:rPr>
                <a:t>는 </a:t>
              </a:r>
              <a:r>
                <a:rPr lang="en-US" altLang="ko-KR" sz="1200" b="1">
                  <a:solidFill>
                    <a:srgbClr val="FF0000"/>
                  </a:solidFill>
                </a:rPr>
                <a:t>9200</a:t>
              </a:r>
              <a:r>
                <a:rPr lang="ko-KR" altLang="en-US" sz="1200" b="1">
                  <a:solidFill>
                    <a:srgbClr val="FF0000"/>
                  </a:solidFill>
                </a:rPr>
                <a:t>포트에서 실행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F759707-B726-F95C-62B3-2D0AC604B3F8}"/>
              </a:ext>
            </a:extLst>
          </p:cNvPr>
          <p:cNvGrpSpPr/>
          <p:nvPr/>
        </p:nvGrpSpPr>
        <p:grpSpPr>
          <a:xfrm>
            <a:off x="4671992" y="1880707"/>
            <a:ext cx="2857733" cy="4869228"/>
            <a:chOff x="4671992" y="1880707"/>
            <a:chExt cx="2857733" cy="486922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0F4A39A-7673-6EA6-A989-C7F2A6068FB0}"/>
                </a:ext>
              </a:extLst>
            </p:cNvPr>
            <p:cNvGrpSpPr/>
            <p:nvPr/>
          </p:nvGrpSpPr>
          <p:grpSpPr>
            <a:xfrm>
              <a:off x="4671992" y="1880707"/>
              <a:ext cx="2857733" cy="4869228"/>
              <a:chOff x="4671992" y="1880707"/>
              <a:chExt cx="2857733" cy="4869228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900F1496-20BD-A28E-F6BD-59B8F82BB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1992" y="1880707"/>
                <a:ext cx="1295581" cy="400106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70FAD5DD-A4F3-401C-351D-41F5C72DC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6000" y="1880707"/>
                <a:ext cx="1433725" cy="4869228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89C74B3-B7EE-7551-226E-A90D6D51182A}"/>
                  </a:ext>
                </a:extLst>
              </p:cNvPr>
              <p:cNvSpPr/>
              <p:nvPr/>
            </p:nvSpPr>
            <p:spPr>
              <a:xfrm>
                <a:off x="6096000" y="5877098"/>
                <a:ext cx="670560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ACB4AB6-E890-A1E4-2C76-E6F3AEEA0B6C}"/>
                </a:ext>
              </a:extLst>
            </p:cNvPr>
            <p:cNvSpPr/>
            <p:nvPr/>
          </p:nvSpPr>
          <p:spPr>
            <a:xfrm>
              <a:off x="6159730" y="2097931"/>
              <a:ext cx="232757" cy="1828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F674817-09BC-BCE8-46CA-BCEC2DD3C757}"/>
              </a:ext>
            </a:extLst>
          </p:cNvPr>
          <p:cNvGrpSpPr/>
          <p:nvPr/>
        </p:nvGrpSpPr>
        <p:grpSpPr>
          <a:xfrm>
            <a:off x="7593455" y="1880707"/>
            <a:ext cx="4368560" cy="621590"/>
            <a:chOff x="7593455" y="1880707"/>
            <a:chExt cx="4368560" cy="62159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BDD7BAF-FEA0-FFAC-44C3-8FBE97EF9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93455" y="1880707"/>
              <a:ext cx="4368560" cy="621590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C2465B-EE4C-149E-5D74-95695A128A6E}"/>
                </a:ext>
              </a:extLst>
            </p:cNvPr>
            <p:cNvSpPr/>
            <p:nvPr/>
          </p:nvSpPr>
          <p:spPr>
            <a:xfrm>
              <a:off x="11646131" y="2280812"/>
              <a:ext cx="232756" cy="2214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3CFB982E-A9CA-61BE-B9EE-0CAA090BC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4431" y="2566603"/>
            <a:ext cx="3471249" cy="21937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78B42B-F998-6DFB-5BD8-FF90DDEC437F}"/>
              </a:ext>
            </a:extLst>
          </p:cNvPr>
          <p:cNvSpPr txBox="1"/>
          <p:nvPr/>
        </p:nvSpPr>
        <p:spPr>
          <a:xfrm>
            <a:off x="7593455" y="4887884"/>
            <a:ext cx="45985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Kibana </a:t>
            </a:r>
            <a:r>
              <a:rPr lang="ko-KR" altLang="en-US" sz="1200"/>
              <a:t>는 </a:t>
            </a:r>
            <a:r>
              <a:rPr lang="en-US" altLang="ko-KR" sz="1200"/>
              <a:t>5601 </a:t>
            </a:r>
            <a:r>
              <a:rPr lang="ko-KR" altLang="en-US" sz="1200"/>
              <a:t>포트로 실행된다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Kibana</a:t>
            </a:r>
            <a:r>
              <a:rPr lang="ko-KR" altLang="en-US" sz="1200"/>
              <a:t>로 요청을 전달하면 </a:t>
            </a:r>
            <a:r>
              <a:rPr lang="en-US" altLang="ko-KR" sz="1200"/>
              <a:t>ElasticSearch </a:t>
            </a:r>
            <a:r>
              <a:rPr lang="ko-KR" altLang="en-US" sz="1200"/>
              <a:t>로 요청을 </a:t>
            </a:r>
            <a:r>
              <a:rPr lang="en-US" altLang="ko-KR" sz="1200"/>
              <a:t>bypass</a:t>
            </a:r>
            <a:r>
              <a:rPr lang="ko-KR" altLang="en-US" sz="1200"/>
              <a:t> 하여</a:t>
            </a:r>
            <a:r>
              <a:rPr lang="en-US" altLang="ko-KR" sz="1200"/>
              <a:t>,</a:t>
            </a:r>
          </a:p>
          <a:p>
            <a:r>
              <a:rPr lang="ko-KR" altLang="en-US" sz="1200"/>
              <a:t>결과를 보여준다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34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37612-CC00-A474-68D8-D25B57DA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기본 용어 정리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2EE90F-BDAB-6C3F-1E60-DEEFCFEA6FB4}"/>
              </a:ext>
            </a:extLst>
          </p:cNvPr>
          <p:cNvGrpSpPr/>
          <p:nvPr/>
        </p:nvGrpSpPr>
        <p:grpSpPr>
          <a:xfrm>
            <a:off x="588285" y="1780945"/>
            <a:ext cx="10737663" cy="1700820"/>
            <a:chOff x="588285" y="1780945"/>
            <a:chExt cx="10737663" cy="170082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F52E62B-B276-BD18-C22C-8A3B47D8D644}"/>
                </a:ext>
              </a:extLst>
            </p:cNvPr>
            <p:cNvGrpSpPr/>
            <p:nvPr/>
          </p:nvGrpSpPr>
          <p:grpSpPr>
            <a:xfrm>
              <a:off x="588285" y="1780945"/>
              <a:ext cx="10737663" cy="1648055"/>
              <a:chOff x="588285" y="1780945"/>
              <a:chExt cx="10737663" cy="1648055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CA9D07ED-CB2E-E4F0-5309-0EBF4370790F}"/>
                  </a:ext>
                </a:extLst>
              </p:cNvPr>
              <p:cNvGrpSpPr/>
              <p:nvPr/>
            </p:nvGrpSpPr>
            <p:grpSpPr>
              <a:xfrm>
                <a:off x="588285" y="1780945"/>
                <a:ext cx="10737663" cy="1648055"/>
                <a:chOff x="588285" y="1780945"/>
                <a:chExt cx="10737663" cy="1648055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840C368E-0F55-BA92-9DA2-2D7811EF0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88285" y="1923840"/>
                  <a:ext cx="4982271" cy="1452396"/>
                </a:xfrm>
                <a:prstGeom prst="rect">
                  <a:avLst/>
                </a:prstGeom>
              </p:spPr>
            </p:pic>
            <p:pic>
              <p:nvPicPr>
                <p:cNvPr id="6" name="그림 5">
                  <a:extLst>
                    <a:ext uri="{FF2B5EF4-FFF2-40B4-BE49-F238E27FC236}">
                      <a16:creationId xmlns:a16="http://schemas.microsoft.com/office/drawing/2014/main" id="{848DD19B-6B04-0ACC-EC03-E0B76D8D82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43678" y="1780945"/>
                  <a:ext cx="4982270" cy="1648055"/>
                </a:xfrm>
                <a:prstGeom prst="rect">
                  <a:avLst/>
                </a:prstGeom>
              </p:spPr>
            </p:pic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4CF0D1BA-DCDB-CD54-C9EF-5FEA9EC1BF2B}"/>
                    </a:ext>
                  </a:extLst>
                </p:cNvPr>
                <p:cNvSpPr/>
                <p:nvPr/>
              </p:nvSpPr>
              <p:spPr>
                <a:xfrm>
                  <a:off x="2177935" y="2604972"/>
                  <a:ext cx="1562792" cy="19641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B8B589B3-D01E-E186-E82C-E600131742E5}"/>
                    </a:ext>
                  </a:extLst>
                </p:cNvPr>
                <p:cNvSpPr/>
                <p:nvPr/>
              </p:nvSpPr>
              <p:spPr>
                <a:xfrm>
                  <a:off x="8053417" y="2519391"/>
                  <a:ext cx="1562792" cy="19641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E56C0BE-D226-1F0E-5E4C-52908E5583B9}"/>
                  </a:ext>
                </a:extLst>
              </p:cNvPr>
              <p:cNvSpPr/>
              <p:nvPr/>
            </p:nvSpPr>
            <p:spPr>
              <a:xfrm>
                <a:off x="3566160" y="2801389"/>
                <a:ext cx="1155469" cy="29925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13D53B1-D378-DE0E-A05A-D146D138B654}"/>
                  </a:ext>
                </a:extLst>
              </p:cNvPr>
              <p:cNvSpPr/>
              <p:nvPr/>
            </p:nvSpPr>
            <p:spPr>
              <a:xfrm>
                <a:off x="9476509" y="2773146"/>
                <a:ext cx="1216429" cy="29925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87A1416-08BF-469D-137B-0D42AC84A6F7}"/>
                </a:ext>
              </a:extLst>
            </p:cNvPr>
            <p:cNvSpPr/>
            <p:nvPr/>
          </p:nvSpPr>
          <p:spPr>
            <a:xfrm>
              <a:off x="1216429" y="3182507"/>
              <a:ext cx="1155469" cy="29925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F1F5FF-2C9B-5873-18EF-DC9D2360CBB0}"/>
                </a:ext>
              </a:extLst>
            </p:cNvPr>
            <p:cNvSpPr/>
            <p:nvPr/>
          </p:nvSpPr>
          <p:spPr>
            <a:xfrm>
              <a:off x="6897948" y="3072404"/>
              <a:ext cx="1155469" cy="29925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8F14C21B-D871-BE14-3936-A40542A14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70" y="3862883"/>
            <a:ext cx="7302459" cy="21746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998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A83B6-FFA7-926B-37FE-0C87D5C2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Kibana</a:t>
            </a:r>
            <a:r>
              <a:rPr lang="ko-KR" altLang="en-US"/>
              <a:t>를 통한 인덱스 생성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A922682-7D98-35B3-9407-890F4EB213AE}"/>
              </a:ext>
            </a:extLst>
          </p:cNvPr>
          <p:cNvGrpSpPr/>
          <p:nvPr/>
        </p:nvGrpSpPr>
        <p:grpSpPr>
          <a:xfrm>
            <a:off x="1097280" y="1834955"/>
            <a:ext cx="5856791" cy="1502365"/>
            <a:chOff x="1097280" y="1834955"/>
            <a:chExt cx="5856791" cy="15023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DC4405C-F55E-164C-3AE0-DF322679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34955"/>
              <a:ext cx="2238687" cy="114316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0E8BF0-DC91-8CBE-5228-102EE137BDFA}"/>
                </a:ext>
              </a:extLst>
            </p:cNvPr>
            <p:cNvSpPr txBox="1"/>
            <p:nvPr/>
          </p:nvSpPr>
          <p:spPr>
            <a:xfrm>
              <a:off x="1097280" y="3075710"/>
              <a:ext cx="25215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/>
                <a:t>실행 </a:t>
              </a:r>
              <a:r>
                <a:rPr lang="en-US" altLang="ko-KR" sz="1100" b="1"/>
                <a:t>: Ctrl + Enter </a:t>
              </a:r>
              <a:r>
                <a:rPr lang="ko-KR" altLang="en-US" sz="1100" b="1"/>
                <a:t>또는 실행 버튼 클릭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DC5CDCA-8CAC-E206-A8FB-78CE14353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8014" y="1834955"/>
              <a:ext cx="3096057" cy="962159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193E72-D5EF-A365-3175-9475C76D96E8}"/>
              </a:ext>
            </a:extLst>
          </p:cNvPr>
          <p:cNvSpPr txBox="1"/>
          <p:nvPr/>
        </p:nvSpPr>
        <p:spPr>
          <a:xfrm>
            <a:off x="1097280" y="3616036"/>
            <a:ext cx="413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인덱스</a:t>
            </a:r>
            <a:r>
              <a:rPr lang="en-US" altLang="ko-KR" sz="1100"/>
              <a:t>(DB:</a:t>
            </a:r>
            <a:r>
              <a:rPr lang="ko-KR" altLang="en-US" sz="1100"/>
              <a:t>테이블</a:t>
            </a:r>
            <a:r>
              <a:rPr lang="en-US" altLang="ko-KR" sz="1100"/>
              <a:t>) </a:t>
            </a:r>
            <a:r>
              <a:rPr lang="ko-KR" altLang="en-US"/>
              <a:t>생성 확인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E667A3-33CF-7777-C48B-727EBB277667}"/>
              </a:ext>
            </a:extLst>
          </p:cNvPr>
          <p:cNvGrpSpPr/>
          <p:nvPr/>
        </p:nvGrpSpPr>
        <p:grpSpPr>
          <a:xfrm>
            <a:off x="1097280" y="4124477"/>
            <a:ext cx="2238687" cy="1024941"/>
            <a:chOff x="1097280" y="4124477"/>
            <a:chExt cx="2238687" cy="102494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01BE3AD-F1C5-8BA3-B9FA-C4F2F0AC9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4124477"/>
              <a:ext cx="2238687" cy="102494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1DCC9B9-6437-6365-0312-7366A604EA5B}"/>
                </a:ext>
              </a:extLst>
            </p:cNvPr>
            <p:cNvSpPr/>
            <p:nvPr/>
          </p:nvSpPr>
          <p:spPr>
            <a:xfrm>
              <a:off x="1313411" y="4804756"/>
              <a:ext cx="1737360" cy="3446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848C429F-892A-FF25-BB06-992C73AEA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014" y="3985368"/>
            <a:ext cx="2395453" cy="269627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880583-F2E6-7A11-47F7-661969A678C0}"/>
              </a:ext>
            </a:extLst>
          </p:cNvPr>
          <p:cNvSpPr/>
          <p:nvPr/>
        </p:nvSpPr>
        <p:spPr>
          <a:xfrm>
            <a:off x="1014153" y="1834955"/>
            <a:ext cx="5939918" cy="1240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D95FC9-B319-7E47-BC83-7B16D41016B8}"/>
              </a:ext>
            </a:extLst>
          </p:cNvPr>
          <p:cNvSpPr/>
          <p:nvPr/>
        </p:nvSpPr>
        <p:spPr>
          <a:xfrm>
            <a:off x="1014153" y="3985368"/>
            <a:ext cx="5370022" cy="26962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87D38CF-7399-9E04-1799-6783C2F51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061" y="1863653"/>
            <a:ext cx="1314633" cy="209579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41058DC-14E4-78C4-AF30-8ACDDFFD8D0C}"/>
              </a:ext>
            </a:extLst>
          </p:cNvPr>
          <p:cNvGrpSpPr/>
          <p:nvPr/>
        </p:nvGrpSpPr>
        <p:grpSpPr>
          <a:xfrm>
            <a:off x="7107383" y="1737360"/>
            <a:ext cx="2967642" cy="3559011"/>
            <a:chOff x="7107382" y="1737360"/>
            <a:chExt cx="3771207" cy="4362928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4BF5065D-5796-31CD-AE1E-A9CDB752E137}"/>
                </a:ext>
              </a:extLst>
            </p:cNvPr>
            <p:cNvGrpSpPr/>
            <p:nvPr/>
          </p:nvGrpSpPr>
          <p:grpSpPr>
            <a:xfrm>
              <a:off x="7107382" y="1737360"/>
              <a:ext cx="3771207" cy="3965171"/>
              <a:chOff x="7107382" y="1737360"/>
              <a:chExt cx="3771207" cy="3965171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B4DD27A7-4653-311B-17E4-DA16FD1725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4061" y="2145374"/>
                <a:ext cx="3326310" cy="3401908"/>
              </a:xfrm>
              <a:prstGeom prst="rect">
                <a:avLst/>
              </a:prstGeom>
            </p:spPr>
          </p:pic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E3BA80D-18F0-C634-02D6-51F127F6BA78}"/>
                  </a:ext>
                </a:extLst>
              </p:cNvPr>
              <p:cNvSpPr/>
              <p:nvPr/>
            </p:nvSpPr>
            <p:spPr>
              <a:xfrm>
                <a:off x="8096596" y="2797114"/>
                <a:ext cx="2294313" cy="2095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EA756B2C-8CC2-4A57-D12A-9263545EFED5}"/>
                  </a:ext>
                </a:extLst>
              </p:cNvPr>
              <p:cNvSpPr/>
              <p:nvPr/>
            </p:nvSpPr>
            <p:spPr>
              <a:xfrm>
                <a:off x="7107382" y="1737360"/>
                <a:ext cx="3771207" cy="39651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A990AD-E297-9EF7-6C55-D0D4DE79E728}"/>
                </a:ext>
              </a:extLst>
            </p:cNvPr>
            <p:cNvSpPr txBox="1"/>
            <p:nvPr/>
          </p:nvSpPr>
          <p:spPr>
            <a:xfrm>
              <a:off x="7107382" y="5760720"/>
              <a:ext cx="3771207" cy="339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/>
                <a:t> </a:t>
              </a:r>
              <a:r>
                <a:rPr lang="ko-KR" altLang="en-US" sz="1200" b="1"/>
                <a:t>존재하지 않는 인덱스 확인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5E15CE1-CD10-19EE-1AD3-2E0492F67355}"/>
              </a:ext>
            </a:extLst>
          </p:cNvPr>
          <p:cNvGrpSpPr/>
          <p:nvPr/>
        </p:nvGrpSpPr>
        <p:grpSpPr>
          <a:xfrm>
            <a:off x="7107383" y="5373873"/>
            <a:ext cx="4425775" cy="1089032"/>
            <a:chOff x="7107383" y="5373873"/>
            <a:chExt cx="4425775" cy="1089032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ABC6A1-7123-B3F3-747C-0BF863577BFD}"/>
                </a:ext>
              </a:extLst>
            </p:cNvPr>
            <p:cNvGrpSpPr/>
            <p:nvPr/>
          </p:nvGrpSpPr>
          <p:grpSpPr>
            <a:xfrm>
              <a:off x="7107383" y="5373873"/>
              <a:ext cx="1906818" cy="1089032"/>
              <a:chOff x="7107383" y="5373873"/>
              <a:chExt cx="1906818" cy="108903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014A76-BDF2-68A0-75C1-2285B3F6F81C}"/>
                  </a:ext>
                </a:extLst>
              </p:cNvPr>
              <p:cNvSpPr txBox="1"/>
              <p:nvPr/>
            </p:nvSpPr>
            <p:spPr>
              <a:xfrm>
                <a:off x="7107383" y="6201295"/>
                <a:ext cx="190681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100" b="1"/>
                  <a:t>인덱스 삭제</a:t>
                </a: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2231FD36-E192-E002-10E7-BB0F0B7533EA}"/>
                  </a:ext>
                </a:extLst>
              </p:cNvPr>
              <p:cNvGrpSpPr/>
              <p:nvPr/>
            </p:nvGrpSpPr>
            <p:grpSpPr>
              <a:xfrm>
                <a:off x="7137999" y="5373873"/>
                <a:ext cx="1495634" cy="790685"/>
                <a:chOff x="7137999" y="5373873"/>
                <a:chExt cx="1495634" cy="790685"/>
              </a:xfrm>
            </p:grpSpPr>
            <p:pic>
              <p:nvPicPr>
                <p:cNvPr id="28" name="그림 27">
                  <a:extLst>
                    <a:ext uri="{FF2B5EF4-FFF2-40B4-BE49-F238E27FC236}">
                      <a16:creationId xmlns:a16="http://schemas.microsoft.com/office/drawing/2014/main" id="{13F2ED1D-62E6-06F8-4EA1-0C5C76DBF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37999" y="5373873"/>
                  <a:ext cx="1495634" cy="790685"/>
                </a:xfrm>
                <a:prstGeom prst="rect">
                  <a:avLst/>
                </a:prstGeom>
              </p:spPr>
            </p:pic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9C69E3CA-9D3D-AAEA-08CE-1F95637ADFAF}"/>
                    </a:ext>
                  </a:extLst>
                </p:cNvPr>
                <p:cNvSpPr/>
                <p:nvPr/>
              </p:nvSpPr>
              <p:spPr>
                <a:xfrm>
                  <a:off x="7191331" y="5752407"/>
                  <a:ext cx="1442302" cy="17546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C45C950D-6C26-4BBB-8534-80C26FCBF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5575"/>
            <a:stretch>
              <a:fillRect/>
            </a:stretch>
          </p:blipFill>
          <p:spPr>
            <a:xfrm>
              <a:off x="8856259" y="5373873"/>
              <a:ext cx="2676899" cy="6836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598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839FF-6BD3-7982-769A-582CA8AD3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인덱스에 맵핑 정의 </a:t>
            </a:r>
            <a:r>
              <a:rPr lang="en-US" altLang="ko-KR"/>
              <a:t>(</a:t>
            </a:r>
            <a:r>
              <a:rPr lang="ko-KR" altLang="en-US"/>
              <a:t>필드 작성</a:t>
            </a:r>
            <a:r>
              <a:rPr lang="en-US" altLang="ko-KR"/>
              <a:t>)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890764E-F586-5BA9-F9CF-1C7C8E125416}"/>
              </a:ext>
            </a:extLst>
          </p:cNvPr>
          <p:cNvGrpSpPr/>
          <p:nvPr/>
        </p:nvGrpSpPr>
        <p:grpSpPr>
          <a:xfrm>
            <a:off x="657825" y="1892715"/>
            <a:ext cx="3810532" cy="2324424"/>
            <a:chOff x="657825" y="1892715"/>
            <a:chExt cx="3810532" cy="23244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80EC6A0-BFAE-AA5C-3C00-FF9AB2B17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825" y="1892715"/>
              <a:ext cx="3810532" cy="232442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30308BB-1021-6A49-1E9F-23185389A9B2}"/>
                </a:ext>
              </a:extLst>
            </p:cNvPr>
            <p:cNvSpPr/>
            <p:nvPr/>
          </p:nvSpPr>
          <p:spPr>
            <a:xfrm>
              <a:off x="881149" y="2751513"/>
              <a:ext cx="3549535" cy="1450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D0836E-267D-09C9-F1EE-F09F4DF87873}"/>
              </a:ext>
            </a:extLst>
          </p:cNvPr>
          <p:cNvSpPr/>
          <p:nvPr/>
        </p:nvSpPr>
        <p:spPr>
          <a:xfrm>
            <a:off x="881149" y="2360815"/>
            <a:ext cx="1338349" cy="29925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E893F4-0493-9584-0EEA-B6D7F3A31A27}"/>
              </a:ext>
            </a:extLst>
          </p:cNvPr>
          <p:cNvGrpSpPr/>
          <p:nvPr/>
        </p:nvGrpSpPr>
        <p:grpSpPr>
          <a:xfrm>
            <a:off x="4763491" y="1892715"/>
            <a:ext cx="3233353" cy="4895422"/>
            <a:chOff x="4763491" y="1892715"/>
            <a:chExt cx="3233353" cy="489542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E75A03-AD44-ADDE-4F0F-81987DDA9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3491" y="1892715"/>
              <a:ext cx="3233353" cy="4895422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754504C-54ED-D843-BB2B-CB58666AA44E}"/>
                </a:ext>
              </a:extLst>
            </p:cNvPr>
            <p:cNvSpPr/>
            <p:nvPr/>
          </p:nvSpPr>
          <p:spPr>
            <a:xfrm>
              <a:off x="5314602" y="2443942"/>
              <a:ext cx="1518459" cy="143810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3E46CDD-E1A1-C57E-660B-935D9298CD1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219498" y="2510444"/>
            <a:ext cx="3095104" cy="6525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FC323E-BE11-FDED-281E-7345FDB88D40}"/>
              </a:ext>
            </a:extLst>
          </p:cNvPr>
          <p:cNvSpPr txBox="1"/>
          <p:nvPr/>
        </p:nvSpPr>
        <p:spPr>
          <a:xfrm>
            <a:off x="657825" y="4355869"/>
            <a:ext cx="3810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"keyword" </a:t>
            </a:r>
            <a:r>
              <a:rPr lang="ko-KR" altLang="en-US" sz="1200"/>
              <a:t>는 흔히 사용되는 </a:t>
            </a:r>
            <a:r>
              <a:rPr lang="en-US" altLang="ko-KR" sz="1200"/>
              <a:t>String</a:t>
            </a:r>
            <a:r>
              <a:rPr lang="ko-KR" altLang="en-US" sz="1200"/>
              <a:t>과 가깝다고 보면 됨</a:t>
            </a:r>
          </a:p>
        </p:txBody>
      </p:sp>
    </p:spTree>
    <p:extLst>
      <p:ext uri="{BB962C8B-B14F-4D97-AF65-F5344CB8AC3E}">
        <p14:creationId xmlns:p14="http://schemas.microsoft.com/office/powerpoint/2010/main" val="192875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F7AEC-9355-1EE1-6D3F-415B2F13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인덱스에 도큐먼트 삽입 및 조회하기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CD8BBF-41FC-B321-B80D-A37073477EA5}"/>
              </a:ext>
            </a:extLst>
          </p:cNvPr>
          <p:cNvGrpSpPr/>
          <p:nvPr/>
        </p:nvGrpSpPr>
        <p:grpSpPr>
          <a:xfrm>
            <a:off x="826981" y="1921722"/>
            <a:ext cx="4333389" cy="2085013"/>
            <a:chOff x="826981" y="1921722"/>
            <a:chExt cx="4333389" cy="208501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A25C56A-C21D-FD70-8247-D962C9A86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5046"/>
            <a:stretch>
              <a:fillRect/>
            </a:stretch>
          </p:blipFill>
          <p:spPr>
            <a:xfrm>
              <a:off x="826981" y="1921722"/>
              <a:ext cx="1583710" cy="71341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2D17760-7ED7-9932-BE29-B020B794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981" y="2964228"/>
              <a:ext cx="1583710" cy="77854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5057EAA-499C-2D66-DDFB-C8BEEB997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9952" y="1921722"/>
              <a:ext cx="2500418" cy="2085013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A0C7D87-1DBD-C62C-0CB6-B1CE04810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90" y="1906901"/>
            <a:ext cx="1895740" cy="371527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F19DEF-67BD-4A6C-2FAA-EEED55E41619}"/>
              </a:ext>
            </a:extLst>
          </p:cNvPr>
          <p:cNvGrpSpPr/>
          <p:nvPr/>
        </p:nvGrpSpPr>
        <p:grpSpPr>
          <a:xfrm>
            <a:off x="7663398" y="1921722"/>
            <a:ext cx="2345126" cy="4780201"/>
            <a:chOff x="7663398" y="1921722"/>
            <a:chExt cx="2345126" cy="478020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53438C9-6CDA-93DA-B791-0DDD8DCBF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63398" y="1921722"/>
              <a:ext cx="2345126" cy="4780201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9E55F36-9A13-2416-372A-909B3FEF663B}"/>
                </a:ext>
              </a:extLst>
            </p:cNvPr>
            <p:cNvSpPr/>
            <p:nvPr/>
          </p:nvSpPr>
          <p:spPr>
            <a:xfrm>
              <a:off x="8138160" y="3742775"/>
              <a:ext cx="432262" cy="1808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770AED-EA1C-F62F-8D29-450C2770E2B6}"/>
                </a:ext>
              </a:extLst>
            </p:cNvPr>
            <p:cNvSpPr/>
            <p:nvPr/>
          </p:nvSpPr>
          <p:spPr>
            <a:xfrm>
              <a:off x="8345978" y="4006736"/>
              <a:ext cx="1504604" cy="2909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3005817-D306-6B5B-CDF3-57EEDBD980F9}"/>
                </a:ext>
              </a:extLst>
            </p:cNvPr>
            <p:cNvSpPr/>
            <p:nvPr/>
          </p:nvSpPr>
          <p:spPr>
            <a:xfrm>
              <a:off x="8345978" y="4380809"/>
              <a:ext cx="1047404" cy="6317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BF359A-F5F7-E9CA-2C8E-3DA4CE91311F}"/>
              </a:ext>
            </a:extLst>
          </p:cNvPr>
          <p:cNvSpPr txBox="1"/>
          <p:nvPr/>
        </p:nvSpPr>
        <p:spPr>
          <a:xfrm>
            <a:off x="5594465" y="2344189"/>
            <a:ext cx="214950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hits</a:t>
            </a:r>
            <a:r>
              <a:rPr lang="ko-KR" altLang="en-US" sz="1050"/>
              <a:t> </a:t>
            </a:r>
            <a:r>
              <a:rPr lang="en-US" altLang="ko-KR" sz="1050"/>
              <a:t>:</a:t>
            </a:r>
            <a:r>
              <a:rPr lang="ko-KR" altLang="en-US" sz="1050"/>
              <a:t> </a:t>
            </a:r>
            <a:r>
              <a:rPr lang="en-US" altLang="ko-KR" sz="1050"/>
              <a:t>ElasticSearch </a:t>
            </a:r>
            <a:r>
              <a:rPr lang="ko-KR" altLang="en-US" sz="1050"/>
              <a:t>조건 에 맞는 정보가 검색됨을 나타냄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en-US" altLang="ko-KR" sz="1050"/>
              <a:t>_index : </a:t>
            </a:r>
            <a:r>
              <a:rPr lang="ko-KR" altLang="en-US" sz="1050"/>
              <a:t>인덱스 정보</a:t>
            </a:r>
            <a:endParaRPr lang="en-US" altLang="ko-KR" sz="1050"/>
          </a:p>
          <a:p>
            <a:r>
              <a:rPr lang="en-US" altLang="ko-KR" sz="1050"/>
              <a:t>_id</a:t>
            </a:r>
            <a:r>
              <a:rPr lang="ko-KR" altLang="en-US" sz="1050"/>
              <a:t> </a:t>
            </a:r>
            <a:r>
              <a:rPr lang="en-US" altLang="ko-KR" sz="1050"/>
              <a:t>:</a:t>
            </a:r>
            <a:r>
              <a:rPr lang="ko-KR" altLang="en-US" sz="1050"/>
              <a:t> 자동 부여 </a:t>
            </a:r>
            <a:r>
              <a:rPr lang="en-US" altLang="ko-KR" sz="1050"/>
              <a:t>ID</a:t>
            </a:r>
            <a:br>
              <a:rPr lang="en-US" altLang="ko-KR" sz="1050"/>
            </a:br>
            <a:r>
              <a:rPr lang="en-US" altLang="ko-KR" sz="1050"/>
              <a:t>         (mysql</a:t>
            </a:r>
            <a:r>
              <a:rPr lang="ko-KR" altLang="en-US" sz="1050"/>
              <a:t>로 치면 </a:t>
            </a:r>
            <a:r>
              <a:rPr lang="en-US" altLang="ko-KR" sz="1050"/>
              <a:t>auto_increment)</a:t>
            </a:r>
          </a:p>
          <a:p>
            <a:r>
              <a:rPr lang="en-US" altLang="ko-KR" sz="1050"/>
              <a:t>_source : </a:t>
            </a:r>
            <a:r>
              <a:rPr lang="ko-KR" altLang="en-US" sz="1050"/>
              <a:t>등록한 </a:t>
            </a:r>
            <a:r>
              <a:rPr lang="en-US" altLang="ko-KR" sz="1050"/>
              <a:t>document </a:t>
            </a:r>
            <a:br>
              <a:rPr lang="en-US" altLang="ko-KR" sz="1050"/>
            </a:br>
            <a:r>
              <a:rPr lang="en-US" altLang="ko-KR" sz="1050"/>
              <a:t>         (mysql = row, tuple)</a:t>
            </a:r>
          </a:p>
          <a:p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2756446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2467A252-06A5-D944-4A4C-091159827786}"/>
              </a:ext>
            </a:extLst>
          </p:cNvPr>
          <p:cNvGrpSpPr/>
          <p:nvPr/>
        </p:nvGrpSpPr>
        <p:grpSpPr>
          <a:xfrm>
            <a:off x="4038847" y="1762299"/>
            <a:ext cx="2190058" cy="5033694"/>
            <a:chOff x="4038847" y="1762299"/>
            <a:chExt cx="2190058" cy="503369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147A078-CB39-2D84-9483-1B264BF24B35}"/>
                </a:ext>
              </a:extLst>
            </p:cNvPr>
            <p:cNvGrpSpPr/>
            <p:nvPr/>
          </p:nvGrpSpPr>
          <p:grpSpPr>
            <a:xfrm>
              <a:off x="4038847" y="1762299"/>
              <a:ext cx="2190058" cy="5033694"/>
              <a:chOff x="4038847" y="1762299"/>
              <a:chExt cx="2190058" cy="5033694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35994DD9-8872-68BA-ED02-D2DB5E2E2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38847" y="1762299"/>
                <a:ext cx="2190058" cy="5033694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7B97B77E-AD0B-D35C-2C38-55604B35A0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3467" y="1780106"/>
                <a:ext cx="1902533" cy="236532"/>
              </a:xfrm>
              <a:prstGeom prst="rect">
                <a:avLst/>
              </a:prstGeom>
            </p:spPr>
          </p:pic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01FAE30-A038-53E8-6339-5976176EE113}"/>
                </a:ext>
              </a:extLst>
            </p:cNvPr>
            <p:cNvSpPr/>
            <p:nvPr/>
          </p:nvSpPr>
          <p:spPr>
            <a:xfrm>
              <a:off x="4239454" y="1780106"/>
              <a:ext cx="1856545" cy="219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67307DEB-4832-9EE9-A7C1-1A47C4FA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ID</a:t>
            </a:r>
            <a:r>
              <a:rPr lang="ko-KR" altLang="en-US"/>
              <a:t>를 지정하여 도큐먼트 삽입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A96190C-D05B-8C45-C124-966C47035670}"/>
              </a:ext>
            </a:extLst>
          </p:cNvPr>
          <p:cNvGrpSpPr/>
          <p:nvPr/>
        </p:nvGrpSpPr>
        <p:grpSpPr>
          <a:xfrm>
            <a:off x="1097280" y="1824306"/>
            <a:ext cx="4538749" cy="4842501"/>
            <a:chOff x="1097280" y="1824306"/>
            <a:chExt cx="4538749" cy="48425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C774AB6-3C0F-CBF0-BDF6-A4A21609F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1824306"/>
              <a:ext cx="2257740" cy="111458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9721B43-9D77-E84E-72BE-58C6FB1F6251}"/>
                </a:ext>
              </a:extLst>
            </p:cNvPr>
            <p:cNvSpPr/>
            <p:nvPr/>
          </p:nvSpPr>
          <p:spPr>
            <a:xfrm>
              <a:off x="4605251" y="5677593"/>
              <a:ext cx="1030778" cy="9892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33F08D6-A55E-E984-7773-3839A095F523}"/>
                </a:ext>
              </a:extLst>
            </p:cNvPr>
            <p:cNvSpPr/>
            <p:nvPr/>
          </p:nvSpPr>
          <p:spPr>
            <a:xfrm>
              <a:off x="1812175" y="2144684"/>
              <a:ext cx="1388225" cy="6982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7854653-0A14-2CF1-881A-6FB232E9B2CC}"/>
                </a:ext>
              </a:extLst>
            </p:cNvPr>
            <p:cNvCxnSpPr>
              <a:stCxn id="13" idx="3"/>
              <a:endCxn id="9" idx="1"/>
            </p:cNvCxnSpPr>
            <p:nvPr/>
          </p:nvCxnSpPr>
          <p:spPr>
            <a:xfrm>
              <a:off x="3200400" y="2493819"/>
              <a:ext cx="1404851" cy="36783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BB47E42-EB02-FC68-5599-5EE27C662F3E}"/>
              </a:ext>
            </a:extLst>
          </p:cNvPr>
          <p:cNvSpPr txBox="1"/>
          <p:nvPr/>
        </p:nvSpPr>
        <p:spPr>
          <a:xfrm>
            <a:off x="1097280" y="3117273"/>
            <a:ext cx="2941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/{</a:t>
            </a:r>
            <a:r>
              <a:rPr lang="ko-KR" altLang="en-US" sz="1200"/>
              <a:t>인덱스</a:t>
            </a:r>
            <a:r>
              <a:rPr lang="en-US" altLang="ko-KR" sz="1200"/>
              <a:t>}/_create/{Id</a:t>
            </a:r>
            <a:r>
              <a:rPr lang="ko-KR" altLang="en-US" sz="1200"/>
              <a:t>값</a:t>
            </a:r>
            <a:r>
              <a:rPr lang="en-US" altLang="ko-KR" sz="1200"/>
              <a:t>}</a:t>
            </a:r>
          </a:p>
          <a:p>
            <a:endParaRPr lang="en-US" altLang="ko-KR" sz="1200"/>
          </a:p>
          <a:p>
            <a:r>
              <a:rPr lang="ko-KR" altLang="en-US" sz="1200"/>
              <a:t>으로 </a:t>
            </a:r>
            <a:r>
              <a:rPr lang="en-US" altLang="ko-KR" sz="1200"/>
              <a:t>document </a:t>
            </a:r>
            <a:r>
              <a:rPr lang="ko-KR" altLang="en-US" sz="1200"/>
              <a:t>삽입시 </a:t>
            </a:r>
            <a:r>
              <a:rPr lang="en-US" altLang="ko-KR" sz="1200"/>
              <a:t>ID </a:t>
            </a:r>
            <a:r>
              <a:rPr lang="ko-KR" altLang="en-US" sz="1200"/>
              <a:t>지정가능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D394DA1-E4F1-6AEF-07CD-FA7035A238F3}"/>
              </a:ext>
            </a:extLst>
          </p:cNvPr>
          <p:cNvGrpSpPr/>
          <p:nvPr/>
        </p:nvGrpSpPr>
        <p:grpSpPr>
          <a:xfrm>
            <a:off x="6383525" y="1824306"/>
            <a:ext cx="5319673" cy="2700304"/>
            <a:chOff x="6383525" y="1824306"/>
            <a:chExt cx="5319673" cy="270030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EEB8BDC-6C93-8D82-7181-A1DAD859DA14}"/>
                </a:ext>
              </a:extLst>
            </p:cNvPr>
            <p:cNvGrpSpPr/>
            <p:nvPr/>
          </p:nvGrpSpPr>
          <p:grpSpPr>
            <a:xfrm>
              <a:off x="6383525" y="1824306"/>
              <a:ext cx="5319673" cy="2700304"/>
              <a:chOff x="6383525" y="1824306"/>
              <a:chExt cx="5319673" cy="2700304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EDED0F0E-7B3B-A065-B27D-920C1D9AF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3525" y="1824306"/>
                <a:ext cx="5319673" cy="2700304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B5A779-92D8-42BD-382C-FA696E54D822}"/>
                  </a:ext>
                </a:extLst>
              </p:cNvPr>
              <p:cNvSpPr txBox="1"/>
              <p:nvPr/>
            </p:nvSpPr>
            <p:spPr>
              <a:xfrm>
                <a:off x="8005156" y="3873731"/>
                <a:ext cx="34830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/>
                  <a:t>동일한 </a:t>
                </a:r>
                <a:r>
                  <a:rPr lang="en-US" altLang="ko-KR" sz="1400"/>
                  <a:t>ID </a:t>
                </a:r>
                <a:r>
                  <a:rPr lang="ko-KR" altLang="en-US" sz="1400"/>
                  <a:t>의 </a:t>
                </a:r>
                <a:r>
                  <a:rPr lang="en-US" altLang="ko-KR" sz="1400"/>
                  <a:t>document</a:t>
                </a:r>
                <a:r>
                  <a:rPr lang="ko-KR" altLang="en-US" sz="1400"/>
                  <a:t>를 삽입할 때 에러 발생</a:t>
                </a:r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32D56B0-014D-3C06-6C92-40BF8B106FA9}"/>
                </a:ext>
              </a:extLst>
            </p:cNvPr>
            <p:cNvSpPr/>
            <p:nvPr/>
          </p:nvSpPr>
          <p:spPr>
            <a:xfrm>
              <a:off x="8088284" y="2493819"/>
              <a:ext cx="2352501" cy="2244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652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65F4C-36F6-6E60-CF42-A8B76E3D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Merge </a:t>
            </a:r>
            <a:r>
              <a:rPr lang="ko-KR" altLang="en-US"/>
              <a:t>형식으로 도큐먼트 삽입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CBE28A4-B00B-DF65-F8E0-190C58C38A30}"/>
              </a:ext>
            </a:extLst>
          </p:cNvPr>
          <p:cNvGrpSpPr/>
          <p:nvPr/>
        </p:nvGrpSpPr>
        <p:grpSpPr>
          <a:xfrm>
            <a:off x="1097280" y="1850458"/>
            <a:ext cx="4734586" cy="2476846"/>
            <a:chOff x="1097280" y="1850458"/>
            <a:chExt cx="4734586" cy="247684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A8AA9F5-2889-8A2B-EF87-1258C5951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0458"/>
              <a:ext cx="2172003" cy="109552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363DECA-C261-F804-50CC-D6EC9EFBF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9283" y="1850458"/>
              <a:ext cx="2562583" cy="247684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5647749-5E76-1620-D74F-C1B28B65EC98}"/>
              </a:ext>
            </a:extLst>
          </p:cNvPr>
          <p:cNvGrpSpPr/>
          <p:nvPr/>
        </p:nvGrpSpPr>
        <p:grpSpPr>
          <a:xfrm>
            <a:off x="6483977" y="1737360"/>
            <a:ext cx="4610743" cy="4339443"/>
            <a:chOff x="7127546" y="1850458"/>
            <a:chExt cx="4610743" cy="433944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B54D551-C49D-3051-CF50-2EBB8F11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99443" y="1931632"/>
              <a:ext cx="2838846" cy="425826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7A5AAFE-A27A-E004-13CE-80A6AB7AB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27546" y="1850458"/>
              <a:ext cx="1771897" cy="32389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8AA666-A234-D5D6-A874-4C2615C139ED}"/>
              </a:ext>
            </a:extLst>
          </p:cNvPr>
          <p:cNvSpPr txBox="1"/>
          <p:nvPr/>
        </p:nvSpPr>
        <p:spPr>
          <a:xfrm>
            <a:off x="1097280" y="3088881"/>
            <a:ext cx="20948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PUT </a:t>
            </a:r>
            <a:r>
              <a:rPr lang="ko-KR" altLang="en-US" sz="1100"/>
              <a:t>요청방식으로 </a:t>
            </a:r>
            <a:r>
              <a:rPr lang="en-US" altLang="ko-KR" sz="1100"/>
              <a:t>_doc </a:t>
            </a:r>
            <a:r>
              <a:rPr lang="ko-KR" altLang="en-US" sz="1100"/>
              <a:t>입력 시 존재하는 정보라면 수정</a:t>
            </a:r>
            <a:endParaRPr lang="en-US" altLang="ko-KR" sz="1100"/>
          </a:p>
          <a:p>
            <a:r>
              <a:rPr lang="ko-KR" altLang="en-US" sz="1100"/>
              <a:t>존재하지 않으면 입력이 된다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14113-3FE5-5BE2-9E69-6F7C789100C3}"/>
              </a:ext>
            </a:extLst>
          </p:cNvPr>
          <p:cNvSpPr txBox="1"/>
          <p:nvPr/>
        </p:nvSpPr>
        <p:spPr>
          <a:xfrm>
            <a:off x="1271847" y="4613564"/>
            <a:ext cx="4824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첫번째 </a:t>
            </a:r>
            <a:r>
              <a:rPr lang="en-US" altLang="ko-KR"/>
              <a:t>doc </a:t>
            </a:r>
            <a:r>
              <a:rPr lang="ko-KR" altLang="en-US"/>
              <a:t>요청 </a:t>
            </a:r>
            <a:r>
              <a:rPr lang="en-US" altLang="ko-KR"/>
              <a:t>-</a:t>
            </a:r>
            <a:r>
              <a:rPr lang="ko-KR" altLang="en-US"/>
              <a:t> 삽입</a:t>
            </a:r>
          </a:p>
        </p:txBody>
      </p:sp>
    </p:spTree>
    <p:extLst>
      <p:ext uri="{BB962C8B-B14F-4D97-AF65-F5344CB8AC3E}">
        <p14:creationId xmlns:p14="http://schemas.microsoft.com/office/powerpoint/2010/main" val="108918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22A7-9DF6-A33A-149A-00D614F1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7DD86-4232-159C-A88D-EF7FF35C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Merge </a:t>
            </a:r>
            <a:r>
              <a:rPr lang="ko-KR" altLang="en-US"/>
              <a:t>형식으로 도큐먼트 삽입</a:t>
            </a:r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D4AF7-952D-40EC-DAB4-CA99E58CABF4}"/>
              </a:ext>
            </a:extLst>
          </p:cNvPr>
          <p:cNvSpPr txBox="1"/>
          <p:nvPr/>
        </p:nvSpPr>
        <p:spPr>
          <a:xfrm>
            <a:off x="1097280" y="3088881"/>
            <a:ext cx="20948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PUT </a:t>
            </a:r>
            <a:r>
              <a:rPr lang="ko-KR" altLang="en-US" sz="1100"/>
              <a:t>요청방식으로 </a:t>
            </a:r>
            <a:r>
              <a:rPr lang="en-US" altLang="ko-KR" sz="1100"/>
              <a:t>_doc </a:t>
            </a:r>
            <a:r>
              <a:rPr lang="ko-KR" altLang="en-US" sz="1100"/>
              <a:t>입력 시 존재하는 정보라면 수정</a:t>
            </a:r>
            <a:endParaRPr lang="en-US" altLang="ko-KR" sz="1100"/>
          </a:p>
          <a:p>
            <a:r>
              <a:rPr lang="ko-KR" altLang="en-US" sz="1100"/>
              <a:t>존재하지 않으면 입력이 된다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B6C639-D62B-7E81-5627-ABA542D46309}"/>
              </a:ext>
            </a:extLst>
          </p:cNvPr>
          <p:cNvSpPr txBox="1"/>
          <p:nvPr/>
        </p:nvSpPr>
        <p:spPr>
          <a:xfrm>
            <a:off x="1271847" y="4613564"/>
            <a:ext cx="4824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두번째 </a:t>
            </a:r>
            <a:r>
              <a:rPr lang="en-US" altLang="ko-KR"/>
              <a:t>doc </a:t>
            </a:r>
            <a:r>
              <a:rPr lang="ko-KR" altLang="en-US"/>
              <a:t>요청 </a:t>
            </a:r>
            <a:r>
              <a:rPr lang="en-US" altLang="ko-KR"/>
              <a:t>-</a:t>
            </a:r>
            <a:r>
              <a:rPr lang="ko-KR" altLang="en-US"/>
              <a:t> 수정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10604D0-8AE8-6C07-27BF-408EAD976DB3}"/>
              </a:ext>
            </a:extLst>
          </p:cNvPr>
          <p:cNvGrpSpPr/>
          <p:nvPr/>
        </p:nvGrpSpPr>
        <p:grpSpPr>
          <a:xfrm>
            <a:off x="1106314" y="1850458"/>
            <a:ext cx="4725552" cy="2476846"/>
            <a:chOff x="1106314" y="1850458"/>
            <a:chExt cx="4725552" cy="247684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0956024-62A8-70AE-08C9-1321763B6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9283" y="1850458"/>
              <a:ext cx="2562583" cy="247684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33EEDE-52A6-2CDB-4120-E547D2F4D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6314" y="1853587"/>
              <a:ext cx="2124371" cy="1124107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9D9FF11-B8FE-0D75-DD50-E40DEFFC0EF4}"/>
              </a:ext>
            </a:extLst>
          </p:cNvPr>
          <p:cNvGrpSpPr/>
          <p:nvPr/>
        </p:nvGrpSpPr>
        <p:grpSpPr>
          <a:xfrm>
            <a:off x="6566075" y="1850458"/>
            <a:ext cx="4677427" cy="4182059"/>
            <a:chOff x="6566075" y="1850458"/>
            <a:chExt cx="4677427" cy="418205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0117297-6719-B6AC-CDD0-7811D19A2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6075" y="1850458"/>
              <a:ext cx="1771897" cy="323895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140AB92-A600-0319-1B87-385A4E001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7972" y="1850458"/>
              <a:ext cx="2905530" cy="41820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054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89111-6282-D305-3C47-14F7AFB5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Document </a:t>
            </a:r>
            <a:r>
              <a:rPr lang="ko-KR" altLang="en-US"/>
              <a:t>일부 필드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A3C733-22B7-68B4-125A-DDD901B09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8282"/>
            <a:ext cx="2410161" cy="13622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BCBFA4D-D824-E53E-73BC-16F52726BE05}"/>
              </a:ext>
            </a:extLst>
          </p:cNvPr>
          <p:cNvSpPr/>
          <p:nvPr/>
        </p:nvSpPr>
        <p:spPr>
          <a:xfrm>
            <a:off x="2136371" y="2493818"/>
            <a:ext cx="1296785" cy="407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3CE6B10-1A77-F27B-7380-FEB59372A782}"/>
              </a:ext>
            </a:extLst>
          </p:cNvPr>
          <p:cNvGrpSpPr/>
          <p:nvPr/>
        </p:nvGrpSpPr>
        <p:grpSpPr>
          <a:xfrm>
            <a:off x="4693029" y="1904126"/>
            <a:ext cx="3991532" cy="2423844"/>
            <a:chOff x="4693029" y="1904126"/>
            <a:chExt cx="3991532" cy="2423844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F00DC6E-83B9-0F68-D7D2-FD61639E3E14}"/>
                </a:ext>
              </a:extLst>
            </p:cNvPr>
            <p:cNvGrpSpPr/>
            <p:nvPr/>
          </p:nvGrpSpPr>
          <p:grpSpPr>
            <a:xfrm>
              <a:off x="4693029" y="1904126"/>
              <a:ext cx="3991532" cy="2423844"/>
              <a:chOff x="4693029" y="1904126"/>
              <a:chExt cx="3991532" cy="2423844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B01ECDB5-8B90-F9AD-EB16-A35B917BA0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3032" y="1908282"/>
                <a:ext cx="2181529" cy="2419688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ED13D15E-1F28-AAEB-16D7-C6BB80722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3029" y="1904126"/>
                <a:ext cx="1810003" cy="276264"/>
              </a:xfrm>
              <a:prstGeom prst="rect">
                <a:avLst/>
              </a:prstGeom>
            </p:spPr>
          </p:pic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CE48FBE-20D3-48E4-E7C9-4ED20A185B27}"/>
                </a:ext>
              </a:extLst>
            </p:cNvPr>
            <p:cNvSpPr/>
            <p:nvPr/>
          </p:nvSpPr>
          <p:spPr>
            <a:xfrm>
              <a:off x="7176655" y="3519055"/>
              <a:ext cx="1385454" cy="4073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597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D6FDC-7C5E-C8FE-501A-D2EF3722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ID</a:t>
            </a:r>
            <a:r>
              <a:rPr lang="ko-KR" altLang="en-US"/>
              <a:t> 값으로 </a:t>
            </a:r>
            <a:r>
              <a:rPr lang="en-US" altLang="ko-KR"/>
              <a:t>doc </a:t>
            </a:r>
            <a:r>
              <a:rPr lang="ko-KR" altLang="en-US"/>
              <a:t>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BB195A-C1C5-4501-B850-5A11F46F1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8826"/>
            <a:ext cx="1781424" cy="3238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4B19BD-2A89-85C7-F959-8132C7DCB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712" y="1946049"/>
            <a:ext cx="211484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05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DC864-5E44-E02E-C1C9-15EB665A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Document </a:t>
            </a:r>
            <a:r>
              <a:rPr lang="ko-KR" altLang="en-US"/>
              <a:t>삭제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1807FB9-81A9-9F2B-23C6-B60671651113}"/>
              </a:ext>
            </a:extLst>
          </p:cNvPr>
          <p:cNvGrpSpPr/>
          <p:nvPr/>
        </p:nvGrpSpPr>
        <p:grpSpPr>
          <a:xfrm>
            <a:off x="1097280" y="1859774"/>
            <a:ext cx="4584123" cy="2505425"/>
            <a:chOff x="1097280" y="1859774"/>
            <a:chExt cx="4584123" cy="2505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D5629E6-81E7-66F7-FD92-FCFF89633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9774"/>
              <a:ext cx="1886213" cy="36200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7F7304-3B63-EF41-E811-BEA4851F8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5505" y="1859774"/>
              <a:ext cx="2495898" cy="2505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226729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</TotalTime>
  <Words>473</Words>
  <Application>Microsoft Office PowerPoint</Application>
  <PresentationFormat>와이드스크린</PresentationFormat>
  <Paragraphs>84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Consolas</vt:lpstr>
      <vt:lpstr>추억</vt:lpstr>
      <vt:lpstr>Elastic Search 기본개념</vt:lpstr>
      <vt:lpstr>ElasticSearch 정의</vt:lpstr>
      <vt:lpstr>ElasticSearch Docker 설치</vt:lpstr>
      <vt:lpstr>ElasticSearch 작동 방식</vt:lpstr>
      <vt:lpstr>ElasticSearch 편의성 툴(Kibana 설치)</vt:lpstr>
      <vt:lpstr>ElasticSearch / Kibana 설치 확인</vt:lpstr>
      <vt:lpstr>ElasticSearch 기본 용어 정리</vt:lpstr>
      <vt:lpstr>Kibana를 통한 인덱스 생성</vt:lpstr>
      <vt:lpstr>인덱스에 맵핑 정의 (필드 작성)</vt:lpstr>
      <vt:lpstr>인덱스에 도큐먼트 삽입 및 조회하기</vt:lpstr>
      <vt:lpstr>ID를 지정하여 도큐먼트 삽입</vt:lpstr>
      <vt:lpstr>Merge 형식으로 도큐먼트 삽입-1</vt:lpstr>
      <vt:lpstr>Merge 형식으로 도큐먼트 삽입-2</vt:lpstr>
      <vt:lpstr>Document 일부 필드 수정</vt:lpstr>
      <vt:lpstr>ID 값으로 doc 조회</vt:lpstr>
      <vt:lpstr>Document 삭제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51</cp:revision>
  <dcterms:created xsi:type="dcterms:W3CDTF">2026-09-01T07:22:41Z</dcterms:created>
  <dcterms:modified xsi:type="dcterms:W3CDTF">2026-09-01T09:14:03Z</dcterms:modified>
</cp:coreProperties>
</file>